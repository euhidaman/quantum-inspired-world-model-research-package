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4894b68b2154a58" /><Relationship Type="http://schemas.openxmlformats.org/officeDocument/2006/relationships/extended-properties" Target="/docProps/app.xml" Id="R806916323a9d4803" /><Relationship Type="http://schemas.openxmlformats.org/officeDocument/2006/relationships/officeDocument" Target="/ppt/presentation.xml" Id="R0a2a4239d3d04bb9" /></Relationships>
</file>

<file path=ppt/presentation.xml><?xml version="1.0" encoding="utf-8"?>
<p:presentation xmlns:p="http://schemas.openxmlformats.org/presentationml/2006/main">
  <p:sldMasterIdLst>
    <p:sldMasterId xmlns:r="http://schemas.openxmlformats.org/officeDocument/2006/relationships" id="2147483648" r:id="R99afec24c09b4013"/>
    <p:sldMasterId xmlns:r="http://schemas.openxmlformats.org/officeDocument/2006/relationships" id="2147483654" r:id="R8b5964de128741b7"/>
  </p:sldMasterIdLst>
  <p:notesMasterIdLst>
    <p:notesMasterId xmlns:r="http://schemas.openxmlformats.org/officeDocument/2006/relationships" r:id="R02d7f6659c41428e"/>
  </p:notesMasterIdLst>
  <p:sldIdLst>
    <p:sldId xmlns:r="http://schemas.openxmlformats.org/officeDocument/2006/relationships" id="256" r:id="R92bff5f0123042d0"/>
    <p:sldId xmlns:r="http://schemas.openxmlformats.org/officeDocument/2006/relationships" id="257" r:id="Ra85d7e5d7978482b"/>
    <p:sldId xmlns:r="http://schemas.openxmlformats.org/officeDocument/2006/relationships" id="258" r:id="Rb37f2b82a3044781"/>
    <p:sldId xmlns:r="http://schemas.openxmlformats.org/officeDocument/2006/relationships" id="259" r:id="R66218c1f15da4437"/>
    <p:sldId xmlns:r="http://schemas.openxmlformats.org/officeDocument/2006/relationships" id="260" r:id="Rb7df96a78813417c"/>
    <p:sldId xmlns:r="http://schemas.openxmlformats.org/officeDocument/2006/relationships" id="261" r:id="R4603f7e7fa924335"/>
    <p:sldId xmlns:r="http://schemas.openxmlformats.org/officeDocument/2006/relationships" id="262" r:id="Rb30a4e7c08f94958"/>
    <p:sldId xmlns:r="http://schemas.openxmlformats.org/officeDocument/2006/relationships" id="263" r:id="Rbdf1502f21df43c7"/>
    <p:sldId xmlns:r="http://schemas.openxmlformats.org/officeDocument/2006/relationships" id="264" r:id="R79d8a3ea38b549e1"/>
    <p:sldId xmlns:r="http://schemas.openxmlformats.org/officeDocument/2006/relationships" id="265" r:id="Rc682eb5126da4e45"/>
    <p:sldId xmlns:r="http://schemas.openxmlformats.org/officeDocument/2006/relationships" id="266" r:id="R475881dda9574565"/>
    <p:sldId xmlns:r="http://schemas.openxmlformats.org/officeDocument/2006/relationships" id="267" r:id="Rd9e7872ec1404cc2"/>
    <p:sldId xmlns:r="http://schemas.openxmlformats.org/officeDocument/2006/relationships" id="268" r:id="R59e63eb854414246"/>
    <p:sldId xmlns:r="http://schemas.openxmlformats.org/officeDocument/2006/relationships" id="269" r:id="Rb78b5ae952504d36"/>
    <p:sldId xmlns:r="http://schemas.openxmlformats.org/officeDocument/2006/relationships" id="270" r:id="Rd4eb591250aa475d"/>
    <p:sldId xmlns:r="http://schemas.openxmlformats.org/officeDocument/2006/relationships" id="271" r:id="R5dce07de91624747"/>
    <p:sldId xmlns:r="http://schemas.openxmlformats.org/officeDocument/2006/relationships" id="272" r:id="Rdc55cb28ce4f4f3f"/>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authors.xml><?xml version="1.0" encoding="utf-8"?>
<p188:authorLst xmlns:p188="http://schemas.microsoft.com/office/powerpoint/2018/8/main">
  <p188:author id="{00000000-0000-0000-0000-000000000000}" name="Author" initials="A" userId="Author" providerId="AD"/>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8f429ac0e434078" /><Relationship Type="http://schemas.openxmlformats.org/officeDocument/2006/relationships/slideMaster" Target="/ppt/slideMasters/slideMaster1.xml" Id="R99afec24c09b4013" /><Relationship Type="http://schemas.openxmlformats.org/officeDocument/2006/relationships/slideMaster" Target="/ppt/slideMasters/slideMaster2.xml" Id="R8b5964de128741b7" /><Relationship Type="http://schemas.openxmlformats.org/officeDocument/2006/relationships/notesMaster" Target="/ppt/notesMasters/notesMaster1.xml" Id="R02d7f6659c41428e" /><Relationship Type="http://schemas.openxmlformats.org/officeDocument/2006/relationships/presProps" Target="/ppt/presProps.xml" Id="R791ae459668f4dcc" /><Relationship Type="http://schemas.openxmlformats.org/officeDocument/2006/relationships/viewProps" Target="/ppt/viewProps.xml" Id="R2e418770ddce4182" /><Relationship Type="http://schemas.openxmlformats.org/officeDocument/2006/relationships/tableStyles" Target="/ppt/tableStyles.xml" Id="R1762a518796740e7" /><Relationship Type="http://schemas.microsoft.com/office/2018/10/relationships/authors" Target="/ppt/authors.xml" Id="R3d68f68c9dd04a52" /><Relationship Type="http://schemas.openxmlformats.org/officeDocument/2006/relationships/slide" Target="/ppt/slides/slide1.xml" Id="R92bff5f0123042d0" /><Relationship Type="http://schemas.openxmlformats.org/officeDocument/2006/relationships/slide" Target="/ppt/slides/slide2.xml" Id="Ra85d7e5d7978482b" /><Relationship Type="http://schemas.openxmlformats.org/officeDocument/2006/relationships/slide" Target="/ppt/slides/slide3.xml" Id="Rb37f2b82a3044781" /><Relationship Type="http://schemas.openxmlformats.org/officeDocument/2006/relationships/slide" Target="/ppt/slides/slide4.xml" Id="R66218c1f15da4437" /><Relationship Type="http://schemas.openxmlformats.org/officeDocument/2006/relationships/slide" Target="/ppt/slides/slide5.xml" Id="Rb7df96a78813417c" /><Relationship Type="http://schemas.openxmlformats.org/officeDocument/2006/relationships/slide" Target="/ppt/slides/slide6.xml" Id="R4603f7e7fa924335" /><Relationship Type="http://schemas.openxmlformats.org/officeDocument/2006/relationships/slide" Target="/ppt/slides/slide7.xml" Id="Rb30a4e7c08f94958" /><Relationship Type="http://schemas.openxmlformats.org/officeDocument/2006/relationships/slide" Target="/ppt/slides/slide8.xml" Id="Rbdf1502f21df43c7" /><Relationship Type="http://schemas.openxmlformats.org/officeDocument/2006/relationships/slide" Target="/ppt/slides/slide9.xml" Id="R79d8a3ea38b549e1" /><Relationship Type="http://schemas.openxmlformats.org/officeDocument/2006/relationships/slide" Target="/ppt/slides/slide10.xml" Id="Rc682eb5126da4e45" /><Relationship Type="http://schemas.openxmlformats.org/officeDocument/2006/relationships/slide" Target="/ppt/slides/slide11.xml" Id="R475881dda9574565" /><Relationship Type="http://schemas.openxmlformats.org/officeDocument/2006/relationships/slide" Target="/ppt/slides/slide12.xml" Id="Rd9e7872ec1404cc2" /><Relationship Type="http://schemas.openxmlformats.org/officeDocument/2006/relationships/slide" Target="/ppt/slides/slide13.xml" Id="R59e63eb854414246" /><Relationship Type="http://schemas.openxmlformats.org/officeDocument/2006/relationships/slide" Target="/ppt/slides/slide14.xml" Id="Rb78b5ae952504d36" /><Relationship Type="http://schemas.openxmlformats.org/officeDocument/2006/relationships/slide" Target="/ppt/slides/slide15.xml" Id="Rd4eb591250aa475d" /><Relationship Type="http://schemas.openxmlformats.org/officeDocument/2006/relationships/slide" Target="/ppt/slides/slide16.xml" Id="R5dce07de91624747" /><Relationship Type="http://schemas.openxmlformats.org/officeDocument/2006/relationships/slide" Target="/ppt/slides/slide17.xml" Id="Rdc55cb28ce4f4f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217bd58617bf4e4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WelcomeDoc">
  <a:themeElements>
    <a:clrScheme name="Custom 1">
      <a:dk1>
        <a:srgbClr val="000000"/>
      </a:dk1>
      <a:lt1>
        <a:srgbClr val="FFFFFF"/>
      </a:lt1>
      <a:dk2>
        <a:srgbClr val="44546A"/>
      </a:dk2>
      <a:lt2>
        <a:srgbClr val="E7E6E6"/>
      </a:lt2>
      <a:accent1>
        <a:srgbClr val="4472C4"/>
      </a:accent1>
      <a:accent2>
        <a:srgbClr val="CF3D1C"/>
      </a:accent2>
      <a:accent3>
        <a:srgbClr val="A5A5A5"/>
      </a:accent3>
      <a:accent4>
        <a:srgbClr val="FFC000"/>
      </a:accent4>
      <a:accent5>
        <a:srgbClr val="5B9BD5"/>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Custom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d85a60f5114040" /><Relationship Type="http://schemas.openxmlformats.org/officeDocument/2006/relationships/notesMaster" Target="/ppt/notesMasters/notesMaster1.xml" Id="R49316aab49584ec6"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7484aee7514d22" /><Relationship Type="http://schemas.openxmlformats.org/officeDocument/2006/relationships/notesMaster" Target="/ppt/notesMasters/notesMaster1.xml" Id="R2f945f2c3adc48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020f4b50614bec" /><Relationship Type="http://schemas.openxmlformats.org/officeDocument/2006/relationships/notesMaster" Target="/ppt/notesMasters/notesMaster1.xml" Id="R5ed868c42ea44f4f" /></Relationships>
</file>

<file path=ppt/notesSlides/_rels/notesSlide4.xml.rels>&#65279;<?xml version="1.0" encoding="utf-8"?><Relationships xmlns="http://schemas.openxmlformats.org/package/2006/relationships"><Relationship Type="http://schemas.openxmlformats.org/officeDocument/2006/relationships/slide" Target="/ppt/slides/slide4.xml" Id="Rb55bbecd8ea64187" /><Relationship Type="http://schemas.openxmlformats.org/officeDocument/2006/relationships/notesMaster" Target="/ppt/notesMasters/notesMaster1.xml" Id="R8eb0be6b48de4e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a69c8990db0648c1" /><Relationship Type="http://schemas.openxmlformats.org/officeDocument/2006/relationships/notesMaster" Target="/ppt/notesMasters/notesMaster1.xml" Id="R97cf5238e4624144" /></Relationships>
</file>

<file path=ppt/notesSlides/_rels/notesSlide6.xml.rels>&#65279;<?xml version="1.0" encoding="utf-8"?><Relationships xmlns="http://schemas.openxmlformats.org/package/2006/relationships"><Relationship Type="http://schemas.openxmlformats.org/officeDocument/2006/relationships/slide" Target="/ppt/slides/slide6.xml" Id="R012572b20a0e45e4" /><Relationship Type="http://schemas.openxmlformats.org/officeDocument/2006/relationships/notesMaster" Target="/ppt/notesMasters/notesMaster1.xml" Id="Rf9479ebb28804235" /></Relationships>
</file>

<file path=ppt/notesSlides/_rels/notesSlide7.xml.rels>&#65279;<?xml version="1.0" encoding="utf-8"?><Relationships xmlns="http://schemas.openxmlformats.org/package/2006/relationships"><Relationship Type="http://schemas.openxmlformats.org/officeDocument/2006/relationships/slide" Target="/ppt/slides/slide7.xml" Id="R3e0816517b7743b9" /><Relationship Type="http://schemas.openxmlformats.org/officeDocument/2006/relationships/notesMaster" Target="/ppt/notesMasters/notesMaster1.xml" Id="R75614ffcd7844f17" /></Relationships>
</file>

<file path=ppt/notesSlides/_rels/notesSlide8.xml.rels>&#65279;<?xml version="1.0" encoding="utf-8"?><Relationships xmlns="http://schemas.openxmlformats.org/package/2006/relationships"><Relationship Type="http://schemas.openxmlformats.org/officeDocument/2006/relationships/slide" Target="/ppt/slides/slide8.xml" Id="Rc0c88cb012cc4d78" /><Relationship Type="http://schemas.openxmlformats.org/officeDocument/2006/relationships/notesMaster" Target="/ppt/notesMasters/notesMaster1.xml" Id="Ref99df95bbe64d14" /></Relationships>
</file>

<file path=ppt/notesSlides/_rels/notesSlide9.xml.rels>&#65279;<?xml version="1.0" encoding="utf-8"?><Relationships xmlns="http://schemas.openxmlformats.org/package/2006/relationships"><Relationship Type="http://schemas.openxmlformats.org/officeDocument/2006/relationships/slide" Target="/ppt/slides/slide9.xml" Id="R46fc4458486f4dee" /><Relationship Type="http://schemas.openxmlformats.org/officeDocument/2006/relationships/notesMaster" Target="/ppt/notesMasters/notesMaster1.xml" Id="R2a0d8231d6944f6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77790aa5ee44034" /><Relationship Type="http://schemas.openxmlformats.org/officeDocument/2006/relationships/notesMaster" Target="/ppt/notesMasters/notesMaster1.xml" Id="R8e4667deea114c9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5c52fc7df0146d8" /><Relationship Type="http://schemas.openxmlformats.org/officeDocument/2006/relationships/notesMaster" Target="/ppt/notesMasters/notesMaster1.xml" Id="Rbb63eea8406e4a6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da8db67f3f44c2d" /><Relationship Type="http://schemas.openxmlformats.org/officeDocument/2006/relationships/notesMaster" Target="/ppt/notesMasters/notesMaster1.xml" Id="R0d4f5d605f81421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3209353177344cc" /><Relationship Type="http://schemas.openxmlformats.org/officeDocument/2006/relationships/notesMaster" Target="/ppt/notesMasters/notesMaster1.xml" Id="R14a265e288c0442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fa344f0416f4138" /><Relationship Type="http://schemas.openxmlformats.org/officeDocument/2006/relationships/notesMaster" Target="/ppt/notesMasters/notesMaster1.xml" Id="Rd232909099cf429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37328ac3d454edf" /><Relationship Type="http://schemas.openxmlformats.org/officeDocument/2006/relationships/notesMaster" Target="/ppt/notesMasters/notesMaster1.xml" Id="Rd52b7435ca284e6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60c2d4b35154d54" /><Relationship Type="http://schemas.openxmlformats.org/officeDocument/2006/relationships/notesMaster" Target="/ppt/notesMasters/notesMaster1.xml" Id="R156741e45abe488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be46363b3394511" /><Relationship Type="http://schemas.openxmlformats.org/officeDocument/2006/relationships/notesMaster" Target="/ppt/notesMasters/notesMaster1.xml" Id="R83c7654a60a548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A latent state is the model's internal notebook. Dreamer-style recurrent state-space models combine deterministic memory h_t with stochastic state z_t.</a:t>
            </a:r>
          </a:p>
          <a:p xmlns:a="http://schemas.openxmlformats.org/drawingml/2006/main">
            <a:pPr marL="0" indent="0" algn="l">
              <a:spcBef>
                <a:spcPts val="0"/>
              </a:spcBef>
              <a:spcAft>
                <a:spcPts val="0"/>
              </a:spcAft>
              <a:buNone/>
            </a:pPr>
            <a:r>
              <a:t>They already support uncertainty and imagined futures. This proposal is not claiming that current world models are deterministic or incapable of multimodality.</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[Sources]</a:t>
            </a:r>
          </a:p>
          <a:p xmlns:a="http://schemas.openxmlformats.org/drawingml/2006/main">
            <a:pPr marL="0" indent="0" algn="l">
              <a:spcBef>
                <a:spcPts val="0"/>
              </a:spcBef>
              <a:spcAft>
                <a:spcPts val="0"/>
              </a:spcAft>
              <a:buNone/>
            </a:pPr>
            <a:r>
              <a:t>- https://arxiv.org/abs/2301.04104</a:t>
            </a:r>
          </a:p>
          <a:p xmlns:a="http://schemas.openxmlformats.org/drawingml/2006/main">
            <a:pPr marL="0" indent="0" algn="l">
              <a:spcBef>
                <a:spcPts val="0"/>
              </a:spcBef>
              <a:spcAft>
                <a:spcPts val="0"/>
              </a:spcAft>
              <a:buNone/>
            </a:pPr>
            <a:r>
              <a:t>- https://www.nature.com/articles/s41586-025-08744-2</a:t>
            </a:r>
          </a:p>
          <a:p xmlns:a="http://schemas.openxmlformats.org/drawingml/2006/main">
            <a:pPr marL="0" indent="0" algn="l">
              <a:spcBef>
                <a:spcPts val="0"/>
              </a:spcBef>
              <a:spcAft>
                <a:spcPts val="0"/>
              </a:spcAft>
              <a:buNone/>
            </a:pPr>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TD-MPC2 represents a second major design: an implicit world model optimized for control rather than full reconstruction.</a:t>
            </a:r>
          </a:p>
          <a:p xmlns:a="http://schemas.openxmlformats.org/drawingml/2006/main">
            <a:pPr marL="0" indent="0" algn="l">
              <a:spcBef>
                <a:spcPts val="0"/>
              </a:spcBef>
              <a:spcAft>
                <a:spcPts val="0"/>
              </a:spcAft>
              <a:buNone/>
            </a:pPr>
            <a:r>
              <a:t>This is important as a baseline because a richer representation must beat a strong, efficient classical model at matched compute.</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[Sources]</a:t>
            </a:r>
          </a:p>
          <a:p xmlns:a="http://schemas.openxmlformats.org/drawingml/2006/main">
            <a:pPr marL="0" indent="0" algn="l">
              <a:spcBef>
                <a:spcPts val="0"/>
              </a:spcBef>
              <a:spcAft>
                <a:spcPts val="0"/>
              </a:spcAft>
              <a:buNone/>
            </a:pPr>
            <a:r>
              <a:t>- https://arxiv.org/abs/2310.16828</a:t>
            </a:r>
          </a:p>
          <a:p xmlns:a="http://schemas.openxmlformats.org/drawingml/2006/main">
            <a:pPr marL="0" indent="0" algn="l">
              <a:spcBef>
                <a:spcPts val="0"/>
              </a:spcBef>
              <a:spcAft>
                <a:spcPts val="0"/>
              </a:spcAft>
              <a:buNone/>
            </a:pPr>
            <a:r>
              <a:t>- https://openreview.net/forum?id=Oxh5CstDJU</a:t>
            </a:r>
          </a:p>
          <a:p xmlns:a="http://schemas.openxmlformats.org/drawingml/2006/main">
            <a:pPr marL="0" indent="0" algn="l">
              <a:spcBef>
                <a:spcPts val="0"/>
              </a:spcBef>
              <a:spcAft>
                <a:spcPts val="0"/>
              </a:spcAft>
              <a:buNone/>
            </a:pPr>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The room is the physical environment. The latent state is not room-shaped; it is an internal representation decoded into room predictions.</a:t>
            </a:r>
          </a:p>
          <a:p xmlns:a="http://schemas.openxmlformats.org/drawingml/2006/main">
            <a:pPr marL="0" indent="0" algn="l">
              <a:spcBef>
                <a:spcPts val="0"/>
              </a:spcBef>
              <a:spcAft>
                <a:spcPts val="0"/>
              </a:spcAft>
              <a:buNone/>
            </a:pPr>
            <a:r>
              <a:t>The divider creates partial observability. The useful question is whether the model preserves complete, linked futures long enough to plan safely.</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[Sources]</a:t>
            </a:r>
          </a:p>
          <a:p xmlns:a="http://schemas.openxmlformats.org/drawingml/2006/main">
            <a:pPr marL="0" indent="0" algn="l">
              <a:spcBef>
                <a:spcPts val="0"/>
              </a:spcBef>
              <a:spcAft>
                <a:spcPts val="0"/>
              </a:spcAft>
              <a:buNone/>
            </a:pPr>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A wider neural vector can also store more parameters. The proposal must therefore justify its inductive bias, not win by raw dimension counting.</a:t>
            </a:r>
          </a:p>
          <a:p xmlns:a="http://schemas.openxmlformats.org/drawingml/2006/main">
            <a:pPr marL="0" indent="0" algn="l">
              <a:spcBef>
                <a:spcPts val="0"/>
              </a:spcBef>
              <a:spcAft>
                <a:spcPts val="0"/>
              </a:spcAft>
              <a:buNone/>
            </a:pPr>
            <a:r>
              <a:t>The target is predictive structure that changes a later forecast or action, not merely a larger representation.</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[Sources]</a:t>
            </a:r>
          </a:p>
          <a:p xmlns:a="http://schemas.openxmlformats.org/drawingml/2006/main">
            <a:pPr marL="0" indent="0" algn="l">
              <a:spcBef>
                <a:spcPts val="0"/>
              </a:spcBef>
              <a:spcAft>
                <a:spcPts val="0"/>
              </a:spcAft>
              <a:buNone/>
            </a:pPr>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These rules prevent the presentation from treating quantum vocabulary as evidence of an advantage.</a:t>
            </a:r>
          </a:p>
          <a:p xmlns:a="http://schemas.openxmlformats.org/drawingml/2006/main">
            <a:pPr marL="0" indent="0" algn="l">
              <a:spcBef>
                <a:spcPts val="0"/>
              </a:spcBef>
              <a:spcAft>
                <a:spcPts val="0"/>
              </a:spcAft>
              <a:buNone/>
            </a:pPr>
            <a:r>
              <a:t>Each core is a testable architecture hypothesis implemented with ordinary numerical linear algebra.</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[Sources]</a:t>
            </a:r>
          </a:p>
          <a:p xmlns:a="http://schemas.openxmlformats.org/drawingml/2006/main">
            <a:pPr marL="0" indent="0" algn="l">
              <a:spcBef>
                <a:spcPts val="0"/>
              </a:spcBef>
              <a:spcAft>
                <a:spcPts val="0"/>
              </a:spcAft>
              <a:buNone/>
            </a:pPr>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QLC, PSC, and TEC are the three main proposal paths in this deck.</a:t>
            </a:r>
          </a:p>
          <a:p xmlns:a="http://schemas.openxmlformats.org/drawingml/2006/main">
            <a:pPr marL="0" indent="0" algn="l">
              <a:spcBef>
                <a:spcPts val="0"/>
              </a:spcBef>
              <a:spcAft>
                <a:spcPts val="0"/>
              </a:spcAft>
              <a:buNone/>
            </a:pPr>
            <a:r>
              <a:t>They are not three visualizations of the same state. Each imposes a different parameterization and therefore a different failure mode.</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[Sources]</a:t>
            </a:r>
          </a:p>
          <a:p xmlns:a="http://schemas.openxmlformats.org/drawingml/2006/main">
            <a:pPr marL="0" indent="0" algn="l">
              <a:spcBef>
                <a:spcPts val="0"/>
              </a:spcBef>
              <a:spcAft>
                <a:spcPts val="0"/>
              </a:spcAft>
              <a:buNone/>
            </a:pPr>
            <a:r>
              <a:t>- https://proceedings.mlr.press/v108/adhikary20a.html</a:t>
            </a:r>
          </a:p>
          <a:p xmlns:a="http://schemas.openxmlformats.org/drawingml/2006/main">
            <a:pPr marL="0" indent="0" algn="l">
              <a:spcBef>
                <a:spcPts val="0"/>
              </a:spcBef>
              <a:spcAft>
                <a:spcPts val="0"/>
              </a:spcAft>
              <a:buNone/>
            </a:pPr>
            <a:r>
              <a:t>- https://arxiv.org/abs/1412.5746</a:t>
            </a:r>
          </a:p>
          <a:p xmlns:a="http://schemas.openxmlformats.org/drawingml/2006/main">
            <a:pPr marL="0" indent="0" algn="l">
              <a:spcBef>
                <a:spcPts val="0"/>
              </a:spcBef>
              <a:spcAft>
                <a:spcPts val="0"/>
              </a:spcAft>
              <a:buNone/>
            </a:pPr>
            <a:r>
              <a:t>- https://doi.org/10.1016/0375-9601(93)90880-9</a:t>
            </a:r>
          </a:p>
          <a:p xmlns:a="http://schemas.openxmlformats.org/drawingml/2006/main">
            <a:pPr marL="0" indent="0" algn="l">
              <a:spcBef>
                <a:spcPts val="0"/>
              </a:spcBef>
              <a:spcAft>
                <a:spcPts val="0"/>
              </a:spcAft>
              <a:buNone/>
            </a:pPr>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The valid state conditions are Hermitian, positive semidefinite, and trace one.</a:t>
            </a:r>
          </a:p>
          <a:p xmlns:a="http://schemas.openxmlformats.org/drawingml/2006/main">
            <a:pPr marL="0" indent="0" algn="l">
              <a:spcBef>
                <a:spcPts val="0"/>
              </a:spcBef>
              <a:spcAft>
                <a:spcPts val="0"/>
              </a:spcAft>
              <a:buNone/>
            </a:pPr>
            <a:r>
              <a:t>Kraus operators define a completely positive trace-preserving update when fixed for an action/context and when the completeness condition holds.</a:t>
            </a:r>
          </a:p>
          <a:p xmlns:a="http://schemas.openxmlformats.org/drawingml/2006/main">
            <a:pPr marL="0" indent="0" algn="l">
              <a:spcBef>
                <a:spcPts val="0"/>
              </a:spcBef>
              <a:spcAft>
                <a:spcPts val="0"/>
              </a:spcAft>
              <a:buNone/>
            </a:pPr>
            <a:r>
              <a:t>The readout uses positive effects E_y. A conditioned post-observation state requires a measurement instrument, not only a POVM.</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[Sources]</a:t>
            </a:r>
          </a:p>
          <a:p xmlns:a="http://schemas.openxmlformats.org/drawingml/2006/main">
            <a:pPr marL="0" indent="0" algn="l">
              <a:spcBef>
                <a:spcPts val="0"/>
              </a:spcBef>
              <a:spcAft>
                <a:spcPts val="0"/>
              </a:spcAft>
              <a:buNone/>
            </a:pPr>
            <a:r>
              <a:t>- https://proceedings.mlr.press/v84/srinivasan18a.html</a:t>
            </a:r>
          </a:p>
          <a:p xmlns:a="http://schemas.openxmlformats.org/drawingml/2006/main">
            <a:pPr marL="0" indent="0" algn="l">
              <a:spcBef>
                <a:spcPts val="0"/>
              </a:spcBef>
              <a:spcAft>
                <a:spcPts val="0"/>
              </a:spcAft>
              <a:buNone/>
            </a:pPr>
            <a:r>
              <a:t>- https://proceedings.mlr.press/v108/adhikary20a.html</a:t>
            </a:r>
          </a:p>
          <a:p xmlns:a="http://schemas.openxmlformats.org/drawingml/2006/main">
            <a:pPr marL="0" indent="0" algn="l">
              <a:spcBef>
                <a:spcPts val="0"/>
              </a:spcBef>
              <a:spcAft>
                <a:spcPts val="0"/>
              </a:spcAft>
              <a:buNone/>
            </a:pPr>
            <a:r>
              <a:t>- https://arxiv.org/abs/1112.2347</a:t>
            </a:r>
          </a:p>
          <a:p xmlns:a="http://schemas.openxmlformats.org/drawingml/2006/main">
            <a:pPr marL="0" indent="0" algn="l">
              <a:spcBef>
                <a:spcPts val="0"/>
              </a:spcBef>
              <a:spcAft>
                <a:spcPts val="0"/>
              </a:spcAft>
              <a:buNone/>
            </a:pPr>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The parameter count is a comparison of constrained state families, not a statement about Shannon capacity or superiority.</a:t>
            </a:r>
          </a:p>
          <a:p xmlns:a="http://schemas.openxmlformats.org/drawingml/2006/main">
            <a:pPr marL="0" indent="0" algn="l">
              <a:spcBef>
                <a:spcPts val="0"/>
              </a:spcBef>
              <a:spcAft>
                <a:spcPts val="0"/>
              </a:spcAft>
              <a:buNone/>
            </a:pPr>
            <a:r>
              <a:t>Low-rank ρ=AA†/Tr(AA†) provides a scalable implementation, but A has gauge redundancy A→AU.</a:t>
            </a:r>
          </a:p>
          <a:p xmlns:a="http://schemas.openxmlformats.org/drawingml/2006/main">
            <a:pPr marL="0" indent="0" algn="l">
              <a:spcBef>
                <a:spcPts val="0"/>
              </a:spcBef>
              <a:spcAft>
                <a:spcPts val="0"/>
              </a:spcAft>
              <a:buNone/>
            </a:pPr>
            <a:r>
              <a:t>Only the qubit state space is exactly a Bloch ball. For d greater than two, any 3D view is a projection or slice.</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[Sources]</a:t>
            </a:r>
          </a:p>
          <a:p xmlns:a="http://schemas.openxmlformats.org/drawingml/2006/main">
            <a:pPr marL="0" indent="0" algn="l">
              <a:spcBef>
                <a:spcPts val="0"/>
              </a:spcBef>
              <a:spcAft>
                <a:spcPts val="0"/>
              </a:spcAft>
              <a:buNone/>
            </a:pPr>
            <a:r>
              <a:t>- https://arxiv.org/abs/1112.2347</a:t>
            </a:r>
          </a:p>
          <a:p xmlns:a="http://schemas.openxmlformats.org/drawingml/2006/main">
            <a:pPr marL="0" indent="0" algn="l">
              <a:spcBef>
                <a:spcPts val="0"/>
              </a:spcBef>
              <a:spcAft>
                <a:spcPts val="0"/>
              </a:spcAft>
              <a:buNone/>
            </a:pPr>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rPr sz="1200" b="0" i="0">
                <a:solidFill>
                  <a:schemeClr val="dk1"/>
                </a:solidFill>
                <a:latin typeface="Calibri"/>
                <a:ea typeface="Calibri"/>
                <a:cs typeface="Calibri"/>
              </a:rPr>
              <a:t>PSC adapts locally purified tensor-network mathematics to a fixed set of learned world-model slots.</a:t>
            </a:r>
          </a:p>
          <a:p xmlns:a="http://schemas.openxmlformats.org/drawingml/2006/main">
            <a:pPr marL="0" indent="0" algn="l">
              <a:spcBef>
                <a:spcPts val="0"/>
              </a:spcBef>
              <a:spcAft>
                <a:spcPts val="0"/>
              </a:spcAft>
              <a:buNone/>
            </a:pPr>
            <a:r>
              <a:rPr sz="1200" b="0" i="0">
                <a:solidFill>
                  <a:schemeClr val="dk1"/>
                </a:solidFill>
                <a:latin typeface="Calibri"/>
                <a:ea typeface="Calibri"/>
                <a:cs typeface="Calibri"/>
              </a:rPr>
              <a:t>The positivity guarantee comes from ρ=XX†/Tr. The architecture and slot semantics are proposed; the cited papers establish the underlying tensor-network methods, not world-model performance.</a:t>
            </a:r>
          </a:p>
          <a:p xmlns:a="http://schemas.openxmlformats.org/drawingml/2006/main">
            <a:pPr marL="0" indent="0" algn="l">
              <a:spcBef>
                <a:spcPts val="0"/>
              </a:spcBef>
              <a:spcAft>
                <a:spcPts val="0"/>
              </a:spcAft>
              <a:buNone/>
            </a:pPr>
            <a:r>
              <a:rPr sz="1200" b="0" i="0">
                <a:solidFill>
                  <a:schemeClr val="dk1"/>
                </a:solidFill>
                <a:latin typeface="Calibri"/>
                <a:ea typeface="Calibri"/>
                <a:cs typeface="Calibri"/>
              </a:rPr>
              <a:t/>
            </a:r>
          </a:p>
          <a:p xmlns:a="http://schemas.openxmlformats.org/drawingml/2006/main">
            <a:pPr marL="0" indent="0" algn="l">
              <a:spcBef>
                <a:spcPts val="0"/>
              </a:spcBef>
              <a:spcAft>
                <a:spcPts val="0"/>
              </a:spcAft>
              <a:buNone/>
            </a:pPr>
            <a:r>
              <a:rPr sz="1200" b="0" i="0">
                <a:solidFill>
                  <a:schemeClr val="dk1"/>
                </a:solidFill>
                <a:latin typeface="Calibri"/>
                <a:ea typeface="Calibri"/>
                <a:cs typeface="Calibri"/>
              </a:rPr>
              <a:t>[Sources]</a:t>
            </a:r>
          </a:p>
          <a:p xmlns:a="http://schemas.openxmlformats.org/drawingml/2006/main">
            <a:pPr marL="0" indent="0" algn="l">
              <a:spcBef>
                <a:spcPts val="0"/>
              </a:spcBef>
              <a:spcAft>
                <a:spcPts val="0"/>
              </a:spcAft>
              <a:buNone/>
            </a:pPr>
            <a:r>
              <a:rPr sz="1200" b="0" i="0">
                <a:solidFill>
                  <a:schemeClr val="dk1"/>
                </a:solidFill>
                <a:latin typeface="Calibri"/>
                <a:ea typeface="Calibri"/>
                <a:cs typeface="Calibri"/>
              </a:rPr>
              <a:t>- https://arxiv.org/abs/1412.5746</a:t>
            </a:r>
          </a:p>
          <a:p xmlns:a="http://schemas.openxmlformats.org/drawingml/2006/main">
            <a:pPr marL="0" indent="0" algn="l">
              <a:spcBef>
                <a:spcPts val="0"/>
              </a:spcBef>
              <a:spcAft>
                <a:spcPts val="0"/>
              </a:spcAft>
              <a:buNone/>
            </a:pPr>
            <a:r>
              <a:rPr sz="1200" b="0" i="0">
                <a:solidFill>
                  <a:schemeClr val="dk1"/>
                </a:solidFill>
                <a:latin typeface="Calibri"/>
                <a:ea typeface="Calibri"/>
                <a:cs typeface="Calibri"/>
              </a:rPr>
              <a:t>- https://arxiv.org/abs/1008.3477</a:t>
            </a:r>
          </a:p>
          <a:p xmlns:a="http://schemas.openxmlformats.org/drawingml/2006/main">
            <a:pPr marL="0" indent="0" algn="l">
              <a:spcBef>
                <a:spcPts val="0"/>
              </a:spcBef>
              <a:spcAft>
                <a:spcPts val="0"/>
              </a:spcAft>
              <a:buNone/>
            </a:pPr>
            <a:r>
              <a:rPr sz="1200" b="0" i="0">
                <a:solidFill>
                  <a:schemeClr val="dk1"/>
                </a:solidFill>
                <a:latin typeface="Calibri"/>
                <a:ea typeface="Calibri"/>
                <a:cs typeface="Calibri"/>
              </a:rP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The visual bonds are a topology for learned dependence. They do not represent physical strings in the room.</a:t>
            </a:r>
          </a:p>
          <a:p xmlns:a="http://schemas.openxmlformats.org/drawingml/2006/main">
            <a:pPr marL="0" indent="0" algn="l">
              <a:spcBef>
                <a:spcPts val="0"/>
              </a:spcBef>
              <a:spcAft>
                <a:spcPts val="0"/>
              </a:spcAft>
              <a:buNone/>
            </a:pPr>
            <a:r>
              <a:t>A training step may apply local gates, move information through the network, and compress back to the chosen bond dimension χ. Compression produces discarded-weight error that must be monitored.</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[Sources]</a:t>
            </a:r>
          </a:p>
          <a:p xmlns:a="http://schemas.openxmlformats.org/drawingml/2006/main">
            <a:pPr marL="0" indent="0" algn="l">
              <a:spcBef>
                <a:spcPts val="0"/>
              </a:spcBef>
              <a:spcAft>
                <a:spcPts val="0"/>
              </a:spcAft>
              <a:buNone/>
            </a:pPr>
            <a:r>
              <a:t>- https://arxiv.org/abs/1412.5746</a:t>
            </a:r>
          </a:p>
          <a:p xmlns:a="http://schemas.openxmlformats.org/drawingml/2006/main">
            <a:pPr marL="0" indent="0" algn="l">
              <a:spcBef>
                <a:spcPts val="0"/>
              </a:spcBef>
              <a:spcAft>
                <a:spcPts val="0"/>
              </a:spcAft>
              <a:buNone/>
            </a:pPr>
            <a:r>
              <a:t>- https://arxiv.org/abs/1008.3477</a:t>
            </a:r>
          </a:p>
          <a:p xmlns:a="http://schemas.openxmlformats.org/drawingml/2006/main">
            <a:pPr marL="0" indent="0" algn="l">
              <a:spcBef>
                <a:spcPts val="0"/>
              </a:spcBef>
              <a:spcAft>
                <a:spcPts val="0"/>
              </a:spcAft>
              <a:buNone/>
            </a:pPr>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rPr sz="1200" b="0" i="1">
                <a:solidFill>
                  <a:schemeClr val="dk1"/>
                </a:solidFill>
                <a:latin typeface="Calibri"/>
                <a:ea typeface="Calibri"/>
                <a:cs typeface="Calibri"/>
              </a:rPr>
              <a:t>The storage expression is an approximate raw real-scalar count for a uniform open chain before gauge and normalization; it is not exact for every graph.</a:t>
            </a:r>
          </a:p>
          <a:p xmlns:a="http://schemas.openxmlformats.org/drawingml/2006/main">
            <a:pPr marL="0" indent="0" algn="l">
              <a:spcBef>
                <a:spcPts val="0"/>
              </a:spcBef>
              <a:spcAft>
                <a:spcPts val="0"/>
              </a:spcAft>
              <a:buNone/>
            </a:pPr>
            <a:r>
              <a:rPr sz="1200" b="0" i="1">
                <a:solidFill>
                  <a:schemeClr val="dk1"/>
                </a:solidFill>
                <a:latin typeface="Calibri"/>
                <a:ea typeface="Calibri"/>
                <a:cs typeface="Calibri"/>
              </a:rPr>
              <a:t>Increasing χ enlarges the represented family but does not equal an exact number of correlations. Exact worst-case representation can require exponential χ.</a:t>
            </a:r>
          </a:p>
          <a:p xmlns:a="http://schemas.openxmlformats.org/drawingml/2006/main">
            <a:pPr marL="0" indent="0" algn="l">
              <a:spcBef>
                <a:spcPts val="0"/>
              </a:spcBef>
              <a:spcAft>
                <a:spcPts val="0"/>
              </a:spcAft>
              <a:buNone/>
            </a:pPr>
            <a:r>
              <a:rPr sz="1200" b="0" i="1">
                <a:solidFill>
                  <a:schemeClr val="dk1"/>
                </a:solidFill>
                <a:latin typeface="Calibri"/>
                <a:ea typeface="Calibri"/>
                <a:cs typeface="Calibri"/>
              </a:rPr>
              <a:t/>
            </a:r>
          </a:p>
          <a:p xmlns:a="http://schemas.openxmlformats.org/drawingml/2006/main">
            <a:pPr marL="0" indent="0" algn="l">
              <a:spcBef>
                <a:spcPts val="0"/>
              </a:spcBef>
              <a:spcAft>
                <a:spcPts val="0"/>
              </a:spcAft>
              <a:buNone/>
            </a:pPr>
            <a:r>
              <a:rPr sz="1200" b="0" i="1">
                <a:solidFill>
                  <a:schemeClr val="dk1"/>
                </a:solidFill>
                <a:latin typeface="Calibri"/>
                <a:ea typeface="Calibri"/>
                <a:cs typeface="Calibri"/>
              </a:rPr>
              <a:t>[Sources]</a:t>
            </a:r>
          </a:p>
          <a:p xmlns:a="http://schemas.openxmlformats.org/drawingml/2006/main">
            <a:pPr marL="0" indent="0" algn="l">
              <a:spcBef>
                <a:spcPts val="0"/>
              </a:spcBef>
              <a:spcAft>
                <a:spcPts val="0"/>
              </a:spcAft>
              <a:buNone/>
            </a:pPr>
            <a:r>
              <a:rPr sz="1200" b="0" i="1">
                <a:solidFill>
                  <a:schemeClr val="dk1"/>
                </a:solidFill>
                <a:latin typeface="Calibri"/>
                <a:ea typeface="Calibri"/>
                <a:cs typeface="Calibri"/>
              </a:rPr>
              <a:t>- https://arxiv.org/abs/1412.5746</a:t>
            </a:r>
          </a:p>
          <a:p xmlns:a="http://schemas.openxmlformats.org/drawingml/2006/main">
            <a:pPr marL="0" indent="0" algn="l">
              <a:spcBef>
                <a:spcPts val="0"/>
              </a:spcBef>
              <a:spcAft>
                <a:spcPts val="0"/>
              </a:spcAft>
              <a:buNone/>
            </a:pPr>
            <a:r>
              <a:rPr sz="1200" b="0" i="0">
                <a:solidFill>
                  <a:schemeClr val="dk1"/>
                </a:solidFill>
                <a:latin typeface="Calibri"/>
                <a:ea typeface="Calibri"/>
                <a:cs typeface="Calibri"/>
              </a:rPr>
              <a:t>- https://arxiv.org/abs/1008.3477</a:t>
            </a:r>
          </a:p>
          <a:p xmlns:a="http://schemas.openxmlformats.org/drawingml/2006/main">
            <a:pPr marL="0" indent="0" algn="l">
              <a:spcBef>
                <a:spcPts val="0"/>
              </a:spcBef>
              <a:spcAft>
                <a:spcPts val="0"/>
              </a:spcAft>
              <a:buNone/>
            </a:pPr>
            <a:r>
              <a:t>- https://openreview.net/forum?id=TFbwV6I0VLg</a:t>
            </a:r>
          </a:p>
          <a:p xmlns:a="http://schemas.openxmlformats.org/drawingml/2006/main">
            <a:pPr marL="0" indent="0" algn="l">
              <a:spcBef>
                <a:spcPts val="0"/>
              </a:spcBef>
              <a:spcAft>
                <a:spcPts val="0"/>
              </a:spcAft>
              <a:buNone/>
            </a:pPr>
            <a:r>
              <a:rPr sz="1200" b="0" i="0" u="none">
                <a:solidFill>
                  <a:schemeClr val="dk1"/>
                </a:solidFill>
                <a:latin typeface="Calibri"/>
                <a:ea typeface="Calibri"/>
                <a:cs typeface="Calibri"/>
              </a:rP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The 3D room miniatures are decoded branch predictions, not the geometry of CP^(d−1).</a:t>
            </a:r>
          </a:p>
          <a:p xmlns:a="http://schemas.openxmlformats.org/drawingml/2006/main">
            <a:pPr marL="0" indent="0" algn="l">
              <a:spcBef>
                <a:spcPts val="0"/>
              </a:spcBef>
              <a:spcAft>
                <a:spcPts val="0"/>
              </a:spcAft>
              <a:buNone/>
            </a:pPr>
            <a:r>
              <a:t>The raw coordinate count for M normalized complex branches plus weights is M(2d−2)+(M−1), before permutation and ensemble non-uniqueness.</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[Sources]</a:t>
            </a:r>
          </a:p>
          <a:p xmlns:a="http://schemas.openxmlformats.org/drawingml/2006/main">
            <a:pPr marL="0" indent="0" algn="l">
              <a:spcBef>
                <a:spcPts val="0"/>
              </a:spcBef>
              <a:spcAft>
                <a:spcPts val="0"/>
              </a:spcAft>
              <a:buNone/>
            </a:pPr>
            <a:r>
              <a:t>- https://doi.org/10.1016/0375-9601(93)90880-9</a:t>
            </a:r>
          </a:p>
          <a:p xmlns:a="http://schemas.openxmlformats.org/drawingml/2006/main">
            <a:pPr marL="0" indent="0" algn="l">
              <a:spcBef>
                <a:spcPts val="0"/>
              </a:spcBef>
              <a:spcAft>
                <a:spcPts val="0"/>
              </a:spcAft>
              <a:buNone/>
            </a:pPr>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rPr sz="1200" b="1" i="0">
                <a:solidFill>
                  <a:schemeClr val="dk1"/>
                </a:solidFill>
                <a:latin typeface="Calibri"/>
                <a:ea typeface="Calibri"/>
                <a:cs typeface="Calibri"/>
              </a:rPr>
              <a:t>TEC is not automatically a quantum trajectory algorithm. It is an explicit weighted branch model using pure-state coordinates.</a:t>
            </a:r>
          </a:p>
          <a:p xmlns:a="http://schemas.openxmlformats.org/drawingml/2006/main">
            <a:pPr marL="0" indent="0" algn="l">
              <a:spcBef>
                <a:spcPts val="0"/>
              </a:spcBef>
              <a:spcAft>
                <a:spcPts val="0"/>
              </a:spcAft>
              <a:buNone/>
            </a:pPr>
            <a:r>
              <a:t>The potential benefit comes from retaining branch identity for branch-aware transitions and readouts, not merely from rewriting a density matrix as an ensemble.</a:t>
            </a:r>
          </a:p>
          <a:p xmlns:a="http://schemas.openxmlformats.org/drawingml/2006/main">
            <a:pPr marL="0" indent="0" algn="l">
              <a:spcBef>
                <a:spcPts val="0"/>
              </a:spcBef>
              <a:spcAft>
                <a:spcPts val="0"/>
              </a:spcAft>
              <a:buNone/>
            </a:pPr>
            <a:r>
              <a:rPr sz="1200" b="1" i="0">
                <a:solidFill>
                  <a:schemeClr val="dk1"/>
                </a:solidFill>
                <a:latin typeface="Calibri"/>
                <a:ea typeface="Calibri"/>
                <a:cs typeface="Calibri"/>
              </a:rPr>
              <a:t/>
            </a:r>
          </a:p>
          <a:p xmlns:a="http://schemas.openxmlformats.org/drawingml/2006/main">
            <a:pPr marL="0" indent="0" algn="l">
              <a:spcBef>
                <a:spcPts val="0"/>
              </a:spcBef>
              <a:spcAft>
                <a:spcPts val="0"/>
              </a:spcAft>
              <a:buNone/>
            </a:pPr>
            <a:r>
              <a:t>[Sources]</a:t>
            </a:r>
          </a:p>
          <a:p xmlns:a="http://schemas.openxmlformats.org/drawingml/2006/main">
            <a:pPr marL="0" indent="0" algn="l">
              <a:spcBef>
                <a:spcPts val="0"/>
              </a:spcBef>
              <a:spcAft>
                <a:spcPts val="0"/>
              </a:spcAft>
              <a:buNone/>
            </a:pPr>
            <a:r>
              <a:t>- https://doi.org/10.1016/0375-9601(93)90880-9</a:t>
            </a:r>
          </a:p>
          <a:p xmlns:a="http://schemas.openxmlformats.org/drawingml/2006/main">
            <a:pPr marL="0" indent="0" algn="l">
              <a:spcBef>
                <a:spcPts val="0"/>
              </a:spcBef>
              <a:spcAft>
                <a:spcPts val="0"/>
              </a:spcAft>
              <a:buNone/>
            </a:pPr>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rPr sz="1200" b="0" i="0">
                <a:solidFill>
                  <a:schemeClr val="dk1"/>
                </a:solidFill>
                <a:latin typeface="Calibri"/>
                <a:ea typeface="Calibri"/>
                <a:cs typeface="Calibri"/>
              </a:rPr>
              <a:t>HJW establishes that a density matrix has nonunique pure-state ensemble decompositions.</a:t>
            </a:r>
          </a:p>
          <a:p xmlns:a="http://schemas.openxmlformats.org/drawingml/2006/main">
            <a:pPr marL="0" indent="0" algn="l">
              <a:spcBef>
                <a:spcPts val="0"/>
              </a:spcBef>
              <a:spcAft>
                <a:spcPts val="0"/>
              </a:spcAft>
              <a:buNone/>
            </a:pPr>
            <a:r>
              <a:t>Therefore TEC must keep a classical branch label, use identifiable branch-conditioned dynamics/readouts, or define a canonical decomposition. Otherwise its additional branch coordinates do not change observable predictions.</a:t>
            </a:r>
          </a:p>
          <a:p xmlns:a="http://schemas.openxmlformats.org/drawingml/2006/main">
            <a:pPr marL="0" indent="0" algn="l">
              <a:spcBef>
                <a:spcPts val="0"/>
              </a:spcBef>
              <a:spcAft>
                <a:spcPts val="0"/>
              </a:spcAft>
              <a:buNone/>
            </a:pPr>
            <a:r>
              <a:rPr sz="1200" b="1" i="0">
                <a:solidFill>
                  <a:schemeClr val="dk1"/>
                </a:solidFill>
                <a:latin typeface="Calibri"/>
                <a:ea typeface="Calibri"/>
                <a:cs typeface="Calibri"/>
              </a:rPr>
              <a:t/>
            </a:r>
          </a:p>
          <a:p xmlns:a="http://schemas.openxmlformats.org/drawingml/2006/main">
            <a:pPr marL="0" indent="0" algn="l">
              <a:spcBef>
                <a:spcPts val="0"/>
              </a:spcBef>
              <a:spcAft>
                <a:spcPts val="0"/>
              </a:spcAft>
              <a:buNone/>
            </a:pPr>
            <a:r>
              <a:rPr sz="1200" b="0" i="0">
                <a:solidFill>
                  <a:schemeClr val="dk1"/>
                </a:solidFill>
                <a:latin typeface="Calibri"/>
                <a:ea typeface="Calibri"/>
                <a:cs typeface="Calibri"/>
              </a:rPr>
              <a:t>[Sources]</a:t>
            </a:r>
          </a:p>
          <a:p xmlns:a="http://schemas.openxmlformats.org/drawingml/2006/main">
            <a:pPr marL="0" indent="0" algn="l">
              <a:spcBef>
                <a:spcPts val="0"/>
              </a:spcBef>
              <a:spcAft>
                <a:spcPts val="0"/>
              </a:spcAft>
              <a:buNone/>
            </a:pPr>
            <a:r>
              <a:rPr sz="1200" b="0" i="0">
                <a:solidFill>
                  <a:schemeClr val="dk1"/>
                </a:solidFill>
                <a:latin typeface="Calibri"/>
                <a:ea typeface="Calibri"/>
                <a:cs typeface="Calibri"/>
              </a:rPr>
              <a:t>- https://doi.org/10.1016/0375-9601(93)90880-9</a:t>
            </a:r>
          </a:p>
          <a:p xmlns:a="http://schemas.openxmlformats.org/drawingml/2006/main">
            <a:pPr marL="0" indent="0" algn="l">
              <a:spcBef>
                <a:spcPts val="0"/>
              </a:spcBef>
              <a:spcAft>
                <a:spcPts val="0"/>
              </a:spcAft>
              <a:buNone/>
            </a:pPr>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QLC centralizes uncertainty in one matrix. PSC distributes it across linked slots. TEC retains explicit full-future branches.</a:t>
            </a:r>
          </a:p>
          <a:p xmlns:a="http://schemas.openxmlformats.org/drawingml/2006/main">
            <a:pPr marL="0" indent="0" algn="l">
              <a:spcBef>
                <a:spcPts val="0"/>
              </a:spcBef>
              <a:spcAft>
                <a:spcPts val="0"/>
              </a:spcAft>
              <a:buNone/>
            </a:pPr>
            <a:r>
              <a:t>The decisive comparison is not raw coordinate count; it is useful prediction and planning under matched resource constraints.</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[Sources]</a:t>
            </a:r>
          </a:p>
          <a:p xmlns:a="http://schemas.openxmlformats.org/drawingml/2006/main">
            <a:pPr marL="0" indent="0" algn="l">
              <a:spcBef>
                <a:spcPts val="0"/>
              </a:spcBef>
              <a:spcAft>
                <a:spcPts val="0"/>
              </a:spcAft>
              <a:buNone/>
            </a:pPr>
            <a:r>
              <a:t>- https://proceedings.mlr.press/v108/adhikary20a.html</a:t>
            </a:r>
          </a:p>
          <a:p xmlns:a="http://schemas.openxmlformats.org/drawingml/2006/main">
            <a:pPr marL="0" indent="0" algn="l">
              <a:spcBef>
                <a:spcPts val="0"/>
              </a:spcBef>
              <a:spcAft>
                <a:spcPts val="0"/>
              </a:spcAft>
              <a:buNone/>
            </a:pPr>
            <a:r>
              <a:t>- https://arxiv.org/abs/1412.5746</a:t>
            </a:r>
          </a:p>
          <a:p xmlns:a="http://schemas.openxmlformats.org/drawingml/2006/main">
            <a:pPr marL="0" indent="0" algn="l">
              <a:spcBef>
                <a:spcPts val="0"/>
              </a:spcBef>
              <a:spcAft>
                <a:spcPts val="0"/>
              </a:spcAft>
              <a:buNone/>
            </a:pPr>
            <a:r>
              <a:t>- https://doi.org/10.1016/0375-9601(93)90880-9</a:t>
            </a:r>
          </a:p>
          <a:p xmlns:a="http://schemas.openxmlformats.org/drawingml/2006/main">
            <a:pPr marL="0" indent="0" algn="l">
              <a:spcBef>
                <a:spcPts val="0"/>
              </a:spcBef>
              <a:spcAft>
                <a:spcPts val="0"/>
              </a:spcAft>
              <a:buNone/>
            </a:pPr>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This slide defines the falsification standard. A proposed core should not be accepted because it is mathematically richer or visually appealing.</a:t>
            </a:r>
          </a:p>
          <a:p xmlns:a="http://schemas.openxmlformats.org/drawingml/2006/main">
            <a:pPr marL="0" indent="0" algn="l">
              <a:spcBef>
                <a:spcPts val="0"/>
              </a:spcBef>
              <a:spcAft>
                <a:spcPts val="0"/>
              </a:spcAft>
              <a:buNone/>
            </a:pPr>
            <a:r>
              <a:t>Matched-budget comparisons and architecture-specific ablations separate useful structure from extra compute.</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[Sources]</a:t>
            </a:r>
          </a:p>
          <a:p xmlns:a="http://schemas.openxmlformats.org/drawingml/2006/main">
            <a:pPr marL="0" indent="0" algn="l">
              <a:spcBef>
                <a:spcPts val="0"/>
              </a:spcBef>
              <a:spcAft>
                <a:spcPts val="0"/>
              </a:spcAft>
              <a:buNone/>
            </a:pPr>
            <a:r>
              <a:t>- https://arxiv.org/abs/2301.04104</a:t>
            </a:r>
          </a:p>
          <a:p xmlns:a="http://schemas.openxmlformats.org/drawingml/2006/main">
            <a:pPr marL="0" indent="0" algn="l">
              <a:spcBef>
                <a:spcPts val="0"/>
              </a:spcBef>
              <a:spcAft>
                <a:spcPts val="0"/>
              </a:spcAft>
              <a:buNone/>
            </a:pPr>
            <a:r>
              <a:t>- https://arxiv.org/abs/2310.16828</a:t>
            </a:r>
          </a:p>
          <a:p xmlns:a="http://schemas.openxmlformats.org/drawingml/2006/main">
            <a:pPr marL="0" indent="0" algn="l">
              <a:spcBef>
                <a:spcPts val="0"/>
              </a:spcBef>
              <a:spcAft>
                <a:spcPts val="0"/>
              </a:spcAft>
              <a:buNone/>
            </a:pPr>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contribution is a disciplined comparison of three quantum-inspired state parameterizations for world models.</a:t>
            </a:r>
          </a:p>
          <a:p xmlns:a="http://schemas.openxmlformats.org/drawingml/2006/main">
            <a:r>
              <a:t>The outcome may be that one, several, or none beats strong classical baselines. That uncertainty is part of the research proposal.</a:t>
            </a:r>
          </a:p>
          <a:p xmlns:a="http://schemas.openxmlformats.org/drawingml/2006/main">
            <a:r>
              <a:t/>
            </a:r>
          </a:p>
          <a:p xmlns:a="http://schemas.openxmlformats.org/drawingml/2006/main">
            <a:r>
              <a:t>[Sources]</a:t>
            </a:r>
          </a:p>
          <a:p xmlns:a="http://schemas.openxmlformats.org/drawingml/2006/main">
            <a:r>
              <a:t>- https://proceedings.mlr.press/v108/adhikary20a.html</a:t>
            </a:r>
          </a:p>
          <a:p xmlns:a="http://schemas.openxmlformats.org/drawingml/2006/main">
            <a:r>
              <a:t>- https://arxiv.org/abs/1412.5746</a:t>
            </a:r>
          </a:p>
          <a:p xmlns:a="http://schemas.openxmlformats.org/drawingml/2006/main">
            <a:r>
              <a:t>- https://doi.org/10.1016/0375-9601(93)90880-9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d6b09dabb443f7" /><Relationship Type="http://schemas.openxmlformats.org/officeDocument/2006/relationships/image" Target="/ppt/media/image.png" Id="R9bf4dabaeeab456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2f5e3daa91e410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166e1b3e5af474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cde8e9d6127474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8db73ee6bfe41d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2.xml" Id="R88378ead0c8f4076" /><Relationship Type="http://schemas.openxmlformats.org/officeDocument/2006/relationships/image" Target="/ppt/media/image.png" Id="Rbbc8f6b904914b6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894f19838d31437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2.xml" Id="R71160c6a9463490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2.xml" Id="Rc53a2d263b47466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2.xml" Id="R3972fd81477f45a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51a96579b5b345dd"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B5BF5A9-4CB6-47B7-B670-5795F545694E}"/>
              </a:ext>
            </a:extLst>
          </p:cNvPr>
          <p:cNvSpPr>
            <a:spLocks xmlns:a="http://schemas.openxmlformats.org/drawingml/2006/main" noGrp="1"/>
          </p:cNvSpPr>
          <p:nvPr>
            <p:ph type="title" idx="0"/>
          </p:nvPr>
        </p:nvSpPr>
        <p:spPr>
          <a:xfrm xmlns:a="http://schemas.openxmlformats.org/drawingml/2006/main">
            <a:off x="448056" y="2551176"/>
            <a:ext cx="9922447" cy="914400"/>
          </a:xfrm>
        </p:spPr>
        <p:txBody>
          <a:bodyPr xmlns:a="http://schemas.openxmlformats.org/drawingml/2006/main"/>
          <a:lstStyle xmlns:a="http://schemas.openxmlformats.org/drawingml/2006/main">
            <a:lvl1pPr>
              <a:buNone/>
              <a:defRPr sz="5400" b="0">
                <a:solidFill>
                  <a:schemeClr val="tx1"/>
                </a:solidFill>
              </a:defRPr>
            </a:lvl1pPr>
          </a:lstStyle>
          <a:p xmlns:a="http://schemas.openxmlformats.org/drawingml/2006/main">
            <a:r>
              <a:t>Click to edit Master title style</a:t>
            </a:r>
          </a:p>
        </p:txBody>
      </p:sp>
      <p:sp>
        <p:nvSpPr>
          <p:cNvPr id="5" name="Text Placeholder 4">
            <a:extLst xmlns:a="http://schemas.openxmlformats.org/drawingml/2006/main">
              <a:ext uri="{FF2B5EF4-FFF2-40B4-BE49-F238E27FC236}">
                <a16:creationId xmlns:a16="http://schemas.microsoft.com/office/drawing/2014/main" id="{B107D0E1-EAED-8E08-24BA-8F930364BA96}"/>
              </a:ext>
            </a:extLst>
          </p:cNvPr>
          <p:cNvSpPr>
            <a:spLocks xmlns:a="http://schemas.openxmlformats.org/drawingml/2006/main" noGrp="1"/>
          </p:cNvSpPr>
          <p:nvPr>
            <p:ph type="body" idx="10"/>
          </p:nvPr>
        </p:nvSpPr>
        <p:spPr>
          <a:xfrm xmlns:a="http://schemas.openxmlformats.org/drawingml/2006/main">
            <a:off x="448056" y="3575304"/>
            <a:ext cx="9921943" cy="862012"/>
          </a:xfrm>
        </p:spPr>
        <p:txBody>
          <a:bodyPr xmlns:a="http://schemas.openxmlformats.org/drawingml/2006/main">
            <a:normAutofit/>
          </a:bodyPr>
          <a:lstStyle xmlns:a="http://schemas.openxmlformats.org/drawingml/2006/main">
            <a:lvl1pPr>
              <a:buNone/>
              <a:defRPr sz="2400">
                <a:solidFill>
                  <a:schemeClr val="accent2"/>
                </a:solidFill>
              </a:defRPr>
            </a:lvl1pPr>
          </a:lstStyle>
          <a:p xmlns:a="http://schemas.openxmlformats.org/drawingml/2006/main">
            <a:pPr>
              <a:buNone/>
            </a:pPr>
            <a:r>
              <a:t>Click to edit Master text styles</a:t>
            </a:r>
          </a:p>
        </p:txBody>
      </p:sp>
      <p:pic>
        <p:nvPicPr>
          <p:cNvPr id="6" name="Picture 5"/>
          <p:cNvPicPr>
            <a:picLocks xmlns:a="http://schemas.openxmlformats.org/drawingml/2006/main" noChangeAspect="1"/>
          </p:cNvPicPr>
          <p:nvPr/>
        </p:nvPicPr>
        <p:blipFill>
          <a:blip xmlns:r="http://schemas.openxmlformats.org/officeDocument/2006/relationships" xmlns:a="http://schemas.openxmlformats.org/drawingml/2006/main" r:embed="R9bf4dabaeeab4561"/>
          <a:stretch xmlns:a="http://schemas.openxmlformats.org/drawingml/2006/main">
            <a:fillRect l="0" t="0" r="0" b="0"/>
          </a:stretch>
        </p:blipFill>
        <p:spPr>
          <a:xfrm xmlns:a="http://schemas.openxmlformats.org/drawingml/2006/main">
            <a:off x="249483" y="128907"/>
            <a:ext cx="2369315" cy="867807"/>
          </a:xfrm>
          <a:prstGeom xmlns:a="http://schemas.openxmlformats.org/drawingml/2006/main" prst="rect">
            <a:avLst/>
          </a:prstGeom>
        </p:spPr>
      </p:pic>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B0ABE10-5A8F-5044-434F-7434A03566A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B85243B5-B498-1E60-5D02-983D13E8289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BEEBAAA-29B5-4AF5-BC5F-7E580C29002D}" type="datetimeFigureOut">
              <a:t>8/6/2026</a:t>
            </a:fld>
          </a:p>
        </p:txBody>
      </p:sp>
      <p:sp>
        <p:nvSpPr>
          <p:cNvPr id="4" name="Footer Placeholder 3">
            <a:extLst xmlns:a="http://schemas.openxmlformats.org/drawingml/2006/main">
              <a:ext uri="{FF2B5EF4-FFF2-40B4-BE49-F238E27FC236}">
                <a16:creationId xmlns:a16="http://schemas.microsoft.com/office/drawing/2014/main" id="{7DBD33E4-41B8-74EC-F9A4-3E1DCC0E750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522A375B-2E8B-0F31-9DE4-A5F0682ADFB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860EDB8-5305-433F-BE41-D7A86D811DB3}" type="slidenum">
              <a:t>‹#›</a:t>
            </a:fld>
          </a:p>
        </p:txBody>
      </p:sp>
      <p:sp>
        <p:nvSpPr>
          <p:cNvPr id="7" name="Content Placeholder 6">
            <a:extLst xmlns:a="http://schemas.openxmlformats.org/drawingml/2006/main">
              <a:ext uri="{FF2B5EF4-FFF2-40B4-BE49-F238E27FC236}">
                <a16:creationId xmlns:a16="http://schemas.microsoft.com/office/drawing/2014/main" id="{CB40353B-463E-6D13-F92E-564948AFA386}"/>
              </a:ext>
            </a:extLst>
          </p:cNvPr>
          <p:cNvSpPr>
            <a:spLocks xmlns:a="http://schemas.openxmlformats.org/drawingml/2006/main" noGrp="1"/>
          </p:cNvSpPr>
          <p:nvPr>
            <p:ph idx="13"/>
          </p:nvPr>
        </p:nvSpPr>
        <p:spPr>
          <a:xfrm xmlns:a="http://schemas.openxmlformats.org/drawingml/2006/main">
            <a:off x="444500" y="1463040"/>
            <a:ext cx="11210543" cy="4601748"/>
          </a:xfrm>
        </p:spPr>
        <p:txBody>
          <a:bodyPr xmlns:a="http://schemas.openxmlformats.org/drawingml/2006/main"/>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B0ABE10-5A8F-5044-434F-7434A03566A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B85243B5-B498-1E60-5D02-983D13E8289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BEEBAAA-29B5-4AF5-BC5F-7E580C29002D}" type="datetimeFigureOut">
              <a:t>8/6/2026</a:t>
            </a:fld>
          </a:p>
        </p:txBody>
      </p:sp>
      <p:sp>
        <p:nvSpPr>
          <p:cNvPr id="4" name="Footer Placeholder 3">
            <a:extLst xmlns:a="http://schemas.openxmlformats.org/drawingml/2006/main">
              <a:ext uri="{FF2B5EF4-FFF2-40B4-BE49-F238E27FC236}">
                <a16:creationId xmlns:a16="http://schemas.microsoft.com/office/drawing/2014/main" id="{7DBD33E4-41B8-74EC-F9A4-3E1DCC0E750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522A375B-2E8B-0F31-9DE4-A5F0682ADFB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860EDB8-5305-433F-BE41-D7A86D811DB3}" type="slidenum">
              <a:t>‹#›</a:t>
            </a:fld>
          </a:p>
        </p:txBody>
      </p:sp>
      <p:sp>
        <p:nvSpPr>
          <p:cNvPr id="7" name="Content Placeholder 6">
            <a:extLst xmlns:a="http://schemas.openxmlformats.org/drawingml/2006/main">
              <a:ext uri="{FF2B5EF4-FFF2-40B4-BE49-F238E27FC236}">
                <a16:creationId xmlns:a16="http://schemas.microsoft.com/office/drawing/2014/main" id="{CB40353B-463E-6D13-F92E-564948AFA386}"/>
              </a:ext>
            </a:extLst>
          </p:cNvPr>
          <p:cNvSpPr>
            <a:spLocks xmlns:a="http://schemas.openxmlformats.org/drawingml/2006/main" noGrp="1"/>
          </p:cNvSpPr>
          <p:nvPr>
            <p:ph idx="13"/>
          </p:nvPr>
        </p:nvSpPr>
        <p:spPr>
          <a:xfrm xmlns:a="http://schemas.openxmlformats.org/drawingml/2006/main">
            <a:off x="444500" y="1463040"/>
            <a:ext cx="5330952" cy="4601748"/>
          </a:xfrm>
        </p:spPr>
        <p:txBody>
          <a:bodyPr xmlns:a="http://schemas.openxmlformats.org/drawingml/2006/main"/>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8" name="Content Placeholder 6">
            <a:extLst xmlns:a="http://schemas.openxmlformats.org/drawingml/2006/main">
              <a:ext uri="{FF2B5EF4-FFF2-40B4-BE49-F238E27FC236}">
                <a16:creationId xmlns:a16="http://schemas.microsoft.com/office/drawing/2014/main" id="{904E943F-C687-D3B3-4E36-65D69E3E2F0C}"/>
              </a:ext>
            </a:extLst>
          </p:cNvPr>
          <p:cNvSpPr>
            <a:spLocks xmlns:a="http://schemas.openxmlformats.org/drawingml/2006/main" noGrp="1"/>
          </p:cNvSpPr>
          <p:nvPr>
            <p:ph idx="14"/>
          </p:nvPr>
        </p:nvSpPr>
        <p:spPr>
          <a:xfrm xmlns:a="http://schemas.openxmlformats.org/drawingml/2006/main">
            <a:off x="6298690" y="1463040"/>
            <a:ext cx="5330952" cy="4601748"/>
          </a:xfrm>
        </p:spPr>
        <p:txBody>
          <a:bodyPr xmlns:a="http://schemas.openxmlformats.org/drawingml/2006/main"/>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Tree>
  </p:cSld>
</p:sldLayout>
</file>

<file path=ppt/slideLayouts/slideLayout4.xml><?xml version="1.0" encoding="utf-8"?>
<p:sldLayout xmlns:p="http://schemas.openxmlformats.org/presentationml/2006/main" preserve="1" userDrawn="1">
  <p:cSld name="Title and Content shor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B0ABE10-5A8F-5044-434F-7434A03566A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B85243B5-B498-1E60-5D02-983D13E8289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BEEBAAA-29B5-4AF5-BC5F-7E580C29002D}" type="datetimeFigureOut">
              <a:t>8/6/2026</a:t>
            </a:fld>
          </a:p>
        </p:txBody>
      </p:sp>
      <p:sp>
        <p:nvSpPr>
          <p:cNvPr id="4" name="Footer Placeholder 3">
            <a:extLst xmlns:a="http://schemas.openxmlformats.org/drawingml/2006/main">
              <a:ext uri="{FF2B5EF4-FFF2-40B4-BE49-F238E27FC236}">
                <a16:creationId xmlns:a16="http://schemas.microsoft.com/office/drawing/2014/main" id="{7DBD33E4-41B8-74EC-F9A4-3E1DCC0E750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522A375B-2E8B-0F31-9DE4-A5F0682ADFB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860EDB8-5305-433F-BE41-D7A86D811DB3}" type="slidenum">
              <a:t>‹#›</a:t>
            </a:fld>
          </a:p>
        </p:txBody>
      </p:sp>
      <p:sp>
        <p:nvSpPr>
          <p:cNvPr id="7" name="Content Placeholder 6">
            <a:extLst xmlns:a="http://schemas.openxmlformats.org/drawingml/2006/main">
              <a:ext uri="{FF2B5EF4-FFF2-40B4-BE49-F238E27FC236}">
                <a16:creationId xmlns:a16="http://schemas.microsoft.com/office/drawing/2014/main" id="{CB40353B-463E-6D13-F92E-564948AFA386}"/>
              </a:ext>
            </a:extLst>
          </p:cNvPr>
          <p:cNvSpPr>
            <a:spLocks xmlns:a="http://schemas.openxmlformats.org/drawingml/2006/main" noGrp="1"/>
          </p:cNvSpPr>
          <p:nvPr>
            <p:ph idx="13"/>
          </p:nvPr>
        </p:nvSpPr>
        <p:spPr>
          <a:xfrm xmlns:a="http://schemas.openxmlformats.org/drawingml/2006/main">
            <a:off x="444500" y="1463040"/>
            <a:ext cx="5330952" cy="4601748"/>
          </a:xfrm>
        </p:spPr>
        <p:txBody>
          <a:bodyPr xmlns:a="http://schemas.openxmlformats.org/drawingml/2006/main"/>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Tree>
  </p:cSld>
</p:sldLayout>
</file>

<file path=ppt/slideLayouts/slideLayout5.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B0ABE10-5A8F-5044-434F-7434A03566A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B85243B5-B498-1E60-5D02-983D13E8289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BEEBAAA-29B5-4AF5-BC5F-7E580C29002D}" type="datetimeFigureOut">
              <a:t>8/6/2026</a:t>
            </a:fld>
          </a:p>
        </p:txBody>
      </p:sp>
      <p:sp>
        <p:nvSpPr>
          <p:cNvPr id="4" name="Footer Placeholder 3">
            <a:extLst xmlns:a="http://schemas.openxmlformats.org/drawingml/2006/main">
              <a:ext uri="{FF2B5EF4-FFF2-40B4-BE49-F238E27FC236}">
                <a16:creationId xmlns:a16="http://schemas.microsoft.com/office/drawing/2014/main" id="{7DBD33E4-41B8-74EC-F9A4-3E1DCC0E750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522A375B-2E8B-0F31-9DE4-A5F0682ADFB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860EDB8-5305-433F-BE41-D7A86D811DB3}" type="slidenum">
              <a:t>‹#›</a:t>
            </a:fld>
          </a:p>
        </p:txBody>
      </p:sp>
    </p:spTree>
  </p:cSld>
</p:sldLayout>
</file>

<file path=ppt/slideLayouts/slideLayout6.xml><?xml version="1.0" encoding="utf-8"?>
<p:sldLayout xmlns:p="http://schemas.openxmlformats.org/presentationml/2006/main" showMasterSp="0"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1FC448E-0B1C-48B8-833A-C9519CF83831}"/>
              </a:ext>
            </a:extLst>
          </p:cNvPr>
          <p:cNvSpPr>
            <a:spLocks xmlns:a="http://schemas.openxmlformats.org/drawingml/2006/main" noGrp="1"/>
          </p:cNvSpPr>
          <p:nvPr>
            <p:ph type="title" idx="0"/>
          </p:nvPr>
        </p:nvSpPr>
        <p:spPr>
          <a:xfrm xmlns:a="http://schemas.openxmlformats.org/drawingml/2006/main">
            <a:off x="448056" y="2551176"/>
            <a:ext cx="9922447" cy="914400"/>
          </a:xfrm>
        </p:spPr>
        <p:txBody>
          <a:bodyPr xmlns:a="http://schemas.openxmlformats.org/drawingml/2006/main"/>
          <a:lstStyle xmlns:a="http://schemas.openxmlformats.org/drawingml/2006/main">
            <a:lvl1pPr>
              <a:buNone/>
              <a:defRPr sz="5400" b="0">
                <a:solidFill>
                  <a:schemeClr val="tx1"/>
                </a:solidFill>
              </a:defRPr>
            </a:lvl1pPr>
          </a:lstStyle>
          <a:p xmlns:a="http://schemas.openxmlformats.org/drawingml/2006/main">
            <a:r>
              <a:t>Click to edit Master title style</a:t>
            </a:r>
          </a:p>
        </p:txBody>
      </p:sp>
      <p:sp>
        <p:nvSpPr>
          <p:cNvPr id="5" name="Text Placeholder 4">
            <a:extLst xmlns:a="http://schemas.openxmlformats.org/drawingml/2006/main">
              <a:ext uri="{FF2B5EF4-FFF2-40B4-BE49-F238E27FC236}">
                <a16:creationId xmlns:a16="http://schemas.microsoft.com/office/drawing/2014/main" id="{B107D0E1-EAED-8E08-24BA-8F930364BA96}"/>
              </a:ext>
            </a:extLst>
          </p:cNvPr>
          <p:cNvSpPr>
            <a:spLocks xmlns:a="http://schemas.openxmlformats.org/drawingml/2006/main" noGrp="1"/>
          </p:cNvSpPr>
          <p:nvPr>
            <p:ph type="body" idx="10"/>
          </p:nvPr>
        </p:nvSpPr>
        <p:spPr>
          <a:xfrm xmlns:a="http://schemas.openxmlformats.org/drawingml/2006/main">
            <a:off x="448056" y="3575304"/>
            <a:ext cx="9921943" cy="862012"/>
          </a:xfrm>
        </p:spPr>
        <p:txBody>
          <a:bodyPr xmlns:a="http://schemas.openxmlformats.org/drawingml/2006/main">
            <a:normAutofit/>
          </a:bodyPr>
          <a:lstStyle xmlns:a="http://schemas.openxmlformats.org/drawingml/2006/main">
            <a:lvl1pPr>
              <a:buNone/>
              <a:defRPr sz="2400">
                <a:solidFill>
                  <a:schemeClr val="accent2"/>
                </a:solidFill>
              </a:defRPr>
            </a:lvl1pPr>
          </a:lstStyle>
          <a:p xmlns:a="http://schemas.openxmlformats.org/drawingml/2006/main">
            <a:pPr>
              <a:buNone/>
            </a:pPr>
            <a:r>
              <a:t>Click to edit Master text styles</a:t>
            </a:r>
          </a:p>
        </p:txBody>
      </p:sp>
      <p:pic>
        <p:nvPicPr>
          <p:cNvPr id="6" name="Picture 5"/>
          <p:cNvPicPr>
            <a:picLocks xmlns:a="http://schemas.openxmlformats.org/drawingml/2006/main" noChangeAspect="1"/>
          </p:cNvPicPr>
          <p:nvPr/>
        </p:nvPicPr>
        <p:blipFill>
          <a:blip xmlns:r="http://schemas.openxmlformats.org/officeDocument/2006/relationships" xmlns:a="http://schemas.openxmlformats.org/drawingml/2006/main" r:embed="Rbbc8f6b904914b6d"/>
          <a:stretch xmlns:a="http://schemas.openxmlformats.org/drawingml/2006/main">
            <a:fillRect l="0" t="0" r="0" b="0"/>
          </a:stretch>
        </p:blipFill>
        <p:spPr>
          <a:xfrm xmlns:a="http://schemas.openxmlformats.org/drawingml/2006/main">
            <a:off x="249483" y="128907"/>
            <a:ext cx="2369315" cy="867807"/>
          </a:xfrm>
          <a:prstGeom xmlns:a="http://schemas.openxmlformats.org/drawingml/2006/main" prst="rect">
            <a:avLst/>
          </a:prstGeom>
        </p:spPr>
      </p:pic>
    </p:spTree>
  </p:cSld>
</p:sldLayout>
</file>

<file path=ppt/slideLayouts/slideLayout7.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B0ABE10-5A8F-5044-434F-7434A03566A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B85243B5-B498-1E60-5D02-983D13E8289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BEEBAAA-29B5-4AF5-BC5F-7E580C29002D}" type="datetimeFigureOut">
              <a:t>8/6/2026</a:t>
            </a:fld>
          </a:p>
        </p:txBody>
      </p:sp>
      <p:sp>
        <p:nvSpPr>
          <p:cNvPr id="4" name="Footer Placeholder 3">
            <a:extLst xmlns:a="http://schemas.openxmlformats.org/drawingml/2006/main">
              <a:ext uri="{FF2B5EF4-FFF2-40B4-BE49-F238E27FC236}">
                <a16:creationId xmlns:a16="http://schemas.microsoft.com/office/drawing/2014/main" id="{7DBD33E4-41B8-74EC-F9A4-3E1DCC0E750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522A375B-2E8B-0F31-9DE4-A5F0682ADFB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860EDB8-5305-433F-BE41-D7A86D811DB3}" type="slidenum">
              <a:t>‹#›</a:t>
            </a:fld>
          </a:p>
        </p:txBody>
      </p:sp>
      <p:sp>
        <p:nvSpPr>
          <p:cNvPr id="7" name="Content Placeholder 6">
            <a:extLst xmlns:a="http://schemas.openxmlformats.org/drawingml/2006/main">
              <a:ext uri="{FF2B5EF4-FFF2-40B4-BE49-F238E27FC236}">
                <a16:creationId xmlns:a16="http://schemas.microsoft.com/office/drawing/2014/main" id="{CB40353B-463E-6D13-F92E-564948AFA386}"/>
              </a:ext>
            </a:extLst>
          </p:cNvPr>
          <p:cNvSpPr>
            <a:spLocks xmlns:a="http://schemas.openxmlformats.org/drawingml/2006/main" noGrp="1"/>
          </p:cNvSpPr>
          <p:nvPr>
            <p:ph idx="13"/>
          </p:nvPr>
        </p:nvSpPr>
        <p:spPr>
          <a:xfrm xmlns:a="http://schemas.openxmlformats.org/drawingml/2006/main">
            <a:off x="444500" y="1463040"/>
            <a:ext cx="11210543" cy="4601748"/>
          </a:xfrm>
        </p:spPr>
        <p:txBody>
          <a:bodyPr xmlns:a="http://schemas.openxmlformats.org/drawingml/2006/main"/>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Tree>
  </p:cSld>
</p:sldLayout>
</file>

<file path=ppt/slideLayouts/slideLayout8.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B0ABE10-5A8F-5044-434F-7434A03566A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B85243B5-B498-1E60-5D02-983D13E8289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BEEBAAA-29B5-4AF5-BC5F-7E580C29002D}" type="datetimeFigureOut">
              <a:t>8/6/2026</a:t>
            </a:fld>
          </a:p>
        </p:txBody>
      </p:sp>
      <p:sp>
        <p:nvSpPr>
          <p:cNvPr id="4" name="Footer Placeholder 3">
            <a:extLst xmlns:a="http://schemas.openxmlformats.org/drawingml/2006/main">
              <a:ext uri="{FF2B5EF4-FFF2-40B4-BE49-F238E27FC236}">
                <a16:creationId xmlns:a16="http://schemas.microsoft.com/office/drawing/2014/main" id="{7DBD33E4-41B8-74EC-F9A4-3E1DCC0E750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522A375B-2E8B-0F31-9DE4-A5F0682ADFB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860EDB8-5305-433F-BE41-D7A86D811DB3}" type="slidenum">
              <a:t>‹#›</a:t>
            </a:fld>
          </a:p>
        </p:txBody>
      </p:sp>
      <p:sp>
        <p:nvSpPr>
          <p:cNvPr id="7" name="Content Placeholder 6">
            <a:extLst xmlns:a="http://schemas.openxmlformats.org/drawingml/2006/main">
              <a:ext uri="{FF2B5EF4-FFF2-40B4-BE49-F238E27FC236}">
                <a16:creationId xmlns:a16="http://schemas.microsoft.com/office/drawing/2014/main" id="{CB40353B-463E-6D13-F92E-564948AFA386}"/>
              </a:ext>
            </a:extLst>
          </p:cNvPr>
          <p:cNvSpPr>
            <a:spLocks xmlns:a="http://schemas.openxmlformats.org/drawingml/2006/main" noGrp="1"/>
          </p:cNvSpPr>
          <p:nvPr>
            <p:ph idx="13"/>
          </p:nvPr>
        </p:nvSpPr>
        <p:spPr>
          <a:xfrm xmlns:a="http://schemas.openxmlformats.org/drawingml/2006/main">
            <a:off x="444500" y="1463040"/>
            <a:ext cx="5330952" cy="4601748"/>
          </a:xfrm>
        </p:spPr>
        <p:txBody>
          <a:bodyPr xmlns:a="http://schemas.openxmlformats.org/drawingml/2006/main"/>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8" name="Content Placeholder 6">
            <a:extLst xmlns:a="http://schemas.openxmlformats.org/drawingml/2006/main">
              <a:ext uri="{FF2B5EF4-FFF2-40B4-BE49-F238E27FC236}">
                <a16:creationId xmlns:a16="http://schemas.microsoft.com/office/drawing/2014/main" id="{904E943F-C687-D3B3-4E36-65D69E3E2F0C}"/>
              </a:ext>
            </a:extLst>
          </p:cNvPr>
          <p:cNvSpPr>
            <a:spLocks xmlns:a="http://schemas.openxmlformats.org/drawingml/2006/main" noGrp="1"/>
          </p:cNvSpPr>
          <p:nvPr>
            <p:ph idx="14"/>
          </p:nvPr>
        </p:nvSpPr>
        <p:spPr>
          <a:xfrm xmlns:a="http://schemas.openxmlformats.org/drawingml/2006/main">
            <a:off x="6298690" y="1463040"/>
            <a:ext cx="5330952" cy="4601748"/>
          </a:xfrm>
        </p:spPr>
        <p:txBody>
          <a:bodyPr xmlns:a="http://schemas.openxmlformats.org/drawingml/2006/main"/>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Tree>
  </p:cSld>
</p:sldLayout>
</file>

<file path=ppt/slideLayouts/slideLayout9.xml><?xml version="1.0" encoding="utf-8"?>
<p:sldLayout xmlns:p="http://schemas.openxmlformats.org/presentationml/2006/main" preserve="1" userDrawn="1">
  <p:cSld name="Title and Content shor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B0ABE10-5A8F-5044-434F-7434A03566A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B85243B5-B498-1E60-5D02-983D13E8289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BEEBAAA-29B5-4AF5-BC5F-7E580C29002D}" type="datetimeFigureOut">
              <a:t>8/6/2026</a:t>
            </a:fld>
          </a:p>
        </p:txBody>
      </p:sp>
      <p:sp>
        <p:nvSpPr>
          <p:cNvPr id="4" name="Footer Placeholder 3">
            <a:extLst xmlns:a="http://schemas.openxmlformats.org/drawingml/2006/main">
              <a:ext uri="{FF2B5EF4-FFF2-40B4-BE49-F238E27FC236}">
                <a16:creationId xmlns:a16="http://schemas.microsoft.com/office/drawing/2014/main" id="{7DBD33E4-41B8-74EC-F9A4-3E1DCC0E750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522A375B-2E8B-0F31-9DE4-A5F0682ADFB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860EDB8-5305-433F-BE41-D7A86D811DB3}" type="slidenum">
              <a:t>‹#›</a:t>
            </a:fld>
          </a:p>
        </p:txBody>
      </p:sp>
      <p:sp>
        <p:nvSpPr>
          <p:cNvPr id="7" name="Content Placeholder 6">
            <a:extLst xmlns:a="http://schemas.openxmlformats.org/drawingml/2006/main">
              <a:ext uri="{FF2B5EF4-FFF2-40B4-BE49-F238E27FC236}">
                <a16:creationId xmlns:a16="http://schemas.microsoft.com/office/drawing/2014/main" id="{CB40353B-463E-6D13-F92E-564948AFA386}"/>
              </a:ext>
            </a:extLst>
          </p:cNvPr>
          <p:cNvSpPr>
            <a:spLocks xmlns:a="http://schemas.openxmlformats.org/drawingml/2006/main" noGrp="1"/>
          </p:cNvSpPr>
          <p:nvPr>
            <p:ph idx="13"/>
          </p:nvPr>
        </p:nvSpPr>
        <p:spPr>
          <a:xfrm xmlns:a="http://schemas.openxmlformats.org/drawingml/2006/main">
            <a:off x="444500" y="1463040"/>
            <a:ext cx="5330952" cy="4601748"/>
          </a:xfrm>
        </p:spPr>
        <p:txBody>
          <a:bodyPr xmlns:a="http://schemas.openxmlformats.org/drawingml/2006/main"/>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Tree>
  </p:cSld>
</p:sldLayout>
</file>

<file path=ppt/slideLayouts/slideLayout10.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B0ABE10-5A8F-5044-434F-7434A03566A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B85243B5-B498-1E60-5D02-983D13E8289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BEEBAAA-29B5-4AF5-BC5F-7E580C29002D}" type="datetimeFigureOut">
              <a:t>8/6/2026</a:t>
            </a:fld>
          </a:p>
        </p:txBody>
      </p:sp>
      <p:sp>
        <p:nvSpPr>
          <p:cNvPr id="4" name="Footer Placeholder 3">
            <a:extLst xmlns:a="http://schemas.openxmlformats.org/drawingml/2006/main">
              <a:ext uri="{FF2B5EF4-FFF2-40B4-BE49-F238E27FC236}">
                <a16:creationId xmlns:a16="http://schemas.microsoft.com/office/drawing/2014/main" id="{7DBD33E4-41B8-74EC-F9A4-3E1DCC0E750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522A375B-2E8B-0F31-9DE4-A5F0682ADFB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860EDB8-5305-433F-BE41-D7A86D811DB3}" type="slidenum">
              <a:t>‹#›</a:t>
            </a:fld>
          </a:p>
        </p:txBody>
      </p:sp>
    </p:spTree>
  </p:cSld>
</p:sldLayout>
</file>

<file path=ppt/slideLayouts/slideLayout11.xml><?xml version="1.0" encoding="utf-8"?>
<p:sldLayout xmlns:p="http://schemas.openxmlformats.org/presentationml/2006/main" matchingName="Title and Content">
  <p:cSld name="1_Title and Content">
    <p:spTree>
      <p:nvGrpSpPr>
        <p:cNvPr id="1" name=""/>
        <p:cNvGrpSpPr/>
        <p:nvPr/>
      </p:nvGrpSpPr>
      <p:grpSpPr>
        <a:xfrm xmlns:a="http://schemas.openxmlformats.org/drawingml/2006/main"/>
      </p:grpSpPr>
      <p:sp>
        <p:nvSpPr>
          <p:cNvPr id="21" name="Google Shape;21;p48">
            <a:extLst xmlns:a="http://schemas.openxmlformats.org/drawingml/2006/main">
              <a:ext uri="{FF2B5EF4-FFF2-40B4-BE49-F238E27FC236}">
                <a16:creationId xmlns:a16="http://schemas.microsoft.com/office/drawing/2014/main" id="{A734675E-9D94-475D-AABF-453C613D0417}"/>
              </a:ext>
            </a:extLst>
          </p:cNvPr>
          <p:cNvSpPr>
            <a:spLocks xmlns:a="http://schemas.openxmlformats.org/drawingml/2006/main" noGrp="1"/>
          </p:cNvSpPr>
          <p:nvPr>
            <p:ph type="title" idx="0"/>
          </p:nvPr>
        </p:nvSpPr>
        <p:spPr>
          <a:xfrm xmlns:a="http://schemas.openxmlformats.org/drawingml/2006/main">
            <a:off x="444500" y="430609"/>
            <a:ext cx="11210544" cy="5577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l">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22" name="Google Shape;22;p48">
            <a:extLst xmlns:a="http://schemas.openxmlformats.org/drawingml/2006/main">
              <a:ext uri="{FF2B5EF4-FFF2-40B4-BE49-F238E27FC236}">
                <a16:creationId xmlns:a16="http://schemas.microsoft.com/office/drawing/2014/main" id="{62FE699A-0125-493C-BE40-8411C0104D08}"/>
              </a:ext>
            </a:extLst>
          </p:cNvPr>
          <p:cNvSpPr>
            <a:spLocks xmlns:a="http://schemas.openxmlformats.org/drawingml/2006/main" noGrp="1"/>
          </p:cNvSpPr>
          <p:nvPr>
            <p:ph type="dt" idx="10"/>
          </p:nvPr>
        </p:nvSpPr>
        <p:spPr>
          <a:xfrm xmlns:a="http://schemas.openxmlformats.org/drawingml/2006/main">
            <a:off x="419099" y="6427391"/>
            <a:ext cx="3276600" cy="1416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23" name="Google Shape;23;p48">
            <a:extLst xmlns:a="http://schemas.openxmlformats.org/drawingml/2006/main">
              <a:ext uri="{FF2B5EF4-FFF2-40B4-BE49-F238E27FC236}">
                <a16:creationId xmlns:a16="http://schemas.microsoft.com/office/drawing/2014/main" id="{1C67232F-667E-4C05-A79A-888CA43607CE}"/>
              </a:ext>
            </a:extLst>
          </p:cNvPr>
          <p:cNvSpPr>
            <a:spLocks xmlns:a="http://schemas.openxmlformats.org/drawingml/2006/main" noGrp="1"/>
          </p:cNvSpPr>
          <p:nvPr>
            <p:ph type="ftr" idx="11"/>
          </p:nvPr>
        </p:nvSpPr>
        <p:spPr>
          <a:xfrm xmlns:a="http://schemas.openxmlformats.org/drawingml/2006/main">
            <a:off x="4648200" y="6427391"/>
            <a:ext cx="2895600" cy="1416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24" name="Google Shape;24;p48">
            <a:extLst xmlns:a="http://schemas.openxmlformats.org/drawingml/2006/main">
              <a:ext uri="{FF2B5EF4-FFF2-40B4-BE49-F238E27FC236}">
                <a16:creationId xmlns:a16="http://schemas.microsoft.com/office/drawing/2014/main" id="{C57D69B4-880C-4799-B187-5938EBA3BD9E}"/>
              </a:ext>
            </a:extLst>
          </p:cNvPr>
          <p:cNvSpPr>
            <a:spLocks xmlns:a="http://schemas.openxmlformats.org/drawingml/2006/main" noGrp="1"/>
          </p:cNvSpPr>
          <p:nvPr>
            <p:ph type="sldNum" idx="12"/>
          </p:nvPr>
        </p:nvSpPr>
        <p:spPr>
          <a:xfrm xmlns:a="http://schemas.openxmlformats.org/drawingml/2006/main">
            <a:off x="8353042" y="6427391"/>
            <a:ext cx="3276600" cy="1416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indent="0" algn="r">
              <a:spcBef>
                <a:spcPts val="0"/>
              </a:spcBef>
              <a:spcAft>
                <a:spcPts val="0"/>
              </a:spcAft>
              <a:buNone/>
            </a:pPr>
            <a:fld id="{00000000-1234-1234-1234-123412341234}" type="slidenum">
              <a:t>‹#›</a:t>
            </a:fld>
          </a:p>
        </p:txBody>
      </p:sp>
      <p:sp>
        <p:nvSpPr>
          <p:cNvPr id="25" name="Google Shape;25;p48">
            <a:extLst xmlns:a="http://schemas.openxmlformats.org/drawingml/2006/main">
              <a:ext uri="{FF2B5EF4-FFF2-40B4-BE49-F238E27FC236}">
                <a16:creationId xmlns:a16="http://schemas.microsoft.com/office/drawing/2014/main" id="{9F609708-283E-491F-99C8-C421EF60B427}"/>
              </a:ext>
            </a:extLst>
          </p:cNvPr>
          <p:cNvSpPr>
            <a:spLocks xmlns:a="http://schemas.openxmlformats.org/drawingml/2006/main" noGrp="1"/>
          </p:cNvSpPr>
          <p:nvPr>
            <p:ph type="body" idx="1"/>
          </p:nvPr>
        </p:nvSpPr>
        <p:spPr>
          <a:xfrm xmlns:a="http://schemas.openxmlformats.org/drawingml/2006/main">
            <a:off x="444500" y="1463040"/>
            <a:ext cx="11210543" cy="46017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None/>
              <a:defRPr/>
            </a:lvl1pPr>
            <a:lvl2pPr marL="914400" indent="-342900" algn="l">
              <a:lnSpc>
                <a:spcPct val="100000"/>
              </a:lnSpc>
              <a:spcBef>
                <a:spcPts val="1200"/>
              </a:spcBef>
              <a:spcAft>
                <a:spcPts val="0"/>
              </a:spcAft>
              <a:buChar char="•"/>
              <a:defRPr/>
            </a:lvl2pPr>
            <a:lvl3pPr marL="1371600" indent="-342900" algn="l">
              <a:lnSpc>
                <a:spcPct val="100000"/>
              </a:lnSpc>
              <a:spcBef>
                <a:spcPts val="1200"/>
              </a:spcBef>
              <a:spcAft>
                <a:spcPts val="0"/>
              </a:spcAft>
              <a:buChar char="•"/>
              <a:defRPr/>
            </a:lvl3pPr>
            <a:lvl4pPr marL="1828800" indent="-342900" algn="l">
              <a:lnSpc>
                <a:spcPct val="100000"/>
              </a:lnSpc>
              <a:spcBef>
                <a:spcPts val="1200"/>
              </a:spcBef>
              <a:spcAft>
                <a:spcPts val="0"/>
              </a:spcAft>
              <a:buChar char="•"/>
              <a:defRPr/>
            </a:lvl4pPr>
            <a:lvl5pPr marL="2286000" indent="-342900" algn="l">
              <a:lnSpc>
                <a:spcPct val="100000"/>
              </a:lnSpc>
              <a:spcBef>
                <a:spcPts val="1200"/>
              </a:spcBef>
              <a:spcAft>
                <a:spcPts val="0"/>
              </a:spcAft>
              <a:buChar char="•"/>
              <a:defRPr/>
            </a:lvl5pPr>
            <a:lvl6pPr marL="2743200" indent="-342900" algn="l">
              <a:lnSpc>
                <a:spcPct val="150000"/>
              </a:lnSpc>
              <a:spcBef>
                <a:spcPts val="1200"/>
              </a:spcBef>
              <a:spcAft>
                <a:spcPts val="0"/>
              </a:spcAft>
              <a:buChar char="•"/>
              <a:defRPr/>
            </a:lvl6pPr>
            <a:lvl7pPr marL="3200400" indent="-342900" algn="l">
              <a:lnSpc>
                <a:spcPct val="150000"/>
              </a:lnSpc>
              <a:spcBef>
                <a:spcPts val="1200"/>
              </a:spcBef>
              <a:spcAft>
                <a:spcPts val="0"/>
              </a:spcAft>
              <a:buChar char="•"/>
              <a:defRPr/>
            </a:lvl7pPr>
            <a:lvl8pPr marL="3657600" indent="-342900" algn="l">
              <a:lnSpc>
                <a:spcPct val="150000"/>
              </a:lnSpc>
              <a:spcBef>
                <a:spcPts val="1200"/>
              </a:spcBef>
              <a:spcAft>
                <a:spcPts val="0"/>
              </a:spcAft>
              <a:buChar char="•"/>
              <a:defRPr/>
            </a:lvl8pPr>
            <a:lvl9pPr marL="4114800" indent="-228600" algn="l">
              <a:lnSpc>
                <a:spcPct val="90000"/>
              </a:lnSpc>
              <a:spcBef>
                <a:spcPts val="1200"/>
              </a:spcBef>
              <a:spcAft>
                <a:spcPts val="0"/>
              </a:spcAft>
              <a:buNone/>
              <a:defRPr/>
            </a:lvl9pPr>
          </a:lstStyle>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24c99ab6b4f40c2" /><Relationship Type="http://schemas.openxmlformats.org/officeDocument/2006/relationships/slideLayout" Target="/ppt/slideLayouts/slideLayout1.xml" Id="Ra3ab6ee5b496405e" /><Relationship Type="http://schemas.openxmlformats.org/officeDocument/2006/relationships/slideLayout" Target="/ppt/slideLayouts/slideLayout2.xml" Id="R49b4e83972234c50" /><Relationship Type="http://schemas.openxmlformats.org/officeDocument/2006/relationships/slideLayout" Target="/ppt/slideLayouts/slideLayout3.xml" Id="R91bd7ee6297047a5" /><Relationship Type="http://schemas.openxmlformats.org/officeDocument/2006/relationships/slideLayout" Target="/ppt/slideLayouts/slideLayout4.xml" Id="R378899f606ff4b94" /><Relationship Type="http://schemas.openxmlformats.org/officeDocument/2006/relationships/slideLayout" Target="/ppt/slideLayouts/slideLayout5.xml" Id="R368a10f1fa964ffb"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1acfd750efae415a" /><Relationship Type="http://schemas.openxmlformats.org/officeDocument/2006/relationships/slideLayout" Target="/ppt/slideLayouts/slideLayout6.xml" Id="Rce0daac0a93749d5" /><Relationship Type="http://schemas.openxmlformats.org/officeDocument/2006/relationships/slideLayout" Target="/ppt/slideLayouts/slideLayout7.xml" Id="R14ab1c028952446f" /><Relationship Type="http://schemas.openxmlformats.org/officeDocument/2006/relationships/slideLayout" Target="/ppt/slideLayouts/slideLayout8.xml" Id="Rb1de7c329d6647ed" /><Relationship Type="http://schemas.openxmlformats.org/officeDocument/2006/relationships/slideLayout" Target="/ppt/slideLayouts/slideLayout9.xml" Id="Rf1f6115445b94943" /><Relationship Type="http://schemas.openxmlformats.org/officeDocument/2006/relationships/slideLayout" Target="/ppt/slideLayouts/slideLayout10.xml" Id="R30480a59f8bc40ac" /><Relationship Type="http://schemas.openxmlformats.org/officeDocument/2006/relationships/slideLayout" Target="/ppt/slideLayouts/slideLayout11.xml" Id="Rcc4ec167a0e74551" /></Relationships>
</file>

<file path=ppt/slideMasters/slideMaster1.xml><?xml version="1.0" encoding="utf-8"?>
<p:sldMaster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1601B574-5FD1-492B-A7A0-53A4E7D990FE}"/>
              </a:ext>
            </a:extLst>
          </p:cNvPr>
          <p:cNvSpPr>
            <a:spLocks xmlns:a="http://schemas.openxmlformats.org/drawingml/2006/main" noGrp="1"/>
          </p:cNvSpPr>
          <p:nvPr>
            <p:ph type="title" idx="0"/>
          </p:nvPr>
        </p:nvSpPr>
        <p:spPr>
          <a:xfrm xmlns:a="http://schemas.openxmlformats.org/drawingml/2006/main">
            <a:off x="444500" y="430609"/>
            <a:ext cx="11210544" cy="557784"/>
          </a:xfrm>
          <a:prstGeom xmlns:a="http://schemas.openxmlformats.org/drawingml/2006/main" prst="rect">
            <a:avLst/>
          </a:prstGeom>
        </p:spPr>
        <p:txBody>
          <a:bodyPr xmlns:a="http://schemas.openxmlformats.org/drawingml/2006/main" vert="horz" lIns="91440" tIns="45720" rIns="91440" bIns="4572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C404DF44-FBDA-4D53-AAE6-C1F363B5E05B}"/>
              </a:ext>
            </a:extLst>
          </p:cNvPr>
          <p:cNvSpPr>
            <a:spLocks xmlns:a="http://schemas.openxmlformats.org/drawingml/2006/main" noGrp="1"/>
          </p:cNvSpPr>
          <p:nvPr>
            <p:ph type="body" idx="1"/>
          </p:nvPr>
        </p:nvSpPr>
        <p:spPr>
          <a:xfrm xmlns:a="http://schemas.openxmlformats.org/drawingml/2006/main">
            <a:off x="448056" y="1447800"/>
            <a:ext cx="11210543" cy="3977640"/>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8A443E06-2F2A-48D3-8B91-88B9266D15F8}"/>
              </a:ext>
            </a:extLst>
          </p:cNvPr>
          <p:cNvSpPr>
            <a:spLocks xmlns:a="http://schemas.openxmlformats.org/drawingml/2006/main" noGrp="1"/>
          </p:cNvSpPr>
          <p:nvPr>
            <p:ph type="dt" idx="2"/>
          </p:nvPr>
        </p:nvSpPr>
        <p:spPr>
          <a:xfrm xmlns:a="http://schemas.openxmlformats.org/drawingml/2006/main">
            <a:off x="419099" y="6427391"/>
            <a:ext cx="3276600" cy="141686"/>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800">
                <a:solidFill>
                  <a:schemeClr val="tx1">
                    <a:lumMod val="65000"/>
                    <a:lumOff val="35000"/>
                  </a:schemeClr>
                </a:solidFill>
              </a:defRPr>
            </a:lvl1pPr>
          </a:lstStyle>
          <a:p xmlns:a="http://schemas.openxmlformats.org/drawingml/2006/main">
            <a:fld id="{8BEEBAAA-29B5-4AF5-BC5F-7E580C29002D}" type="datetimeFigureOut">
              <a:t>8/6/2026</a:t>
            </a:fld>
          </a:p>
        </p:txBody>
      </p:sp>
      <p:sp>
        <p:nvSpPr>
          <p:cNvPr id="5" name="Footer Placeholder 4">
            <a:extLst xmlns:a="http://schemas.openxmlformats.org/drawingml/2006/main">
              <a:ext uri="{FF2B5EF4-FFF2-40B4-BE49-F238E27FC236}">
                <a16:creationId xmlns:a16="http://schemas.microsoft.com/office/drawing/2014/main" id="{4E4CDDCF-36A1-4352-9B5A-8AEE20497772}"/>
              </a:ext>
            </a:extLst>
          </p:cNvPr>
          <p:cNvSpPr>
            <a:spLocks xmlns:a="http://schemas.openxmlformats.org/drawingml/2006/main" noGrp="1"/>
          </p:cNvSpPr>
          <p:nvPr>
            <p:ph type="ftr" idx="3"/>
          </p:nvPr>
        </p:nvSpPr>
        <p:spPr>
          <a:xfrm xmlns:a="http://schemas.openxmlformats.org/drawingml/2006/main">
            <a:off x="4648200" y="6427391"/>
            <a:ext cx="2895600" cy="141686"/>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800">
                <a:solidFill>
                  <a:schemeClr val="tx1">
                    <a:lumMod val="65000"/>
                    <a:lumOff val="35000"/>
                  </a:schemeClr>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90D06765-67DB-45A6-8C76-90736D53101A}"/>
              </a:ext>
            </a:extLst>
          </p:cNvPr>
          <p:cNvSpPr>
            <a:spLocks xmlns:a="http://schemas.openxmlformats.org/drawingml/2006/main" noGrp="1"/>
          </p:cNvSpPr>
          <p:nvPr>
            <p:ph type="sldNum" idx="4"/>
          </p:nvPr>
        </p:nvSpPr>
        <p:spPr>
          <a:xfrm xmlns:a="http://schemas.openxmlformats.org/drawingml/2006/main">
            <a:off x="8353042" y="6427391"/>
            <a:ext cx="3276600" cy="141686"/>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800">
                <a:solidFill>
                  <a:schemeClr val="tx1">
                    <a:lumMod val="65000"/>
                    <a:lumOff val="35000"/>
                  </a:schemeClr>
                </a:solidFill>
              </a:defRPr>
            </a:lvl1pPr>
          </a:lstStyle>
          <a:p xmlns:a="http://schemas.openxmlformats.org/drawingml/2006/main">
            <a:fld id="{9860EDB8-5305-433F-BE41-D7A86D811DB3}" type="slidenum">
              <a:t>‹#›</a:t>
            </a:fld>
          </a:p>
        </p:txBody>
      </p:sp>
      <p:sp>
        <p:nvSpPr>
          <p:cNvPr id="7" name="Straight Connector 6">
            <a:extLst xmlns:a="http://schemas.openxmlformats.org/drawingml/2006/main">
              <a:ext uri="{FF2B5EF4-FFF2-40B4-BE49-F238E27FC236}">
                <a16:creationId xmlns:a16="http://schemas.microsoft.com/office/drawing/2014/main" id="{2A7C5B2E-B751-4E60-89E6-42FB54A6BB43}"/>
              </a:ext>
            </a:extLst>
          </p:cNvPr>
          <p:cNvSpPr>
            <a:spLocks xmlns:a="http://schemas.openxmlformats.org/drawingml/2006/main" noGrp="1"/>
          </p:cNvSpPr>
          <p:nvPr/>
        </p:nvSpPr>
        <p:spPr>
          <a:xfrm xmlns:a="http://schemas.openxmlformats.org/drawingml/2006/main">
            <a:off x="533400" y="1104900"/>
            <a:ext cx="11119104" cy="0"/>
          </a:xfrm>
          <a:prstGeom xmlns:a="http://schemas.openxmlformats.org/drawingml/2006/main" prst="line">
            <a:avLst/>
          </a:prstGeom>
          <a:ln xmlns:a="http://schemas.openxmlformats.org/drawingml/2006/main" w="25400">
            <a:solidFill>
              <a:srgbClr val="D2472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ab6ee5b496405e"/>
    <p:sldLayoutId xmlns:r="http://schemas.openxmlformats.org/officeDocument/2006/relationships" id="2147483650" r:id="R49b4e83972234c50"/>
    <p:sldLayoutId xmlns:r="http://schemas.openxmlformats.org/officeDocument/2006/relationships" id="2147483651" r:id="R91bd7ee6297047a5"/>
    <p:sldLayoutId xmlns:r="http://schemas.openxmlformats.org/officeDocument/2006/relationships" id="2147483652" r:id="R378899f606ff4b94"/>
    <p:sldLayoutId xmlns:r="http://schemas.openxmlformats.org/officeDocument/2006/relationships" id="2147483653" r:id="R368a10f1fa964ffb"/>
  </p:sldLayoutIdLst>
  <p:txStyles>
    <p:titleStyle>
      <a:lvl1pPr xmlns:a="http://schemas.openxmlformats.org/drawingml/2006/main" algn="l">
        <a:buNone/>
        <a:defRPr sz="2800">
          <a:solidFill>
            <a:schemeClr val="bg2">
              <a:lumMod val="25000"/>
            </a:schemeClr>
          </a:solidFill>
          <a:latin typeface="+mn-lt"/>
          <a:ea typeface="+mn-lt"/>
          <a:cs typeface="+mn-lt"/>
        </a:defRPr>
      </a:lvl1pPr>
    </p:titleStyle>
    <p:bodyStyle>
      <a:lvl1pPr xmlns:a="http://schemas.openxmlformats.org/drawingml/2006/main" marL="0" indent="0" algn="l">
        <a:lnSpc>
          <a:spcPct val="100000"/>
        </a:lnSpc>
        <a:spcBef>
          <a:spcPts val="1000"/>
        </a:spcBef>
        <a:spcAft>
          <a:spcPts val="1200"/>
        </a:spcAft>
        <a:buNone/>
        <a:defRPr sz="1600">
          <a:solidFill>
            <a:schemeClr val="bg2">
              <a:lumMod val="25000"/>
            </a:schemeClr>
          </a:solidFill>
          <a:latin typeface="+mn-lt"/>
          <a:ea typeface="+mn-lt"/>
          <a:cs typeface="+mn-lt"/>
        </a:defRPr>
      </a:lvl1pPr>
      <a:lvl2pPr xmlns:a="http://schemas.openxmlformats.org/drawingml/2006/main" marL="283464" indent="-283464" algn="l">
        <a:lnSpc>
          <a:spcPct val="100000"/>
        </a:lnSpc>
        <a:spcBef>
          <a:spcPts val="1000"/>
        </a:spcBef>
        <a:spcAft>
          <a:spcPts val="1200"/>
        </a:spcAft>
        <a:buChar char="•"/>
        <a:defRPr sz="1600">
          <a:solidFill>
            <a:schemeClr val="bg2">
              <a:lumMod val="25000"/>
            </a:schemeClr>
          </a:solidFill>
          <a:latin typeface="+mn-lt"/>
          <a:ea typeface="+mn-lt"/>
          <a:cs typeface="+mn-lt"/>
        </a:defRPr>
      </a:lvl2pPr>
      <a:lvl3pPr xmlns:a="http://schemas.openxmlformats.org/drawingml/2006/main" marL="685800" indent="-228600" algn="l">
        <a:lnSpc>
          <a:spcPct val="100000"/>
        </a:lnSpc>
        <a:spcBef>
          <a:spcPts val="1000"/>
        </a:spcBef>
        <a:spcAft>
          <a:spcPts val="1200"/>
        </a:spcAft>
        <a:buChar char="•"/>
        <a:defRPr sz="1600">
          <a:solidFill>
            <a:schemeClr val="bg2">
              <a:lumMod val="25000"/>
            </a:schemeClr>
          </a:solidFill>
          <a:latin typeface="+mn-lt"/>
          <a:ea typeface="+mn-lt"/>
          <a:cs typeface="+mn-lt"/>
        </a:defRPr>
      </a:lvl3pPr>
      <a:lvl4pPr xmlns:a="http://schemas.openxmlformats.org/drawingml/2006/main" marL="1143000" indent="-228600" algn="l">
        <a:lnSpc>
          <a:spcPct val="100000"/>
        </a:lnSpc>
        <a:spcBef>
          <a:spcPts val="1000"/>
        </a:spcBef>
        <a:spcAft>
          <a:spcPts val="1200"/>
        </a:spcAft>
        <a:buChar char="•"/>
        <a:defRPr sz="1600">
          <a:solidFill>
            <a:schemeClr val="bg2">
              <a:lumMod val="25000"/>
            </a:schemeClr>
          </a:solidFill>
          <a:latin typeface="+mn-lt"/>
          <a:ea typeface="+mn-lt"/>
          <a:cs typeface="+mn-lt"/>
        </a:defRPr>
      </a:lvl4pPr>
      <a:lvl5pPr xmlns:a="http://schemas.openxmlformats.org/drawingml/2006/main" marL="1600200" indent="-228600" algn="l">
        <a:lnSpc>
          <a:spcPct val="100000"/>
        </a:lnSpc>
        <a:spcBef>
          <a:spcPts val="1000"/>
        </a:spcBef>
        <a:spcAft>
          <a:spcPts val="1200"/>
        </a:spcAft>
        <a:buChar char="•"/>
        <a:defRPr sz="1600">
          <a:solidFill>
            <a:schemeClr val="bg2">
              <a:lumMod val="25000"/>
            </a:schemeClr>
          </a:solidFill>
          <a:latin typeface="+mn-lt"/>
          <a:ea typeface="+mn-lt"/>
          <a:cs typeface="+mn-lt"/>
        </a:defRPr>
      </a:lvl5pPr>
      <a:lvl6pPr xmlns:a="http://schemas.openxmlformats.org/drawingml/2006/main" marL="2057400" indent="-228600" algn="l">
        <a:lnSpc>
          <a:spcPct val="150000"/>
        </a:lnSpc>
        <a:spcBef>
          <a:spcPts val="1000"/>
        </a:spcBef>
        <a:spcAft>
          <a:spcPts val="1200"/>
        </a:spcAft>
        <a:buChar char="•"/>
        <a:defRPr sz="1200">
          <a:solidFill>
            <a:schemeClr val="tx1"/>
          </a:solidFill>
          <a:latin typeface="+mn-lt"/>
          <a:ea typeface="+mn-lt"/>
          <a:cs typeface="+mn-lt"/>
        </a:defRPr>
      </a:lvl6pPr>
      <a:lvl7pPr xmlns:a="http://schemas.openxmlformats.org/drawingml/2006/main" marL="2514600" indent="-228600" algn="l">
        <a:lnSpc>
          <a:spcPct val="150000"/>
        </a:lnSpc>
        <a:spcBef>
          <a:spcPts val="1000"/>
        </a:spcBef>
        <a:spcAft>
          <a:spcPts val="1200"/>
        </a:spcAft>
        <a:buChar char="•"/>
        <a:defRPr sz="1200">
          <a:solidFill>
            <a:schemeClr val="tx1"/>
          </a:solidFill>
          <a:latin typeface="+mn-lt"/>
          <a:ea typeface="+mn-lt"/>
          <a:cs typeface="+mn-lt"/>
        </a:defRPr>
      </a:lvl7pPr>
      <a:lvl8pPr xmlns:a="http://schemas.openxmlformats.org/drawingml/2006/main" marL="2971800" indent="-228600" algn="l">
        <a:lnSpc>
          <a:spcPct val="150000"/>
        </a:lnSpc>
        <a:spcBef>
          <a:spcPts val="1000"/>
        </a:spcBef>
        <a:spcAft>
          <a:spcPts val="1200"/>
        </a:spcAft>
        <a:buChar char="•"/>
        <a:defRPr sz="1200">
          <a:solidFill>
            <a:schemeClr val="tx1"/>
          </a:solidFill>
          <a:latin typeface="+mn-lt"/>
          <a:ea typeface="+mn-lt"/>
          <a:cs typeface="+mn-lt"/>
        </a:defRPr>
      </a:lvl8pPr>
      <a:lvl9pPr xmlns:a="http://schemas.openxmlformats.org/drawingml/2006/main" marL="3429000" indent="-228600" algn="l">
        <a:lnSpc>
          <a:spcPct val="90000"/>
        </a:lnSpc>
        <a:buNone/>
        <a:defRPr sz="12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extLst>
    <p:ext uri="{27BBF7A9-308A-43DC-89C8-2F10F3537804}">
      <p15:sldGuideLst xmlns:p15="http://schemas.microsoft.com/office/powerpoint/2012/main">
        <p15:guide id="1" pos="3984" userDrawn="1">
          <p15:clr>
            <a:srgbClr xmlns:a="http://schemas.openxmlformats.org/drawingml/2006/main" val="F26B43"/>
          </p15:clr>
        </p15:guide>
        <p15:guide id="2" pos="336" userDrawn="1">
          <p15:clr>
            <a:srgbClr xmlns:a="http://schemas.openxmlformats.org/drawingml/2006/main" val="F26B43"/>
          </p15:clr>
        </p15:guide>
        <p15:guide id="3" pos="7320" userDrawn="1">
          <p15:clr>
            <a:srgbClr xmlns:a="http://schemas.openxmlformats.org/drawingml/2006/main" val="F26B43"/>
          </p15:clr>
        </p15:guide>
        <p15:guide id="4" orient="horz" pos="912" userDrawn="1">
          <p15:clr>
            <a:srgbClr xmlns:a="http://schemas.openxmlformats.org/drawingml/2006/main" val="F26B43"/>
          </p15:clr>
        </p15:guide>
        <p15:guide id="5" orient="horz" pos="264" userDrawn="1">
          <p15:clr>
            <a:srgbClr xmlns:a="http://schemas.openxmlformats.org/drawingml/2006/main" val="F26B43"/>
          </p15:clr>
        </p15:guide>
        <p15:guide id="6" orient="horz" pos="696" userDrawn="1">
          <p15:clr>
            <a:srgbClr xmlns:a="http://schemas.openxmlformats.org/drawingml/2006/main" val="F26B43"/>
          </p15:clr>
        </p15:guide>
        <p15:guide id="7" pos="3696" userDrawn="1">
          <p15:clr>
            <a:srgbClr xmlns:a="http://schemas.openxmlformats.org/drawingml/2006/main" val="F26B43"/>
          </p15:clr>
        </p15:guide>
      </p15:sldGuideLst>
    </p:ext>
  </p:extLst>
</p:sldMaster>
</file>

<file path=ppt/slideMasters/slideMaster2.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23ECE30-81B8-415B-9BE1-A93272B46857}"/>
              </a:ext>
            </a:extLst>
          </p:cNvPr>
          <p:cNvSpPr>
            <a:spLocks xmlns:a="http://schemas.openxmlformats.org/drawingml/2006/main" noGrp="1"/>
          </p:cNvSpPr>
          <p:nvPr>
            <p:ph type="title" idx="0"/>
          </p:nvPr>
        </p:nvSpPr>
        <p:spPr>
          <a:xfrm xmlns:a="http://schemas.openxmlformats.org/drawingml/2006/main">
            <a:off x="444500" y="430609"/>
            <a:ext cx="11210544" cy="557784"/>
          </a:xfrm>
          <a:prstGeom xmlns:a="http://schemas.openxmlformats.org/drawingml/2006/main" prst="rect">
            <a:avLst/>
          </a:prstGeom>
        </p:spPr>
        <p:txBody>
          <a:bodyPr xmlns:a="http://schemas.openxmlformats.org/drawingml/2006/main" vert="horz" lIns="91440" tIns="45720" rIns="91440" bIns="4572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2F5BD5F-AA84-499A-A082-61A568512882}"/>
              </a:ext>
            </a:extLst>
          </p:cNvPr>
          <p:cNvSpPr>
            <a:spLocks xmlns:a="http://schemas.openxmlformats.org/drawingml/2006/main" noGrp="1"/>
          </p:cNvSpPr>
          <p:nvPr>
            <p:ph type="body" idx="1"/>
          </p:nvPr>
        </p:nvSpPr>
        <p:spPr>
          <a:xfrm xmlns:a="http://schemas.openxmlformats.org/drawingml/2006/main">
            <a:off x="448056" y="1447800"/>
            <a:ext cx="11210543" cy="3977640"/>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7B20CB9C-B1C1-4532-81BC-A0AD25B3EFC4}"/>
              </a:ext>
            </a:extLst>
          </p:cNvPr>
          <p:cNvSpPr>
            <a:spLocks xmlns:a="http://schemas.openxmlformats.org/drawingml/2006/main" noGrp="1"/>
          </p:cNvSpPr>
          <p:nvPr>
            <p:ph type="dt" idx="2"/>
          </p:nvPr>
        </p:nvSpPr>
        <p:spPr>
          <a:xfrm xmlns:a="http://schemas.openxmlformats.org/drawingml/2006/main">
            <a:off x="419099" y="6427391"/>
            <a:ext cx="3276600" cy="141686"/>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800">
                <a:solidFill>
                  <a:schemeClr val="tx1">
                    <a:lumMod val="65000"/>
                    <a:lumOff val="35000"/>
                  </a:schemeClr>
                </a:solidFill>
              </a:defRPr>
            </a:lvl1pPr>
          </a:lstStyle>
          <a:p xmlns:a="http://schemas.openxmlformats.org/drawingml/2006/main">
            <a:fld id="{8BEEBAAA-29B5-4AF5-BC5F-7E580C29002D}" type="datetimeFigureOut">
              <a:t>8/6/2026</a:t>
            </a:fld>
          </a:p>
        </p:txBody>
      </p:sp>
      <p:sp>
        <p:nvSpPr>
          <p:cNvPr id="5" name="Footer Placeholder 4">
            <a:extLst xmlns:a="http://schemas.openxmlformats.org/drawingml/2006/main">
              <a:ext uri="{FF2B5EF4-FFF2-40B4-BE49-F238E27FC236}">
                <a16:creationId xmlns:a16="http://schemas.microsoft.com/office/drawing/2014/main" id="{664FC0E4-48F9-4040-8DD9-79FB01FA9804}"/>
              </a:ext>
            </a:extLst>
          </p:cNvPr>
          <p:cNvSpPr>
            <a:spLocks xmlns:a="http://schemas.openxmlformats.org/drawingml/2006/main" noGrp="1"/>
          </p:cNvSpPr>
          <p:nvPr>
            <p:ph type="ftr" idx="3"/>
          </p:nvPr>
        </p:nvSpPr>
        <p:spPr>
          <a:xfrm xmlns:a="http://schemas.openxmlformats.org/drawingml/2006/main">
            <a:off x="4648200" y="6427391"/>
            <a:ext cx="2895600" cy="141686"/>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800">
                <a:solidFill>
                  <a:schemeClr val="tx1">
                    <a:lumMod val="65000"/>
                    <a:lumOff val="35000"/>
                  </a:schemeClr>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0C0EC140-D13A-482E-BF23-2E4571010079}"/>
              </a:ext>
            </a:extLst>
          </p:cNvPr>
          <p:cNvSpPr>
            <a:spLocks xmlns:a="http://schemas.openxmlformats.org/drawingml/2006/main" noGrp="1"/>
          </p:cNvSpPr>
          <p:nvPr>
            <p:ph type="sldNum" idx="4"/>
          </p:nvPr>
        </p:nvSpPr>
        <p:spPr>
          <a:xfrm xmlns:a="http://schemas.openxmlformats.org/drawingml/2006/main">
            <a:off x="8353042" y="6427391"/>
            <a:ext cx="3276600" cy="141686"/>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800">
                <a:solidFill>
                  <a:schemeClr val="tx1">
                    <a:lumMod val="65000"/>
                    <a:lumOff val="35000"/>
                  </a:schemeClr>
                </a:solidFill>
              </a:defRPr>
            </a:lvl1pPr>
          </a:lstStyle>
          <a:p xmlns:a="http://schemas.openxmlformats.org/drawingml/2006/main">
            <a:fld id="{9860EDB8-5305-433F-BE41-D7A86D811DB3}" type="slidenum">
              <a:t>‹#›</a:t>
            </a:fld>
          </a:p>
        </p:txBody>
      </p:sp>
      <p:sp>
        <p:nvSpPr>
          <p:cNvPr id="7" name="Straight Connector 6">
            <a:extLst xmlns:a="http://schemas.openxmlformats.org/drawingml/2006/main">
              <a:ext uri="{FF2B5EF4-FFF2-40B4-BE49-F238E27FC236}">
                <a16:creationId xmlns:a16="http://schemas.microsoft.com/office/drawing/2014/main" id="{915DEBD5-7433-411E-8CDE-9F997166042E}"/>
              </a:ext>
            </a:extLst>
          </p:cNvPr>
          <p:cNvSpPr>
            <a:spLocks xmlns:a="http://schemas.openxmlformats.org/drawingml/2006/main" noGrp="1"/>
          </p:cNvSpPr>
          <p:nvPr/>
        </p:nvSpPr>
        <p:spPr>
          <a:xfrm xmlns:a="http://schemas.openxmlformats.org/drawingml/2006/main">
            <a:off x="533400" y="1104900"/>
            <a:ext cx="11119104" cy="0"/>
          </a:xfrm>
          <a:prstGeom xmlns:a="http://schemas.openxmlformats.org/drawingml/2006/main" prst="line">
            <a:avLst/>
          </a:prstGeom>
          <a:ln xmlns:a="http://schemas.openxmlformats.org/drawingml/2006/main" w="25400">
            <a:solidFill>
              <a:srgbClr val="D2472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clrMap bg1="lt1" tx1="dk1" bg2="lt2" tx2="dk2" accent1="accent1" accent2="accent2" accent3="accent3" accent4="accent4" accent5="accent5" accent6="accent6" hlink="hlink" folHlink="folHlink"/>
  <p:sldLayoutIdLst>
    <p:sldLayoutId xmlns:r="http://schemas.openxmlformats.org/officeDocument/2006/relationships" id="2147483655" r:id="Rce0daac0a93749d5"/>
    <p:sldLayoutId xmlns:r="http://schemas.openxmlformats.org/officeDocument/2006/relationships" id="2147483656" r:id="R14ab1c028952446f"/>
    <p:sldLayoutId xmlns:r="http://schemas.openxmlformats.org/officeDocument/2006/relationships" id="2147483657" r:id="Rb1de7c329d6647ed"/>
    <p:sldLayoutId xmlns:r="http://schemas.openxmlformats.org/officeDocument/2006/relationships" id="2147483658" r:id="Rf1f6115445b94943"/>
    <p:sldLayoutId xmlns:r="http://schemas.openxmlformats.org/officeDocument/2006/relationships" id="2147483659" r:id="R30480a59f8bc40ac"/>
    <p:sldLayoutId xmlns:r="http://schemas.openxmlformats.org/officeDocument/2006/relationships" id="2147483660" r:id="Rcc4ec167a0e74551"/>
  </p:sldLayoutIdLst>
  <p:txStyles>
    <p:titleStyle>
      <a:lvl1pPr xmlns:a="http://schemas.openxmlformats.org/drawingml/2006/main" algn="l">
        <a:buNone/>
        <a:defRPr sz="2800">
          <a:solidFill>
            <a:schemeClr val="bg2">
              <a:lumMod val="25000"/>
            </a:schemeClr>
          </a:solidFill>
          <a:latin typeface="+mn-lt"/>
          <a:ea typeface="+mn-lt"/>
          <a:cs typeface="+mn-lt"/>
        </a:defRPr>
      </a:lvl1pPr>
    </p:titleStyle>
    <p:bodyStyle>
      <a:lvl1pPr xmlns:a="http://schemas.openxmlformats.org/drawingml/2006/main" marL="0" indent="0" algn="l">
        <a:lnSpc>
          <a:spcPct val="100000"/>
        </a:lnSpc>
        <a:spcBef>
          <a:spcPts val="1000"/>
        </a:spcBef>
        <a:spcAft>
          <a:spcPts val="1200"/>
        </a:spcAft>
        <a:buNone/>
        <a:defRPr sz="1600">
          <a:solidFill>
            <a:schemeClr val="bg2">
              <a:lumMod val="25000"/>
            </a:schemeClr>
          </a:solidFill>
          <a:latin typeface="+mn-lt"/>
          <a:ea typeface="+mn-lt"/>
          <a:cs typeface="+mn-lt"/>
        </a:defRPr>
      </a:lvl1pPr>
      <a:lvl2pPr xmlns:a="http://schemas.openxmlformats.org/drawingml/2006/main" marL="283464" indent="-283464" algn="l">
        <a:lnSpc>
          <a:spcPct val="100000"/>
        </a:lnSpc>
        <a:spcBef>
          <a:spcPts val="1000"/>
        </a:spcBef>
        <a:spcAft>
          <a:spcPts val="1200"/>
        </a:spcAft>
        <a:buChar char="•"/>
        <a:defRPr sz="1600">
          <a:solidFill>
            <a:schemeClr val="bg2">
              <a:lumMod val="25000"/>
            </a:schemeClr>
          </a:solidFill>
          <a:latin typeface="+mn-lt"/>
          <a:ea typeface="+mn-lt"/>
          <a:cs typeface="+mn-lt"/>
        </a:defRPr>
      </a:lvl2pPr>
      <a:lvl3pPr xmlns:a="http://schemas.openxmlformats.org/drawingml/2006/main" marL="685800" indent="-228600" algn="l">
        <a:lnSpc>
          <a:spcPct val="100000"/>
        </a:lnSpc>
        <a:spcBef>
          <a:spcPts val="1000"/>
        </a:spcBef>
        <a:spcAft>
          <a:spcPts val="1200"/>
        </a:spcAft>
        <a:buChar char="•"/>
        <a:defRPr sz="1600">
          <a:solidFill>
            <a:schemeClr val="bg2">
              <a:lumMod val="25000"/>
            </a:schemeClr>
          </a:solidFill>
          <a:latin typeface="+mn-lt"/>
          <a:ea typeface="+mn-lt"/>
          <a:cs typeface="+mn-lt"/>
        </a:defRPr>
      </a:lvl3pPr>
      <a:lvl4pPr xmlns:a="http://schemas.openxmlformats.org/drawingml/2006/main" marL="1143000" indent="-228600" algn="l">
        <a:lnSpc>
          <a:spcPct val="100000"/>
        </a:lnSpc>
        <a:spcBef>
          <a:spcPts val="1000"/>
        </a:spcBef>
        <a:spcAft>
          <a:spcPts val="1200"/>
        </a:spcAft>
        <a:buChar char="•"/>
        <a:defRPr sz="1600">
          <a:solidFill>
            <a:schemeClr val="bg2">
              <a:lumMod val="25000"/>
            </a:schemeClr>
          </a:solidFill>
          <a:latin typeface="+mn-lt"/>
          <a:ea typeface="+mn-lt"/>
          <a:cs typeface="+mn-lt"/>
        </a:defRPr>
      </a:lvl4pPr>
      <a:lvl5pPr xmlns:a="http://schemas.openxmlformats.org/drawingml/2006/main" marL="1600200" indent="-228600" algn="l">
        <a:lnSpc>
          <a:spcPct val="100000"/>
        </a:lnSpc>
        <a:spcBef>
          <a:spcPts val="1000"/>
        </a:spcBef>
        <a:spcAft>
          <a:spcPts val="1200"/>
        </a:spcAft>
        <a:buChar char="•"/>
        <a:defRPr sz="1600">
          <a:solidFill>
            <a:schemeClr val="bg2">
              <a:lumMod val="25000"/>
            </a:schemeClr>
          </a:solidFill>
          <a:latin typeface="+mn-lt"/>
          <a:ea typeface="+mn-lt"/>
          <a:cs typeface="+mn-lt"/>
        </a:defRPr>
      </a:lvl5pPr>
      <a:lvl6pPr xmlns:a="http://schemas.openxmlformats.org/drawingml/2006/main" marL="2057400" indent="-228600" algn="l">
        <a:lnSpc>
          <a:spcPct val="150000"/>
        </a:lnSpc>
        <a:spcBef>
          <a:spcPts val="1000"/>
        </a:spcBef>
        <a:spcAft>
          <a:spcPts val="1200"/>
        </a:spcAft>
        <a:buChar char="•"/>
        <a:defRPr sz="1200">
          <a:solidFill>
            <a:schemeClr val="tx1"/>
          </a:solidFill>
          <a:latin typeface="+mn-lt"/>
          <a:ea typeface="+mn-lt"/>
          <a:cs typeface="+mn-lt"/>
        </a:defRPr>
      </a:lvl6pPr>
      <a:lvl7pPr xmlns:a="http://schemas.openxmlformats.org/drawingml/2006/main" marL="2514600" indent="-228600" algn="l">
        <a:lnSpc>
          <a:spcPct val="150000"/>
        </a:lnSpc>
        <a:spcBef>
          <a:spcPts val="1000"/>
        </a:spcBef>
        <a:spcAft>
          <a:spcPts val="1200"/>
        </a:spcAft>
        <a:buChar char="•"/>
        <a:defRPr sz="1200">
          <a:solidFill>
            <a:schemeClr val="tx1"/>
          </a:solidFill>
          <a:latin typeface="+mn-lt"/>
          <a:ea typeface="+mn-lt"/>
          <a:cs typeface="+mn-lt"/>
        </a:defRPr>
      </a:lvl7pPr>
      <a:lvl8pPr xmlns:a="http://schemas.openxmlformats.org/drawingml/2006/main" marL="2971800" indent="-228600" algn="l">
        <a:lnSpc>
          <a:spcPct val="150000"/>
        </a:lnSpc>
        <a:spcBef>
          <a:spcPts val="1000"/>
        </a:spcBef>
        <a:spcAft>
          <a:spcPts val="1200"/>
        </a:spcAft>
        <a:buChar char="•"/>
        <a:defRPr sz="1200">
          <a:solidFill>
            <a:schemeClr val="tx1"/>
          </a:solidFill>
          <a:latin typeface="+mn-lt"/>
          <a:ea typeface="+mn-lt"/>
          <a:cs typeface="+mn-lt"/>
        </a:defRPr>
      </a:lvl8pPr>
      <a:lvl9pPr xmlns:a="http://schemas.openxmlformats.org/drawingml/2006/main" marL="3429000" indent="-228600" algn="l">
        <a:lnSpc>
          <a:spcPct val="90000"/>
        </a:lnSpc>
        <a:buNone/>
        <a:defRPr sz="12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extLst>
    <p:ext uri="{27BBF7A9-308A-43DC-89C8-2F10F3537804}">
      <p15:sldGuideLst xmlns:p15="http://schemas.microsoft.com/office/powerpoint/2012/main">
        <p15:guide id="1" pos="3984">
          <p15:clr>
            <a:srgbClr xmlns:a="http://schemas.openxmlformats.org/drawingml/2006/main" val="F26B43"/>
          </p15:clr>
        </p15:guide>
        <p15:guide id="2" pos="336">
          <p15:clr>
            <a:srgbClr xmlns:a="http://schemas.openxmlformats.org/drawingml/2006/main" val="F26B43"/>
          </p15:clr>
        </p15:guide>
        <p15:guide id="3" pos="7320">
          <p15:clr>
            <a:srgbClr xmlns:a="http://schemas.openxmlformats.org/drawingml/2006/main" val="F26B43"/>
          </p15:clr>
        </p15:guide>
        <p15:guide id="4" orient="horz" pos="912">
          <p15:clr>
            <a:srgbClr xmlns:a="http://schemas.openxmlformats.org/drawingml/2006/main" val="F26B43"/>
          </p15:clr>
        </p15:guide>
        <p15:guide id="5" orient="horz" pos="264">
          <p15:clr>
            <a:srgbClr xmlns:a="http://schemas.openxmlformats.org/drawingml/2006/main" val="F26B43"/>
          </p15:clr>
        </p15:guide>
        <p15:guide id="6" orient="horz" pos="696">
          <p15:clr>
            <a:srgbClr xmlns:a="http://schemas.openxmlformats.org/drawingml/2006/main" val="F26B43"/>
          </p15:clr>
        </p15:guide>
        <p15:guide id="7" pos="3696">
          <p15:clr>
            <a:srgbClr xmlns:a="http://schemas.openxmlformats.org/drawingml/2006/main" val="F26B43"/>
          </p15:clr>
        </p15:guide>
      </p15:sldGuideLst>
    </p:ext>
  </p:extLst>
</p:sldMaster>
</file>

<file path=ppt/slideMasters/theme/theme2.xml><?xml version="1.0" encoding="utf-8"?>
<a:theme xmlns:a="http://schemas.openxmlformats.org/drawingml/2006/main" name="WelcomeDoc">
  <a:themeElements>
    <a:clrScheme name="Custom 1">
      <a:dk1>
        <a:srgbClr val="000000"/>
      </a:dk1>
      <a:lt1>
        <a:srgbClr val="FFFFFF"/>
      </a:lt1>
      <a:dk2>
        <a:srgbClr val="44546A"/>
      </a:dk2>
      <a:lt2>
        <a:srgbClr val="E7E6E6"/>
      </a:lt2>
      <a:accent1>
        <a:srgbClr val="4472C4"/>
      </a:accent1>
      <a:accent2>
        <a:srgbClr val="CF3D1C"/>
      </a:accent2>
      <a:accent3>
        <a:srgbClr val="A5A5A5"/>
      </a:accent3>
      <a:accent4>
        <a:srgbClr val="FFC000"/>
      </a:accent4>
      <a:accent5>
        <a:srgbClr val="5B9BD5"/>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Custom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1_WelcomeDoc">
  <a:themeElements>
    <a:clrScheme name="Custom 1">
      <a:dk1>
        <a:srgbClr val="000000"/>
      </a:dk1>
      <a:lt1>
        <a:srgbClr val="FFFFFF"/>
      </a:lt1>
      <a:dk2>
        <a:srgbClr val="44546A"/>
      </a:dk2>
      <a:lt2>
        <a:srgbClr val="E7E6E6"/>
      </a:lt2>
      <a:accent1>
        <a:srgbClr val="4472C4"/>
      </a:accent1>
      <a:accent2>
        <a:srgbClr val="CF3D1C"/>
      </a:accent2>
      <a:accent3>
        <a:srgbClr val="A5A5A5"/>
      </a:accent3>
      <a:accent4>
        <a:srgbClr val="FFC000"/>
      </a:accent4>
      <a:accent5>
        <a:srgbClr val="5B9BD5"/>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Custom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1.xml" Id="R506d506d905746b1" /><Relationship Type="http://schemas.openxmlformats.org/officeDocument/2006/relationships/notesSlide" Target="/ppt/notesSlides/notesSlide1.xml" Id="R36931ab9e4184e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1.xml" Id="R89134339c66d4a16" /><Relationship Type="http://schemas.openxmlformats.org/officeDocument/2006/relationships/notesSlide" Target="/ppt/notesSlides/notesSlide2.xml" Id="R2d568289863d489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1.xml" Id="Rf373a1fa6d7d4934" /><Relationship Type="http://schemas.openxmlformats.org/officeDocument/2006/relationships/notesSlide" Target="/ppt/notesSlides/notesSlide3.xml" Id="R3c325d4dfb35469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1.xml" Id="R73d555f0eabc4bbb" /><Relationship Type="http://schemas.openxmlformats.org/officeDocument/2006/relationships/notesSlide" Target="/ppt/notesSlides/notesSlide4.xml" Id="R8c37a99f0a3e4da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1.xml" Id="R539ef0b54f8249c2" /><Relationship Type="http://schemas.openxmlformats.org/officeDocument/2006/relationships/notesSlide" Target="/ppt/notesSlides/notesSlide5.xml" Id="R4286263af1ab4d7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1.xml" Id="R5253563c927747b6" /><Relationship Type="http://schemas.openxmlformats.org/officeDocument/2006/relationships/notesSlide" Target="/ppt/notesSlides/notesSlide6.xml" Id="R80beca96c0b14e7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1.xml" Id="R637a7f19688448d4" /><Relationship Type="http://schemas.openxmlformats.org/officeDocument/2006/relationships/notesSlide" Target="/ppt/notesSlides/notesSlide7.xml" Id="R9df64e3d98eb4cf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1.xml" Id="Rb1328559a92140ab" /><Relationship Type="http://schemas.openxmlformats.org/officeDocument/2006/relationships/notesSlide" Target="/ppt/notesSlides/notesSlide8.xml" Id="R7bdf3711de1145d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1.xml" Id="Rb10c67cb4b3f4c3e" /><Relationship Type="http://schemas.openxmlformats.org/officeDocument/2006/relationships/notesSlide" Target="/ppt/notesSlides/notesSlide9.xml" Id="R8619b0ba8baa4a2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1.xml" Id="R1c6ae5ad04234030" /><Relationship Type="http://schemas.openxmlformats.org/officeDocument/2006/relationships/notesSlide" Target="/ppt/notesSlides/notesSlide10.xml" Id="Rf318c30424834c6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1.xml" Id="R411e5d9caa874742" /><Relationship Type="http://schemas.openxmlformats.org/officeDocument/2006/relationships/notesSlide" Target="/ppt/notesSlides/notesSlide11.xml" Id="Ra2a4eebab79648e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1.xml" Id="R223c7d89bcdd4b62" /><Relationship Type="http://schemas.openxmlformats.org/officeDocument/2006/relationships/notesSlide" Target="/ppt/notesSlides/notesSlide12.xml" Id="Rf03cbb480568428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1.xml" Id="R3e05a0a7e251479f" /><Relationship Type="http://schemas.openxmlformats.org/officeDocument/2006/relationships/notesSlide" Target="/ppt/notesSlides/notesSlide13.xml" Id="Rcf183e6e6b9540f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1.xml" Id="R5fd10b7b1d9d4b92" /><Relationship Type="http://schemas.openxmlformats.org/officeDocument/2006/relationships/notesSlide" Target="/ppt/notesSlides/notesSlide14.xml" Id="R4e67086ce2cd4f1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1.xml" Id="R1210d8adf9e04e04" /><Relationship Type="http://schemas.openxmlformats.org/officeDocument/2006/relationships/notesSlide" Target="/ppt/notesSlides/notesSlide15.xml" Id="R29da6fa2c4174c8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1.xml" Id="R02e6e216025542c9" /><Relationship Type="http://schemas.openxmlformats.org/officeDocument/2006/relationships/notesSlide" Target="/ppt/notesSlides/notesSlide16.xml" Id="Rebce893e1cdd4f5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cb99711867d6432a" /><Relationship Type="http://schemas.openxmlformats.org/officeDocument/2006/relationships/notesSlide" Target="/ppt/notesSlides/notesSlide17.xml" Id="R57c1b755cf64431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60" name="Google Shape;60;p3">
            <a:extLst xmlns:a="http://schemas.openxmlformats.org/drawingml/2006/main">
              <a:ext uri="{FF2B5EF4-FFF2-40B4-BE49-F238E27FC236}">
                <a16:creationId xmlns:a16="http://schemas.microsoft.com/office/drawing/2014/main" id="{D9481F0E-348E-1059-0F3E-FE7450823666}"/>
              </a:ext>
            </a:extLst>
          </p:cNvPr>
          <p:cNvSpPr>
            <a:spLocks xmlns:a="http://schemas.openxmlformats.org/drawingml/2006/main" noGrp="1"/>
          </p:cNvSpPr>
          <p:nvPr>
            <p:ph type="title" idx="0"/>
          </p:nvPr>
        </p:nvSpPr>
        <p:spPr>
          <a:xfrm xmlns:a="http://schemas.openxmlformats.org/drawingml/2006/main">
            <a:off x="444532" y="430625"/>
            <a:ext cx="11210544" cy="5577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algn="l">
              <a:buNone/>
              <a:defRPr sz="2100" b="0">
                <a:solidFill>
                  <a:srgbClr val="3A3838"/>
                </a:solidFill>
              </a:defRPr>
            </a:pPr>
            <a:r>
              <a:rPr sz="2100" b="0">
                <a:solidFill>
                  <a:srgbClr val="3A3838"/>
                </a:solidFill>
              </a:rPr>
              <a:t>Current Latent Architecture: Recurrent State-Space Models</a:t>
            </a:r>
          </a:p>
        </p:txBody>
      </p:sp>
      <p:sp>
        <p:nvSpPr>
          <p:cNvPr id="61" name="">
            <a:extLst xmlns:a="http://schemas.openxmlformats.org/drawingml/2006/main">
              <a:ext uri="{FF2B5EF4-FFF2-40B4-BE49-F238E27FC236}">
                <a16:creationId xmlns:a16="http://schemas.microsoft.com/office/drawing/2014/main" id="{5D60B39D-70DE-4AD3-BBFB-B3B4F303E904}"/>
              </a:ext>
            </a:extLst>
          </p:cNvPr>
          <p:cNvSpPr>
            <a:spLocks xmlns:a="http://schemas.openxmlformats.org/drawingml/2006/main" noGrp="1"/>
          </p:cNvSpPr>
          <p:nvPr/>
        </p:nvSpPr>
        <p:spPr>
          <a:xfrm xmlns:a="http://schemas.openxmlformats.org/drawingml/2006/main">
            <a:off x="444532" y="1097280"/>
            <a:ext cx="11210544" cy="17145"/>
          </a:xfrm>
          <a:prstGeom xmlns:a="http://schemas.openxmlformats.org/drawingml/2006/main" prst="rect">
            <a:avLst/>
          </a:prstGeom>
          <a:solidFill xmlns:a="http://schemas.openxmlformats.org/drawingml/2006/main">
            <a:srgbClr val="D24726"/>
          </a:solidFill>
          <a:ln xmlns:a="http://schemas.openxmlformats.org/drawingml/2006/main" w="0">
            <a:solidFill>
              <a:srgbClr val="D24726"/>
            </a:solidFill>
            <a:prstDash val="solid"/>
          </a:ln>
        </p:spPr>
      </p:sp>
      <p:sp>
        <p:nvSpPr>
          <p:cNvPr id="62" name="">
            <a:extLst xmlns:a="http://schemas.openxmlformats.org/drawingml/2006/main">
              <a:ext uri="{FF2B5EF4-FFF2-40B4-BE49-F238E27FC236}">
                <a16:creationId xmlns:a16="http://schemas.microsoft.com/office/drawing/2014/main" id="{5E952FBB-F95B-4F33-BF83-1E09337BB647}"/>
              </a:ext>
            </a:extLst>
          </p:cNvPr>
          <p:cNvSpPr>
            <a:spLocks xmlns:a="http://schemas.openxmlformats.org/drawingml/2006/main" noGrp="1"/>
          </p:cNvSpPr>
          <p:nvPr/>
        </p:nvSpPr>
        <p:spPr>
          <a:xfrm xmlns:a="http://schemas.openxmlformats.org/drawingml/2006/main">
            <a:off x="457200" y="1371600"/>
            <a:ext cx="11144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13" b="0">
                <a:solidFill>
                  <a:srgbClr val="3A3838"/>
                </a:solidFill>
              </a:defRPr>
            </a:pPr>
            <a:r>
              <a:rPr sz="1313" b="0">
                <a:solidFill>
                  <a:srgbClr val="3A3838"/>
                </a:solidFill>
              </a:rPr>
              <a:t>A world model turns observations into a compact state, predicts how that state changes under an action, and learns task-relevant readouts.</a:t>
            </a:r>
          </a:p>
        </p:txBody>
      </p:sp>
      <p:sp>
        <p:nvSpPr>
          <p:cNvPr id="63" name="">
            <a:extLst xmlns:a="http://schemas.openxmlformats.org/drawingml/2006/main">
              <a:ext uri="{FF2B5EF4-FFF2-40B4-BE49-F238E27FC236}">
                <a16:creationId xmlns:a16="http://schemas.microsoft.com/office/drawing/2014/main" id="{43F997E5-4D3E-4603-99C8-0040D35DB9B2}"/>
              </a:ext>
            </a:extLst>
          </p:cNvPr>
          <p:cNvSpPr>
            <a:spLocks xmlns:a="http://schemas.openxmlformats.org/drawingml/2006/main" noGrp="1"/>
          </p:cNvSpPr>
          <p:nvPr/>
        </p:nvSpPr>
        <p:spPr>
          <a:xfrm xmlns:a="http://schemas.openxmlformats.org/drawingml/2006/main">
            <a:off x="1952625" y="2066925"/>
            <a:ext cx="8286750" cy="523875"/>
          </a:xfrm>
          <a:prstGeom xmlns:a="http://schemas.openxmlformats.org/drawingml/2006/main" prst="rect">
            <a:avLst/>
          </a:prstGeom>
          <a:solidFill xmlns:a="http://schemas.openxmlformats.org/drawingml/2006/main">
            <a:srgbClr val="FFFFFF"/>
          </a:solidFill>
          <a:ln xmlns:a="http://schemas.openxmlformats.org/drawingml/2006/main" w="7620">
            <a:solidFill>
              <a:srgbClr val="4472C4"/>
            </a:solidFill>
            <a:prstDash val="solid"/>
          </a:ln>
        </p:spPr>
        <p:txBody>
          <a:bodyPr xmlns:a="http://schemas.openxmlformats.org/drawingml/2006/main" anchor="ctr"/>
          <a:lstStyle xmlns:a="http://schemas.openxmlformats.org/drawingml/2006/main"/>
          <a:p xmlns:a="http://schemas.openxmlformats.org/drawingml/2006/main">
            <a:pPr algn="ctr">
              <a:defRPr sz="1500" b="0">
                <a:solidFill>
                  <a:srgbClr val="3A3838"/>
                </a:solidFill>
              </a:defRPr>
            </a:pPr>
            <a:r>
              <a:rPr sz="1500" b="0">
                <a:solidFill>
                  <a:srgbClr val="3A3838"/>
                </a:solidFill>
              </a:rPr>
              <a:t>hₜ = f(hₜ₋₁, zₜ₋₁, aₜ₋₁)     zₜ ~ q(zₜ | hₜ, xₜ)</a:t>
            </a:r>
          </a:p>
        </p:txBody>
      </p:sp>
      <p:sp>
        <p:nvSpPr>
          <p:cNvPr id="64" name="">
            <a:extLst xmlns:a="http://schemas.openxmlformats.org/drawingml/2006/main">
              <a:ext uri="{FF2B5EF4-FFF2-40B4-BE49-F238E27FC236}">
                <a16:creationId xmlns:a16="http://schemas.microsoft.com/office/drawing/2014/main" id="{FBE7D0AC-0DB4-4A22-A233-DAEC30F388B3}"/>
              </a:ext>
            </a:extLst>
          </p:cNvPr>
          <p:cNvSpPr>
            <a:spLocks xmlns:a="http://schemas.openxmlformats.org/drawingml/2006/main" noGrp="1"/>
          </p:cNvSpPr>
          <p:nvPr/>
        </p:nvSpPr>
        <p:spPr>
          <a:xfrm xmlns:a="http://schemas.openxmlformats.org/drawingml/2006/main">
            <a:off x="781050" y="3143250"/>
            <a:ext cx="184785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B7B7B7"/>
            </a:solidFill>
            <a:prstDash val="solid"/>
          </a:ln>
        </p:spPr>
      </p:sp>
      <p:sp>
        <p:nvSpPr>
          <p:cNvPr id="65" name="">
            <a:extLst xmlns:a="http://schemas.openxmlformats.org/drawingml/2006/main">
              <a:ext uri="{FF2B5EF4-FFF2-40B4-BE49-F238E27FC236}">
                <a16:creationId xmlns:a16="http://schemas.microsoft.com/office/drawing/2014/main" id="{45ECA27D-0E8E-4602-A5C3-7A359E5671B6}"/>
              </a:ext>
            </a:extLst>
          </p:cNvPr>
          <p:cNvSpPr>
            <a:spLocks xmlns:a="http://schemas.openxmlformats.org/drawingml/2006/main" noGrp="1"/>
          </p:cNvSpPr>
          <p:nvPr/>
        </p:nvSpPr>
        <p:spPr>
          <a:xfrm xmlns:a="http://schemas.openxmlformats.org/drawingml/2006/main">
            <a:off x="857250" y="323850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3A3838"/>
                </a:solidFill>
              </a:defRPr>
            </a:pPr>
            <a:r>
              <a:rPr sz="1050" b="1">
                <a:solidFill>
                  <a:srgbClr val="3A3838"/>
                </a:solidFill>
              </a:rPr>
              <a:t>observation xₜ</a:t>
            </a:r>
          </a:p>
        </p:txBody>
      </p:sp>
      <p:sp>
        <p:nvSpPr>
          <p:cNvPr id="66" name="">
            <a:extLst xmlns:a="http://schemas.openxmlformats.org/drawingml/2006/main">
              <a:ext uri="{FF2B5EF4-FFF2-40B4-BE49-F238E27FC236}">
                <a16:creationId xmlns:a16="http://schemas.microsoft.com/office/drawing/2014/main" id="{24E600B3-B512-4A2D-9AAB-F3E74FF0B0BB}"/>
              </a:ext>
            </a:extLst>
          </p:cNvPr>
          <p:cNvSpPr>
            <a:spLocks xmlns:a="http://schemas.openxmlformats.org/drawingml/2006/main" noGrp="1"/>
          </p:cNvSpPr>
          <p:nvPr/>
        </p:nvSpPr>
        <p:spPr>
          <a:xfrm xmlns:a="http://schemas.openxmlformats.org/drawingml/2006/main">
            <a:off x="857250" y="3486150"/>
            <a:ext cx="1695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b="0">
                <a:solidFill>
                  <a:srgbClr val="767171"/>
                </a:solidFill>
              </a:defRPr>
            </a:pPr>
            <a:r>
              <a:rPr sz="788" b="0">
                <a:solidFill>
                  <a:srgbClr val="767171"/>
                </a:solidFill>
              </a:rPr>
              <a:t>camera / sensors</a:t>
            </a:r>
          </a:p>
        </p:txBody>
      </p:sp>
      <p:sp>
        <p:nvSpPr>
          <p:cNvPr id="67" name="">
            <a:extLst xmlns:a="http://schemas.openxmlformats.org/drawingml/2006/main">
              <a:ext uri="{FF2B5EF4-FFF2-40B4-BE49-F238E27FC236}">
                <a16:creationId xmlns:a16="http://schemas.microsoft.com/office/drawing/2014/main" id="{863900F3-C897-464C-91C0-1CD1BFB25080}"/>
              </a:ext>
            </a:extLst>
          </p:cNvPr>
          <p:cNvSpPr>
            <a:spLocks xmlns:a="http://schemas.openxmlformats.org/drawingml/2006/main" noGrp="1"/>
          </p:cNvSpPr>
          <p:nvPr/>
        </p:nvSpPr>
        <p:spPr>
          <a:xfrm xmlns:a="http://schemas.openxmlformats.org/drawingml/2006/main">
            <a:off x="2638425" y="3314700"/>
            <a:ext cx="3143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D24726"/>
                </a:solidFill>
              </a:defRPr>
            </a:pPr>
            <a:r>
              <a:rPr sz="1500" b="1">
                <a:solidFill>
                  <a:srgbClr val="D24726"/>
                </a:solidFill>
              </a:rPr>
              <a:t>→</a:t>
            </a:r>
          </a:p>
        </p:txBody>
      </p:sp>
      <p:sp>
        <p:nvSpPr>
          <p:cNvPr id="68" name="">
            <a:extLst xmlns:a="http://schemas.openxmlformats.org/drawingml/2006/main">
              <a:ext uri="{FF2B5EF4-FFF2-40B4-BE49-F238E27FC236}">
                <a16:creationId xmlns:a16="http://schemas.microsoft.com/office/drawing/2014/main" id="{6161EA40-B9BB-4501-9322-E0F80A895B2A}"/>
              </a:ext>
            </a:extLst>
          </p:cNvPr>
          <p:cNvSpPr>
            <a:spLocks xmlns:a="http://schemas.openxmlformats.org/drawingml/2006/main" noGrp="1"/>
          </p:cNvSpPr>
          <p:nvPr/>
        </p:nvSpPr>
        <p:spPr>
          <a:xfrm xmlns:a="http://schemas.openxmlformats.org/drawingml/2006/main">
            <a:off x="2962275" y="3143250"/>
            <a:ext cx="1847850" cy="609600"/>
          </a:xfrm>
          <a:prstGeom xmlns:a="http://schemas.openxmlformats.org/drawingml/2006/main" prst="rect">
            <a:avLst/>
          </a:prstGeom>
          <a:solidFill xmlns:a="http://schemas.openxmlformats.org/drawingml/2006/main">
            <a:srgbClr val="DDEBF7"/>
          </a:solidFill>
          <a:ln xmlns:a="http://schemas.openxmlformats.org/drawingml/2006/main" w="9525">
            <a:solidFill>
              <a:srgbClr val="B7B7B7"/>
            </a:solidFill>
            <a:prstDash val="solid"/>
          </a:ln>
        </p:spPr>
      </p:sp>
      <p:sp>
        <p:nvSpPr>
          <p:cNvPr id="69" name="">
            <a:extLst xmlns:a="http://schemas.openxmlformats.org/drawingml/2006/main">
              <a:ext uri="{FF2B5EF4-FFF2-40B4-BE49-F238E27FC236}">
                <a16:creationId xmlns:a16="http://schemas.microsoft.com/office/drawing/2014/main" id="{EBA6161D-6DBC-4C07-B6F4-E7834B6EA2A4}"/>
              </a:ext>
            </a:extLst>
          </p:cNvPr>
          <p:cNvSpPr>
            <a:spLocks xmlns:a="http://schemas.openxmlformats.org/drawingml/2006/main" noGrp="1"/>
          </p:cNvSpPr>
          <p:nvPr/>
        </p:nvSpPr>
        <p:spPr>
          <a:xfrm xmlns:a="http://schemas.openxmlformats.org/drawingml/2006/main">
            <a:off x="3038475" y="323850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3A3838"/>
                </a:solidFill>
              </a:defRPr>
            </a:pPr>
            <a:r>
              <a:rPr sz="1050" b="1">
                <a:solidFill>
                  <a:srgbClr val="3A3838"/>
                </a:solidFill>
              </a:rPr>
              <a:t>encoder</a:t>
            </a:r>
          </a:p>
        </p:txBody>
      </p:sp>
      <p:sp>
        <p:nvSpPr>
          <p:cNvPr id="70" name="">
            <a:extLst xmlns:a="http://schemas.openxmlformats.org/drawingml/2006/main">
              <a:ext uri="{FF2B5EF4-FFF2-40B4-BE49-F238E27FC236}">
                <a16:creationId xmlns:a16="http://schemas.microsoft.com/office/drawing/2014/main" id="{283B21E9-B0A6-43A1-95EE-DF6CEB3E9F6A}"/>
              </a:ext>
            </a:extLst>
          </p:cNvPr>
          <p:cNvSpPr>
            <a:spLocks xmlns:a="http://schemas.openxmlformats.org/drawingml/2006/main" noGrp="1"/>
          </p:cNvSpPr>
          <p:nvPr/>
        </p:nvSpPr>
        <p:spPr>
          <a:xfrm xmlns:a="http://schemas.openxmlformats.org/drawingml/2006/main">
            <a:off x="3038475" y="3486150"/>
            <a:ext cx="1695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b="0">
                <a:solidFill>
                  <a:srgbClr val="767171"/>
                </a:solidFill>
              </a:defRPr>
            </a:pPr>
            <a:r>
              <a:rPr sz="788" b="0">
                <a:solidFill>
                  <a:srgbClr val="767171"/>
                </a:solidFill>
              </a:rPr>
              <a:t>compress evidence</a:t>
            </a:r>
          </a:p>
        </p:txBody>
      </p:sp>
      <p:sp>
        <p:nvSpPr>
          <p:cNvPr id="71" name="">
            <a:extLst xmlns:a="http://schemas.openxmlformats.org/drawingml/2006/main">
              <a:ext uri="{FF2B5EF4-FFF2-40B4-BE49-F238E27FC236}">
                <a16:creationId xmlns:a16="http://schemas.microsoft.com/office/drawing/2014/main" id="{3C3C6820-FF6A-43BE-89F3-2B0AFDEF8287}"/>
              </a:ext>
            </a:extLst>
          </p:cNvPr>
          <p:cNvSpPr>
            <a:spLocks xmlns:a="http://schemas.openxmlformats.org/drawingml/2006/main" noGrp="1"/>
          </p:cNvSpPr>
          <p:nvPr/>
        </p:nvSpPr>
        <p:spPr>
          <a:xfrm xmlns:a="http://schemas.openxmlformats.org/drawingml/2006/main">
            <a:off x="4819650" y="3314700"/>
            <a:ext cx="3143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D24726"/>
                </a:solidFill>
              </a:defRPr>
            </a:pPr>
            <a:r>
              <a:rPr sz="1500" b="1">
                <a:solidFill>
                  <a:srgbClr val="D24726"/>
                </a:solidFill>
              </a:rPr>
              <a:t>→</a:t>
            </a:r>
          </a:p>
        </p:txBody>
      </p:sp>
      <p:sp>
        <p:nvSpPr>
          <p:cNvPr id="72" name="">
            <a:extLst xmlns:a="http://schemas.openxmlformats.org/drawingml/2006/main">
              <a:ext uri="{FF2B5EF4-FFF2-40B4-BE49-F238E27FC236}">
                <a16:creationId xmlns:a16="http://schemas.microsoft.com/office/drawing/2014/main" id="{ABFF4990-420E-4525-A7D7-0CD7A4A60CE7}"/>
              </a:ext>
            </a:extLst>
          </p:cNvPr>
          <p:cNvSpPr>
            <a:spLocks xmlns:a="http://schemas.openxmlformats.org/drawingml/2006/main" noGrp="1"/>
          </p:cNvSpPr>
          <p:nvPr/>
        </p:nvSpPr>
        <p:spPr>
          <a:xfrm xmlns:a="http://schemas.openxmlformats.org/drawingml/2006/main">
            <a:off x="5143500" y="3143250"/>
            <a:ext cx="1847850" cy="609600"/>
          </a:xfrm>
          <a:prstGeom xmlns:a="http://schemas.openxmlformats.org/drawingml/2006/main" prst="rect">
            <a:avLst/>
          </a:prstGeom>
          <a:solidFill xmlns:a="http://schemas.openxmlformats.org/drawingml/2006/main">
            <a:srgbClr val="DDEBF7"/>
          </a:solidFill>
          <a:ln xmlns:a="http://schemas.openxmlformats.org/drawingml/2006/main" w="9525">
            <a:solidFill>
              <a:srgbClr val="B7B7B7"/>
            </a:solidFill>
            <a:prstDash val="solid"/>
          </a:ln>
        </p:spPr>
      </p:sp>
      <p:sp>
        <p:nvSpPr>
          <p:cNvPr id="73" name="">
            <a:extLst xmlns:a="http://schemas.openxmlformats.org/drawingml/2006/main">
              <a:ext uri="{FF2B5EF4-FFF2-40B4-BE49-F238E27FC236}">
                <a16:creationId xmlns:a16="http://schemas.microsoft.com/office/drawing/2014/main" id="{D9D7171C-AEEC-4C9C-A7FE-73D98CCA424D}"/>
              </a:ext>
            </a:extLst>
          </p:cNvPr>
          <p:cNvSpPr>
            <a:spLocks xmlns:a="http://schemas.openxmlformats.org/drawingml/2006/main" noGrp="1"/>
          </p:cNvSpPr>
          <p:nvPr/>
        </p:nvSpPr>
        <p:spPr>
          <a:xfrm xmlns:a="http://schemas.openxmlformats.org/drawingml/2006/main">
            <a:off x="5219700" y="323850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3A3838"/>
                </a:solidFill>
              </a:defRPr>
            </a:pPr>
            <a:r>
              <a:rPr sz="1050" b="1">
                <a:solidFill>
                  <a:srgbClr val="3A3838"/>
                </a:solidFill>
              </a:rPr>
              <a:t>state (hₜ, zₜ)</a:t>
            </a:r>
          </a:p>
        </p:txBody>
      </p:sp>
      <p:sp>
        <p:nvSpPr>
          <p:cNvPr id="74" name="">
            <a:extLst xmlns:a="http://schemas.openxmlformats.org/drawingml/2006/main">
              <a:ext uri="{FF2B5EF4-FFF2-40B4-BE49-F238E27FC236}">
                <a16:creationId xmlns:a16="http://schemas.microsoft.com/office/drawing/2014/main" id="{788BDE5D-5FF9-46D8-9241-B828FA78476E}"/>
              </a:ext>
            </a:extLst>
          </p:cNvPr>
          <p:cNvSpPr>
            <a:spLocks xmlns:a="http://schemas.openxmlformats.org/drawingml/2006/main" noGrp="1"/>
          </p:cNvSpPr>
          <p:nvPr/>
        </p:nvSpPr>
        <p:spPr>
          <a:xfrm xmlns:a="http://schemas.openxmlformats.org/drawingml/2006/main">
            <a:off x="5219700" y="3486150"/>
            <a:ext cx="1695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b="0">
                <a:solidFill>
                  <a:srgbClr val="767171"/>
                </a:solidFill>
              </a:defRPr>
            </a:pPr>
            <a:r>
              <a:rPr sz="788" b="0">
                <a:solidFill>
                  <a:srgbClr val="767171"/>
                </a:solidFill>
              </a:rPr>
              <a:t>memory + uncertainty</a:t>
            </a:r>
          </a:p>
        </p:txBody>
      </p:sp>
      <p:sp>
        <p:nvSpPr>
          <p:cNvPr id="75" name="">
            <a:extLst xmlns:a="http://schemas.openxmlformats.org/drawingml/2006/main">
              <a:ext uri="{FF2B5EF4-FFF2-40B4-BE49-F238E27FC236}">
                <a16:creationId xmlns:a16="http://schemas.microsoft.com/office/drawing/2014/main" id="{578DA0DD-CC42-4BBB-B9FA-A235BEF1D2FB}"/>
              </a:ext>
            </a:extLst>
          </p:cNvPr>
          <p:cNvSpPr>
            <a:spLocks xmlns:a="http://schemas.openxmlformats.org/drawingml/2006/main" noGrp="1"/>
          </p:cNvSpPr>
          <p:nvPr/>
        </p:nvSpPr>
        <p:spPr>
          <a:xfrm xmlns:a="http://schemas.openxmlformats.org/drawingml/2006/main">
            <a:off x="7000875" y="3314700"/>
            <a:ext cx="3143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D24726"/>
                </a:solidFill>
              </a:defRPr>
            </a:pPr>
            <a:r>
              <a:rPr sz="1500" b="1">
                <a:solidFill>
                  <a:srgbClr val="D24726"/>
                </a:solidFill>
              </a:rPr>
              <a:t>→</a:t>
            </a:r>
          </a:p>
        </p:txBody>
      </p:sp>
      <p:sp>
        <p:nvSpPr>
          <p:cNvPr id="76" name="">
            <a:extLst xmlns:a="http://schemas.openxmlformats.org/drawingml/2006/main">
              <a:ext uri="{FF2B5EF4-FFF2-40B4-BE49-F238E27FC236}">
                <a16:creationId xmlns:a16="http://schemas.microsoft.com/office/drawing/2014/main" id="{5656B5E7-93B0-40CF-A66E-9580BF89299D}"/>
              </a:ext>
            </a:extLst>
          </p:cNvPr>
          <p:cNvSpPr>
            <a:spLocks xmlns:a="http://schemas.openxmlformats.org/drawingml/2006/main" noGrp="1"/>
          </p:cNvSpPr>
          <p:nvPr/>
        </p:nvSpPr>
        <p:spPr>
          <a:xfrm xmlns:a="http://schemas.openxmlformats.org/drawingml/2006/main">
            <a:off x="7324725" y="3143250"/>
            <a:ext cx="1847850" cy="609600"/>
          </a:xfrm>
          <a:prstGeom xmlns:a="http://schemas.openxmlformats.org/drawingml/2006/main" prst="rect">
            <a:avLst/>
          </a:prstGeom>
          <a:solidFill xmlns:a="http://schemas.openxmlformats.org/drawingml/2006/main">
            <a:srgbClr val="FCE4D6"/>
          </a:solidFill>
          <a:ln xmlns:a="http://schemas.openxmlformats.org/drawingml/2006/main" w="9525">
            <a:solidFill>
              <a:srgbClr val="B7B7B7"/>
            </a:solidFill>
            <a:prstDash val="solid"/>
          </a:ln>
        </p:spPr>
      </p:sp>
      <p:sp>
        <p:nvSpPr>
          <p:cNvPr id="77" name="">
            <a:extLst xmlns:a="http://schemas.openxmlformats.org/drawingml/2006/main">
              <a:ext uri="{FF2B5EF4-FFF2-40B4-BE49-F238E27FC236}">
                <a16:creationId xmlns:a16="http://schemas.microsoft.com/office/drawing/2014/main" id="{8DC1E0F5-0823-456A-A20B-3119193A923A}"/>
              </a:ext>
            </a:extLst>
          </p:cNvPr>
          <p:cNvSpPr>
            <a:spLocks xmlns:a="http://schemas.openxmlformats.org/drawingml/2006/main" noGrp="1"/>
          </p:cNvSpPr>
          <p:nvPr/>
        </p:nvSpPr>
        <p:spPr>
          <a:xfrm xmlns:a="http://schemas.openxmlformats.org/drawingml/2006/main">
            <a:off x="7400925" y="323850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3A3838"/>
                </a:solidFill>
              </a:defRPr>
            </a:pPr>
            <a:r>
              <a:rPr sz="1050" b="1">
                <a:solidFill>
                  <a:srgbClr val="3A3838"/>
                </a:solidFill>
              </a:rPr>
              <a:t>transition + action</a:t>
            </a:r>
          </a:p>
        </p:txBody>
      </p:sp>
      <p:sp>
        <p:nvSpPr>
          <p:cNvPr id="78" name="">
            <a:extLst xmlns:a="http://schemas.openxmlformats.org/drawingml/2006/main">
              <a:ext uri="{FF2B5EF4-FFF2-40B4-BE49-F238E27FC236}">
                <a16:creationId xmlns:a16="http://schemas.microsoft.com/office/drawing/2014/main" id="{838FF8EE-65BD-4A08-AC24-6555285B0461}"/>
              </a:ext>
            </a:extLst>
          </p:cNvPr>
          <p:cNvSpPr>
            <a:spLocks xmlns:a="http://schemas.openxmlformats.org/drawingml/2006/main" noGrp="1"/>
          </p:cNvSpPr>
          <p:nvPr/>
        </p:nvSpPr>
        <p:spPr>
          <a:xfrm xmlns:a="http://schemas.openxmlformats.org/drawingml/2006/main">
            <a:off x="7400925" y="3486150"/>
            <a:ext cx="1695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b="0">
                <a:solidFill>
                  <a:srgbClr val="767171"/>
                </a:solidFill>
              </a:defRPr>
            </a:pPr>
            <a:r>
              <a:rPr sz="788" b="0">
                <a:solidFill>
                  <a:srgbClr val="767171"/>
                </a:solidFill>
              </a:rPr>
              <a:t>imagine next state</a:t>
            </a:r>
          </a:p>
        </p:txBody>
      </p:sp>
      <p:sp>
        <p:nvSpPr>
          <p:cNvPr id="79" name="">
            <a:extLst xmlns:a="http://schemas.openxmlformats.org/drawingml/2006/main">
              <a:ext uri="{FF2B5EF4-FFF2-40B4-BE49-F238E27FC236}">
                <a16:creationId xmlns:a16="http://schemas.microsoft.com/office/drawing/2014/main" id="{89177789-3A49-4704-92E2-86387EE1CABC}"/>
              </a:ext>
            </a:extLst>
          </p:cNvPr>
          <p:cNvSpPr>
            <a:spLocks xmlns:a="http://schemas.openxmlformats.org/drawingml/2006/main" noGrp="1"/>
          </p:cNvSpPr>
          <p:nvPr/>
        </p:nvSpPr>
        <p:spPr>
          <a:xfrm xmlns:a="http://schemas.openxmlformats.org/drawingml/2006/main">
            <a:off x="9182100" y="3314700"/>
            <a:ext cx="3143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D24726"/>
                </a:solidFill>
              </a:defRPr>
            </a:pPr>
            <a:r>
              <a:rPr sz="1500" b="1">
                <a:solidFill>
                  <a:srgbClr val="D24726"/>
                </a:solidFill>
              </a:rPr>
              <a:t>→</a:t>
            </a:r>
          </a:p>
        </p:txBody>
      </p:sp>
      <p:sp>
        <p:nvSpPr>
          <p:cNvPr id="80" name="">
            <a:extLst xmlns:a="http://schemas.openxmlformats.org/drawingml/2006/main">
              <a:ext uri="{FF2B5EF4-FFF2-40B4-BE49-F238E27FC236}">
                <a16:creationId xmlns:a16="http://schemas.microsoft.com/office/drawing/2014/main" id="{5955ADE9-5D83-4251-8A2D-3D187AC543A6}"/>
              </a:ext>
            </a:extLst>
          </p:cNvPr>
          <p:cNvSpPr>
            <a:spLocks xmlns:a="http://schemas.openxmlformats.org/drawingml/2006/main" noGrp="1"/>
          </p:cNvSpPr>
          <p:nvPr/>
        </p:nvSpPr>
        <p:spPr>
          <a:xfrm xmlns:a="http://schemas.openxmlformats.org/drawingml/2006/main">
            <a:off x="9505950" y="3143250"/>
            <a:ext cx="1847850" cy="609600"/>
          </a:xfrm>
          <a:prstGeom xmlns:a="http://schemas.openxmlformats.org/drawingml/2006/main" prst="rect">
            <a:avLst/>
          </a:prstGeom>
          <a:solidFill xmlns:a="http://schemas.openxmlformats.org/drawingml/2006/main">
            <a:srgbClr val="E2F0D9"/>
          </a:solidFill>
          <a:ln xmlns:a="http://schemas.openxmlformats.org/drawingml/2006/main" w="13335">
            <a:solidFill>
              <a:srgbClr val="D24726"/>
            </a:solidFill>
            <a:prstDash val="solid"/>
          </a:ln>
        </p:spPr>
      </p:sp>
      <p:sp>
        <p:nvSpPr>
          <p:cNvPr id="81" name="">
            <a:extLst xmlns:a="http://schemas.openxmlformats.org/drawingml/2006/main">
              <a:ext uri="{FF2B5EF4-FFF2-40B4-BE49-F238E27FC236}">
                <a16:creationId xmlns:a16="http://schemas.microsoft.com/office/drawing/2014/main" id="{96D3A6C9-13F4-4373-AC6A-DFF99AF23E15}"/>
              </a:ext>
            </a:extLst>
          </p:cNvPr>
          <p:cNvSpPr>
            <a:spLocks xmlns:a="http://schemas.openxmlformats.org/drawingml/2006/main" noGrp="1"/>
          </p:cNvSpPr>
          <p:nvPr/>
        </p:nvSpPr>
        <p:spPr>
          <a:xfrm xmlns:a="http://schemas.openxmlformats.org/drawingml/2006/main">
            <a:off x="9582150" y="323850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3A3838"/>
                </a:solidFill>
              </a:defRPr>
            </a:pPr>
            <a:r>
              <a:rPr sz="1050" b="1">
                <a:solidFill>
                  <a:srgbClr val="3A3838"/>
                </a:solidFill>
              </a:rPr>
              <a:t>readout heads</a:t>
            </a:r>
          </a:p>
        </p:txBody>
      </p:sp>
      <p:sp>
        <p:nvSpPr>
          <p:cNvPr id="82" name="">
            <a:extLst xmlns:a="http://schemas.openxmlformats.org/drawingml/2006/main">
              <a:ext uri="{FF2B5EF4-FFF2-40B4-BE49-F238E27FC236}">
                <a16:creationId xmlns:a16="http://schemas.microsoft.com/office/drawing/2014/main" id="{6A35D3F5-FE9E-4908-A2C6-DB38B345F352}"/>
              </a:ext>
            </a:extLst>
          </p:cNvPr>
          <p:cNvSpPr>
            <a:spLocks xmlns:a="http://schemas.openxmlformats.org/drawingml/2006/main" noGrp="1"/>
          </p:cNvSpPr>
          <p:nvPr/>
        </p:nvSpPr>
        <p:spPr>
          <a:xfrm xmlns:a="http://schemas.openxmlformats.org/drawingml/2006/main">
            <a:off x="9582150" y="3486150"/>
            <a:ext cx="1695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b="0">
                <a:solidFill>
                  <a:srgbClr val="767171"/>
                </a:solidFill>
              </a:defRPr>
            </a:pPr>
            <a:r>
              <a:rPr sz="788" b="0">
                <a:solidFill>
                  <a:srgbClr val="767171"/>
                </a:solidFill>
              </a:rPr>
              <a:t>reward / value / pixels</a:t>
            </a:r>
          </a:p>
        </p:txBody>
      </p:sp>
      <p:sp>
        <p:nvSpPr>
          <p:cNvPr id="83" name="">
            <a:extLst xmlns:a="http://schemas.openxmlformats.org/drawingml/2006/main">
              <a:ext uri="{FF2B5EF4-FFF2-40B4-BE49-F238E27FC236}">
                <a16:creationId xmlns:a16="http://schemas.microsoft.com/office/drawing/2014/main" id="{42672B2C-0F81-4BF3-A980-B6DC099EFE8E}"/>
              </a:ext>
            </a:extLst>
          </p:cNvPr>
          <p:cNvSpPr>
            <a:spLocks xmlns:a="http://schemas.openxmlformats.org/drawingml/2006/main" noGrp="1"/>
          </p:cNvSpPr>
          <p:nvPr/>
        </p:nvSpPr>
        <p:spPr>
          <a:xfrm xmlns:a="http://schemas.openxmlformats.org/drawingml/2006/main">
            <a:off x="1190625" y="4257675"/>
            <a:ext cx="9810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0">
                <a:solidFill>
                  <a:srgbClr val="3A3838"/>
                </a:solidFill>
              </a:defRPr>
            </a:pPr>
            <a:r>
              <a:rPr sz="1125" b="0">
                <a:solidFill>
                  <a:srgbClr val="3A3838"/>
                </a:solidFill>
              </a:rPr>
              <a:t>Dreamer-style RSSMs already model uncertainty. The research question is whether a more structured state preserves useful alternatives and relationships more reliably.</a:t>
            </a:r>
          </a:p>
        </p:txBody>
      </p:sp>
      <p:sp>
        <p:nvSpPr>
          <p:cNvPr id="84" name="">
            <a:extLst xmlns:a="http://schemas.openxmlformats.org/drawingml/2006/main">
              <a:ext uri="{FF2B5EF4-FFF2-40B4-BE49-F238E27FC236}">
                <a16:creationId xmlns:a16="http://schemas.microsoft.com/office/drawing/2014/main" id="{CAEE19AD-29D5-4775-9E78-24A4CB64F825}"/>
              </a:ext>
            </a:extLst>
          </p:cNvPr>
          <p:cNvSpPr>
            <a:spLocks xmlns:a="http://schemas.openxmlformats.org/drawingml/2006/main" noGrp="1"/>
          </p:cNvSpPr>
          <p:nvPr/>
        </p:nvSpPr>
        <p:spPr>
          <a:xfrm xmlns:a="http://schemas.openxmlformats.org/drawingml/2006/main">
            <a:off x="523875" y="6238875"/>
            <a:ext cx="1109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0">
                <a:solidFill>
                  <a:srgbClr val="767171"/>
                </a:solidFill>
              </a:defRPr>
            </a:pPr>
            <a:r>
              <a:rPr sz="660" b="0">
                <a:solidFill>
                  <a:srgbClr val="767171"/>
                </a:solidFill>
              </a:rPr>
              <a:t>[1] Hafner et al., DreamerV3, arXiv:2301.04104 / Nature 2025.</a:t>
            </a:r>
          </a:p>
        </p:txBody>
      </p:sp>
    </p:spTree>
    <p:extLst>
      <p:ext uri="{BB962C8B-B14F-4D97-AF65-F5344CB8AC3E}">
        <p14:creationId xmlns:p14="http://schemas.microsoft.com/office/powerpoint/2010/main" val="389574064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73" name="Google Shape;73;p5">
            <a:extLst xmlns:a="http://schemas.openxmlformats.org/drawingml/2006/main">
              <a:ext uri="{FF2B5EF4-FFF2-40B4-BE49-F238E27FC236}">
                <a16:creationId xmlns:a16="http://schemas.microsoft.com/office/drawing/2014/main" id="{0301BEA7-9C4C-9E8E-26F2-349C4B69159F}"/>
              </a:ext>
            </a:extLst>
          </p:cNvPr>
          <p:cNvSpPr>
            <a:spLocks xmlns:a="http://schemas.openxmlformats.org/drawingml/2006/main" noGrp="1"/>
          </p:cNvSpPr>
          <p:nvPr>
            <p:ph type="title" idx="0"/>
          </p:nvPr>
        </p:nvSpPr>
        <p:spPr>
          <a:xfrm xmlns:a="http://schemas.openxmlformats.org/drawingml/2006/main">
            <a:off x="444532" y="430625"/>
            <a:ext cx="11210544" cy="5577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indent="0" algn="l">
              <a:spcBef>
                <a:spcPts val="0"/>
              </a:spcBef>
              <a:spcAft>
                <a:spcPts val="0"/>
              </a:spcAft>
              <a:buNone/>
              <a:defRPr sz="2100" b="0">
                <a:solidFill>
                  <a:srgbClr val="3A3838"/>
                </a:solidFill>
              </a:defRPr>
            </a:pPr>
            <a:r>
              <a:rPr sz="2100" b="0">
                <a:solidFill>
                  <a:srgbClr val="3A3838"/>
                </a:solidFill>
              </a:rPr>
              <a:t>Current Latent Architecture: Implicit Planning Models</a:t>
            </a:r>
          </a:p>
        </p:txBody>
      </p:sp>
      <p:sp>
        <p:nvSpPr>
          <p:cNvPr id="74" name="">
            <a:extLst xmlns:a="http://schemas.openxmlformats.org/drawingml/2006/main">
              <a:ext uri="{FF2B5EF4-FFF2-40B4-BE49-F238E27FC236}">
                <a16:creationId xmlns:a16="http://schemas.microsoft.com/office/drawing/2014/main" id="{5EEAB7CE-BE48-407E-8885-68D4BE12964E}"/>
              </a:ext>
            </a:extLst>
          </p:cNvPr>
          <p:cNvSpPr>
            <a:spLocks xmlns:a="http://schemas.openxmlformats.org/drawingml/2006/main" noGrp="1"/>
          </p:cNvSpPr>
          <p:nvPr/>
        </p:nvSpPr>
        <p:spPr>
          <a:xfrm xmlns:a="http://schemas.openxmlformats.org/drawingml/2006/main">
            <a:off x="444532" y="1097280"/>
            <a:ext cx="11210544" cy="17145"/>
          </a:xfrm>
          <a:prstGeom xmlns:a="http://schemas.openxmlformats.org/drawingml/2006/main" prst="rect">
            <a:avLst/>
          </a:prstGeom>
          <a:solidFill xmlns:a="http://schemas.openxmlformats.org/drawingml/2006/main">
            <a:srgbClr val="D24726"/>
          </a:solidFill>
          <a:ln xmlns:a="http://schemas.openxmlformats.org/drawingml/2006/main" w="0">
            <a:solidFill>
              <a:srgbClr val="D24726"/>
            </a:solidFill>
            <a:prstDash val="solid"/>
          </a:ln>
        </p:spPr>
      </p:sp>
      <p:sp>
        <p:nvSpPr>
          <p:cNvPr id="75" name="">
            <a:extLst xmlns:a="http://schemas.openxmlformats.org/drawingml/2006/main">
              <a:ext uri="{FF2B5EF4-FFF2-40B4-BE49-F238E27FC236}">
                <a16:creationId xmlns:a16="http://schemas.microsoft.com/office/drawing/2014/main" id="{0A744745-12F7-4995-B730-4333B2EF3B5F}"/>
              </a:ext>
            </a:extLst>
          </p:cNvPr>
          <p:cNvSpPr>
            <a:spLocks xmlns:a="http://schemas.openxmlformats.org/drawingml/2006/main" noGrp="1"/>
          </p:cNvSpPr>
          <p:nvPr/>
        </p:nvSpPr>
        <p:spPr>
          <a:xfrm xmlns:a="http://schemas.openxmlformats.org/drawingml/2006/main">
            <a:off x="457200" y="1381125"/>
            <a:ext cx="619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3A3838"/>
                </a:solidFill>
              </a:defRPr>
            </a:pPr>
            <a:r>
              <a:rPr sz="1275" b="0">
                <a:solidFill>
                  <a:srgbClr val="3A3838"/>
                </a:solidFill>
              </a:rPr>
              <a:t>Some world models do not reconstruct the scene. They learn only the latent dynamics and task heads needed for control.</a:t>
            </a:r>
          </a:p>
        </p:txBody>
      </p:sp>
      <p:sp>
        <p:nvSpPr>
          <p:cNvPr id="76" name="">
            <a:extLst xmlns:a="http://schemas.openxmlformats.org/drawingml/2006/main">
              <a:ext uri="{FF2B5EF4-FFF2-40B4-BE49-F238E27FC236}">
                <a16:creationId xmlns:a16="http://schemas.microsoft.com/office/drawing/2014/main" id="{DDF850CE-D736-49AF-B5F8-E4FE118E1BD6}"/>
              </a:ext>
            </a:extLst>
          </p:cNvPr>
          <p:cNvSpPr>
            <a:spLocks xmlns:a="http://schemas.openxmlformats.org/drawingml/2006/main" noGrp="1"/>
          </p:cNvSpPr>
          <p:nvPr/>
        </p:nvSpPr>
        <p:spPr>
          <a:xfrm xmlns:a="http://schemas.openxmlformats.org/drawingml/2006/main">
            <a:off x="476250" y="2238375"/>
            <a:ext cx="5905500" cy="571500"/>
          </a:xfrm>
          <a:prstGeom xmlns:a="http://schemas.openxmlformats.org/drawingml/2006/main" prst="rect">
            <a:avLst/>
          </a:prstGeom>
          <a:solidFill xmlns:a="http://schemas.openxmlformats.org/drawingml/2006/main">
            <a:srgbClr val="FFFFFF"/>
          </a:solidFill>
          <a:ln xmlns:a="http://schemas.openxmlformats.org/drawingml/2006/main" w="7620">
            <a:solidFill>
              <a:srgbClr val="2F7F8F"/>
            </a:solid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3A3838"/>
                </a:solidFill>
              </a:defRPr>
            </a:pPr>
            <a:r>
              <a:rPr sz="1425" b="0">
                <a:solidFill>
                  <a:srgbClr val="3A3838"/>
                </a:solidFill>
              </a:rPr>
              <a:t>zₜ = h(sₜ)     zₜ₊₁ = d(zₜ, aₜ)     â = arg minₐ J(z, a)</a:t>
            </a:r>
          </a:p>
        </p:txBody>
      </p:sp>
      <p:sp>
        <p:nvSpPr>
          <p:cNvPr id="77" name="">
            <a:extLst xmlns:a="http://schemas.openxmlformats.org/drawingml/2006/main">
              <a:ext uri="{FF2B5EF4-FFF2-40B4-BE49-F238E27FC236}">
                <a16:creationId xmlns:a16="http://schemas.microsoft.com/office/drawing/2014/main" id="{9A2A798C-7008-44E9-9B53-74BFBF1F60A5}"/>
              </a:ext>
            </a:extLst>
          </p:cNvPr>
          <p:cNvSpPr>
            <a:spLocks xmlns:a="http://schemas.openxmlformats.org/drawingml/2006/main" noGrp="1"/>
          </p:cNvSpPr>
          <p:nvPr/>
        </p:nvSpPr>
        <p:spPr>
          <a:xfrm xmlns:a="http://schemas.openxmlformats.org/drawingml/2006/main">
            <a:off x="457200" y="3143250"/>
            <a:ext cx="5905500" cy="2714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48" b="0">
                <a:solidFill>
                  <a:srgbClr val="3A3838"/>
                </a:solidFill>
              </a:defRPr>
            </a:pPr>
            <a:r>
              <a:rPr sz="1148" b="0">
                <a:solidFill>
                  <a:srgbClr val="3A3838"/>
                </a:solidFill>
              </a:rPr>
              <a:t>• Encoder h maps the room observation to latent z.</a:t>
            </a:r>
          </a:p>
          <a:p xmlns:a="http://schemas.openxmlformats.org/drawingml/2006/main">
            <a:r>
              <a:t/>
            </a:r>
          </a:p>
          <a:p xmlns:a="http://schemas.openxmlformats.org/drawingml/2006/main">
            <a:pPr algn="l">
              <a:defRPr sz="1148" b="0">
                <a:solidFill>
                  <a:srgbClr val="3A3838"/>
                </a:solidFill>
              </a:defRPr>
            </a:pPr>
            <a:r>
              <a:rPr sz="1148" b="0">
                <a:solidFill>
                  <a:srgbClr val="3A3838"/>
                </a:solidFill>
              </a:rPr>
              <a:t>• Dynamics d predicts the next latent for a candidate action.</a:t>
            </a:r>
          </a:p>
          <a:p xmlns:a="http://schemas.openxmlformats.org/drawingml/2006/main">
            <a:r>
              <a:t/>
            </a:r>
          </a:p>
          <a:p xmlns:a="http://schemas.openxmlformats.org/drawingml/2006/main">
            <a:pPr algn="l">
              <a:defRPr sz="1148" b="0">
                <a:solidFill>
                  <a:srgbClr val="3A3838"/>
                </a:solidFill>
              </a:defRPr>
            </a:pPr>
            <a:r>
              <a:rPr sz="1148" b="0">
                <a:solidFill>
                  <a:srgbClr val="3A3838"/>
                </a:solidFill>
              </a:rPr>
              <a:t>• Reward, value, and policy heads guide latent-space planning.</a:t>
            </a:r>
          </a:p>
          <a:p xmlns:a="http://schemas.openxmlformats.org/drawingml/2006/main">
            <a:r>
              <a:t/>
            </a:r>
          </a:p>
          <a:p xmlns:a="http://schemas.openxmlformats.org/drawingml/2006/main">
            <a:pPr algn="l">
              <a:defRPr sz="1148" b="0">
                <a:solidFill>
                  <a:srgbClr val="3A3838"/>
                </a:solidFill>
              </a:defRPr>
            </a:pPr>
            <a:r>
              <a:rPr sz="1148" b="0">
                <a:solidFill>
                  <a:srgbClr val="3A3838"/>
                </a:solidFill>
              </a:rPr>
              <a:t>• Strength: efficient task-focused prediction.</a:t>
            </a:r>
          </a:p>
          <a:p xmlns:a="http://schemas.openxmlformats.org/drawingml/2006/main">
            <a:r>
              <a:t/>
            </a:r>
          </a:p>
          <a:p xmlns:a="http://schemas.openxmlformats.org/drawingml/2006/main">
            <a:pPr algn="l">
              <a:defRPr sz="1148" b="0">
                <a:solidFill>
                  <a:srgbClr val="3A3838"/>
                </a:solidFill>
              </a:defRPr>
            </a:pPr>
            <a:r>
              <a:rPr sz="1148" b="0">
                <a:solidFill>
                  <a:srgbClr val="3A3838"/>
                </a:solidFill>
              </a:rPr>
              <a:t>• Open question: which scene distinctions survive compression?</a:t>
            </a:r>
          </a:p>
        </p:txBody>
      </p:sp>
      <p:sp>
        <p:nvSpPr>
          <p:cNvPr id="78" name="">
            <a:extLst xmlns:a="http://schemas.openxmlformats.org/drawingml/2006/main">
              <a:ext uri="{FF2B5EF4-FFF2-40B4-BE49-F238E27FC236}">
                <a16:creationId xmlns:a16="http://schemas.microsoft.com/office/drawing/2014/main" id="{50D6E4E6-9C13-4928-A31B-A06A34BAB7E0}"/>
              </a:ext>
            </a:extLst>
          </p:cNvPr>
          <p:cNvSpPr>
            <a:spLocks xmlns:a="http://schemas.openxmlformats.org/drawingml/2006/main" noGrp="1"/>
          </p:cNvSpPr>
          <p:nvPr/>
        </p:nvSpPr>
        <p:spPr>
          <a:xfrm xmlns:a="http://schemas.openxmlformats.org/drawingml/2006/main">
            <a:off x="6858000" y="2476500"/>
            <a:ext cx="1333500" cy="685800"/>
          </a:xfrm>
          <a:prstGeom xmlns:a="http://schemas.openxmlformats.org/drawingml/2006/main" prst="rect">
            <a:avLst/>
          </a:prstGeom>
          <a:solidFill xmlns:a="http://schemas.openxmlformats.org/drawingml/2006/main">
            <a:srgbClr val="DDEBF7"/>
          </a:solidFill>
          <a:ln xmlns:a="http://schemas.openxmlformats.org/drawingml/2006/main" w="9525">
            <a:solidFill>
              <a:srgbClr val="B7B7B7"/>
            </a:solidFill>
            <a:prstDash val="solid"/>
          </a:ln>
        </p:spPr>
      </p:sp>
      <p:sp>
        <p:nvSpPr>
          <p:cNvPr id="79" name="">
            <a:extLst xmlns:a="http://schemas.openxmlformats.org/drawingml/2006/main">
              <a:ext uri="{FF2B5EF4-FFF2-40B4-BE49-F238E27FC236}">
                <a16:creationId xmlns:a16="http://schemas.microsoft.com/office/drawing/2014/main" id="{6C083FFB-B5A8-404A-ABD3-4102530F4D00}"/>
              </a:ext>
            </a:extLst>
          </p:cNvPr>
          <p:cNvSpPr>
            <a:spLocks xmlns:a="http://schemas.openxmlformats.org/drawingml/2006/main" noGrp="1"/>
          </p:cNvSpPr>
          <p:nvPr/>
        </p:nvSpPr>
        <p:spPr>
          <a:xfrm xmlns:a="http://schemas.openxmlformats.org/drawingml/2006/main">
            <a:off x="6934200" y="2571750"/>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3A3838"/>
                </a:solidFill>
              </a:defRPr>
            </a:pPr>
            <a:r>
              <a:rPr sz="1050" b="1">
                <a:solidFill>
                  <a:srgbClr val="3A3838"/>
                </a:solidFill>
              </a:rPr>
              <a:t>latent zₜ</a:t>
            </a:r>
          </a:p>
        </p:txBody>
      </p:sp>
      <p:sp>
        <p:nvSpPr>
          <p:cNvPr id="80" name="">
            <a:extLst xmlns:a="http://schemas.openxmlformats.org/drawingml/2006/main">
              <a:ext uri="{FF2B5EF4-FFF2-40B4-BE49-F238E27FC236}">
                <a16:creationId xmlns:a16="http://schemas.microsoft.com/office/drawing/2014/main" id="{4E5E4A96-23D2-44C9-8423-345DEECD9BCE}"/>
              </a:ext>
            </a:extLst>
          </p:cNvPr>
          <p:cNvSpPr>
            <a:spLocks xmlns:a="http://schemas.openxmlformats.org/drawingml/2006/main" noGrp="1"/>
          </p:cNvSpPr>
          <p:nvPr/>
        </p:nvSpPr>
        <p:spPr>
          <a:xfrm xmlns:a="http://schemas.openxmlformats.org/drawingml/2006/main">
            <a:off x="6934200" y="2819400"/>
            <a:ext cx="1181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b="0">
                <a:solidFill>
                  <a:srgbClr val="767171"/>
                </a:solidFill>
              </a:defRPr>
            </a:pPr>
            <a:r>
              <a:rPr sz="788" b="0">
                <a:solidFill>
                  <a:srgbClr val="767171"/>
                </a:solidFill>
              </a:rPr>
              <a:t>encode room state</a:t>
            </a:r>
          </a:p>
        </p:txBody>
      </p:sp>
      <p:sp>
        <p:nvSpPr>
          <p:cNvPr id="81" name="">
            <a:extLst xmlns:a="http://schemas.openxmlformats.org/drawingml/2006/main">
              <a:ext uri="{FF2B5EF4-FFF2-40B4-BE49-F238E27FC236}">
                <a16:creationId xmlns:a16="http://schemas.microsoft.com/office/drawing/2014/main" id="{BC27C37F-7343-4331-B295-925724535C57}"/>
              </a:ext>
            </a:extLst>
          </p:cNvPr>
          <p:cNvSpPr>
            <a:spLocks xmlns:a="http://schemas.openxmlformats.org/drawingml/2006/main" noGrp="1"/>
          </p:cNvSpPr>
          <p:nvPr/>
        </p:nvSpPr>
        <p:spPr>
          <a:xfrm xmlns:a="http://schemas.openxmlformats.org/drawingml/2006/main">
            <a:off x="8201025" y="2647950"/>
            <a:ext cx="3143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D24726"/>
                </a:solidFill>
              </a:defRPr>
            </a:pPr>
            <a:r>
              <a:rPr sz="1500" b="1">
                <a:solidFill>
                  <a:srgbClr val="D24726"/>
                </a:solidFill>
              </a:rPr>
              <a:t>→</a:t>
            </a:r>
          </a:p>
        </p:txBody>
      </p:sp>
      <p:sp>
        <p:nvSpPr>
          <p:cNvPr id="82" name="">
            <a:extLst xmlns:a="http://schemas.openxmlformats.org/drawingml/2006/main">
              <a:ext uri="{FF2B5EF4-FFF2-40B4-BE49-F238E27FC236}">
                <a16:creationId xmlns:a16="http://schemas.microsoft.com/office/drawing/2014/main" id="{6F8AC1C4-DD38-4912-98F2-3A4A58FCFA8F}"/>
              </a:ext>
            </a:extLst>
          </p:cNvPr>
          <p:cNvSpPr>
            <a:spLocks xmlns:a="http://schemas.openxmlformats.org/drawingml/2006/main" noGrp="1"/>
          </p:cNvSpPr>
          <p:nvPr/>
        </p:nvSpPr>
        <p:spPr>
          <a:xfrm xmlns:a="http://schemas.openxmlformats.org/drawingml/2006/main">
            <a:off x="8524875" y="2476500"/>
            <a:ext cx="1333500" cy="685800"/>
          </a:xfrm>
          <a:prstGeom xmlns:a="http://schemas.openxmlformats.org/drawingml/2006/main" prst="rect">
            <a:avLst/>
          </a:prstGeom>
          <a:solidFill xmlns:a="http://schemas.openxmlformats.org/drawingml/2006/main">
            <a:srgbClr val="FCE4D6"/>
          </a:solidFill>
          <a:ln xmlns:a="http://schemas.openxmlformats.org/drawingml/2006/main" w="9525">
            <a:solidFill>
              <a:srgbClr val="B7B7B7"/>
            </a:solidFill>
            <a:prstDash val="solid"/>
          </a:ln>
        </p:spPr>
      </p:sp>
      <p:sp>
        <p:nvSpPr>
          <p:cNvPr id="83" name="">
            <a:extLst xmlns:a="http://schemas.openxmlformats.org/drawingml/2006/main">
              <a:ext uri="{FF2B5EF4-FFF2-40B4-BE49-F238E27FC236}">
                <a16:creationId xmlns:a16="http://schemas.microsoft.com/office/drawing/2014/main" id="{1F130C83-9ADC-4173-B415-2603329D36B4}"/>
              </a:ext>
            </a:extLst>
          </p:cNvPr>
          <p:cNvSpPr>
            <a:spLocks xmlns:a="http://schemas.openxmlformats.org/drawingml/2006/main" noGrp="1"/>
          </p:cNvSpPr>
          <p:nvPr/>
        </p:nvSpPr>
        <p:spPr>
          <a:xfrm xmlns:a="http://schemas.openxmlformats.org/drawingml/2006/main">
            <a:off x="8601075" y="2571750"/>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3A3838"/>
                </a:solidFill>
              </a:defRPr>
            </a:pPr>
            <a:r>
              <a:rPr sz="1050" b="1">
                <a:solidFill>
                  <a:srgbClr val="3A3838"/>
                </a:solidFill>
              </a:rPr>
              <a:t>action rollouts</a:t>
            </a:r>
          </a:p>
        </p:txBody>
      </p:sp>
      <p:sp>
        <p:nvSpPr>
          <p:cNvPr id="84" name="">
            <a:extLst xmlns:a="http://schemas.openxmlformats.org/drawingml/2006/main">
              <a:ext uri="{FF2B5EF4-FFF2-40B4-BE49-F238E27FC236}">
                <a16:creationId xmlns:a16="http://schemas.microsoft.com/office/drawing/2014/main" id="{0F368DED-826D-400F-AAD9-78D88AAE0716}"/>
              </a:ext>
            </a:extLst>
          </p:cNvPr>
          <p:cNvSpPr>
            <a:spLocks xmlns:a="http://schemas.openxmlformats.org/drawingml/2006/main" noGrp="1"/>
          </p:cNvSpPr>
          <p:nvPr/>
        </p:nvSpPr>
        <p:spPr>
          <a:xfrm xmlns:a="http://schemas.openxmlformats.org/drawingml/2006/main">
            <a:off x="8601075" y="2819400"/>
            <a:ext cx="1181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b="0">
                <a:solidFill>
                  <a:srgbClr val="767171"/>
                </a:solidFill>
              </a:defRPr>
            </a:pPr>
            <a:r>
              <a:rPr sz="788" b="0">
                <a:solidFill>
                  <a:srgbClr val="767171"/>
                </a:solidFill>
              </a:rPr>
              <a:t>d(z, a¹…aᴷ)</a:t>
            </a:r>
          </a:p>
        </p:txBody>
      </p:sp>
      <p:sp>
        <p:nvSpPr>
          <p:cNvPr id="85" name="">
            <a:extLst xmlns:a="http://schemas.openxmlformats.org/drawingml/2006/main">
              <a:ext uri="{FF2B5EF4-FFF2-40B4-BE49-F238E27FC236}">
                <a16:creationId xmlns:a16="http://schemas.microsoft.com/office/drawing/2014/main" id="{0860BC93-4132-46F5-906C-70E23219D620}"/>
              </a:ext>
            </a:extLst>
          </p:cNvPr>
          <p:cNvSpPr>
            <a:spLocks xmlns:a="http://schemas.openxmlformats.org/drawingml/2006/main" noGrp="1"/>
          </p:cNvSpPr>
          <p:nvPr/>
        </p:nvSpPr>
        <p:spPr>
          <a:xfrm xmlns:a="http://schemas.openxmlformats.org/drawingml/2006/main">
            <a:off x="9867900" y="2647950"/>
            <a:ext cx="3143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D24726"/>
                </a:solidFill>
              </a:defRPr>
            </a:pPr>
            <a:r>
              <a:rPr sz="1500" b="1">
                <a:solidFill>
                  <a:srgbClr val="D24726"/>
                </a:solidFill>
              </a:rPr>
              <a:t>→</a:t>
            </a:r>
          </a:p>
        </p:txBody>
      </p:sp>
      <p:sp>
        <p:nvSpPr>
          <p:cNvPr id="86" name="">
            <a:extLst xmlns:a="http://schemas.openxmlformats.org/drawingml/2006/main">
              <a:ext uri="{FF2B5EF4-FFF2-40B4-BE49-F238E27FC236}">
                <a16:creationId xmlns:a16="http://schemas.microsoft.com/office/drawing/2014/main" id="{33729FC4-59E2-44E4-A4AB-2BF65D87D01E}"/>
              </a:ext>
            </a:extLst>
          </p:cNvPr>
          <p:cNvSpPr>
            <a:spLocks xmlns:a="http://schemas.openxmlformats.org/drawingml/2006/main" noGrp="1"/>
          </p:cNvSpPr>
          <p:nvPr/>
        </p:nvSpPr>
        <p:spPr>
          <a:xfrm xmlns:a="http://schemas.openxmlformats.org/drawingml/2006/main">
            <a:off x="10191750" y="2476500"/>
            <a:ext cx="1333500" cy="685800"/>
          </a:xfrm>
          <a:prstGeom xmlns:a="http://schemas.openxmlformats.org/drawingml/2006/main" prst="rect">
            <a:avLst/>
          </a:prstGeom>
          <a:solidFill xmlns:a="http://schemas.openxmlformats.org/drawingml/2006/main">
            <a:srgbClr val="E2F0D9"/>
          </a:solidFill>
          <a:ln xmlns:a="http://schemas.openxmlformats.org/drawingml/2006/main" w="13335">
            <a:solidFill>
              <a:srgbClr val="D24726"/>
            </a:solidFill>
            <a:prstDash val="solid"/>
          </a:ln>
        </p:spPr>
      </p:sp>
      <p:sp>
        <p:nvSpPr>
          <p:cNvPr id="87" name="">
            <a:extLst xmlns:a="http://schemas.openxmlformats.org/drawingml/2006/main">
              <a:ext uri="{FF2B5EF4-FFF2-40B4-BE49-F238E27FC236}">
                <a16:creationId xmlns:a16="http://schemas.microsoft.com/office/drawing/2014/main" id="{394DA489-6169-4F34-80B5-C060990A85A4}"/>
              </a:ext>
            </a:extLst>
          </p:cNvPr>
          <p:cNvSpPr>
            <a:spLocks xmlns:a="http://schemas.openxmlformats.org/drawingml/2006/main" noGrp="1"/>
          </p:cNvSpPr>
          <p:nvPr/>
        </p:nvSpPr>
        <p:spPr>
          <a:xfrm xmlns:a="http://schemas.openxmlformats.org/drawingml/2006/main">
            <a:off x="10267950" y="2571750"/>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3A3838"/>
                </a:solidFill>
              </a:defRPr>
            </a:pPr>
            <a:r>
              <a:rPr sz="1050" b="1">
                <a:solidFill>
                  <a:srgbClr val="3A3838"/>
                </a:solidFill>
              </a:rPr>
              <a:t>best action</a:t>
            </a:r>
          </a:p>
        </p:txBody>
      </p:sp>
      <p:sp>
        <p:nvSpPr>
          <p:cNvPr id="88" name="">
            <a:extLst xmlns:a="http://schemas.openxmlformats.org/drawingml/2006/main">
              <a:ext uri="{FF2B5EF4-FFF2-40B4-BE49-F238E27FC236}">
                <a16:creationId xmlns:a16="http://schemas.microsoft.com/office/drawing/2014/main" id="{547E2787-3D8F-44B5-81EC-3ED99761A156}"/>
              </a:ext>
            </a:extLst>
          </p:cNvPr>
          <p:cNvSpPr>
            <a:spLocks xmlns:a="http://schemas.openxmlformats.org/drawingml/2006/main" noGrp="1"/>
          </p:cNvSpPr>
          <p:nvPr/>
        </p:nvSpPr>
        <p:spPr>
          <a:xfrm xmlns:a="http://schemas.openxmlformats.org/drawingml/2006/main">
            <a:off x="10267950" y="2819400"/>
            <a:ext cx="1181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b="0">
                <a:solidFill>
                  <a:srgbClr val="767171"/>
                </a:solidFill>
              </a:defRPr>
            </a:pPr>
            <a:r>
              <a:rPr sz="788" b="0">
                <a:solidFill>
                  <a:srgbClr val="767171"/>
                </a:solidFill>
              </a:rPr>
              <a:t>lowest predicted cost</a:t>
            </a:r>
          </a:p>
        </p:txBody>
      </p:sp>
      <p:sp>
        <p:nvSpPr>
          <p:cNvPr id="89" name="">
            <a:extLst xmlns:a="http://schemas.openxmlformats.org/drawingml/2006/main">
              <a:ext uri="{FF2B5EF4-FFF2-40B4-BE49-F238E27FC236}">
                <a16:creationId xmlns:a16="http://schemas.microsoft.com/office/drawing/2014/main" id="{D9FB399F-9CB9-4611-818A-576FDC35F7ED}"/>
              </a:ext>
            </a:extLst>
          </p:cNvPr>
          <p:cNvSpPr>
            <a:spLocks xmlns:a="http://schemas.openxmlformats.org/drawingml/2006/main" noGrp="1"/>
          </p:cNvSpPr>
          <p:nvPr/>
        </p:nvSpPr>
        <p:spPr>
          <a:xfrm xmlns:a="http://schemas.openxmlformats.org/drawingml/2006/main">
            <a:off x="7067550" y="3524250"/>
            <a:ext cx="4238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88" b="0">
                <a:solidFill>
                  <a:srgbClr val="3A3838"/>
                </a:solidFill>
              </a:defRPr>
            </a:pPr>
            <a:r>
              <a:rPr sz="1088" b="0">
                <a:solidFill>
                  <a:srgbClr val="3A3838"/>
                </a:solidFill>
              </a:rPr>
              <a:t>TD-MPC2 is a strong matched baseline: it plans directly in a learned decoder-free latent space.</a:t>
            </a:r>
          </a:p>
        </p:txBody>
      </p:sp>
      <p:sp>
        <p:nvSpPr>
          <p:cNvPr id="90" name="">
            <a:extLst xmlns:a="http://schemas.openxmlformats.org/drawingml/2006/main">
              <a:ext uri="{FF2B5EF4-FFF2-40B4-BE49-F238E27FC236}">
                <a16:creationId xmlns:a16="http://schemas.microsoft.com/office/drawing/2014/main" id="{29072E8A-3B1E-47E8-A455-9EF563A22D14}"/>
              </a:ext>
            </a:extLst>
          </p:cNvPr>
          <p:cNvSpPr>
            <a:spLocks xmlns:a="http://schemas.openxmlformats.org/drawingml/2006/main" noGrp="1"/>
          </p:cNvSpPr>
          <p:nvPr/>
        </p:nvSpPr>
        <p:spPr>
          <a:xfrm xmlns:a="http://schemas.openxmlformats.org/drawingml/2006/main">
            <a:off x="523875" y="6238875"/>
            <a:ext cx="1109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0">
                <a:solidFill>
                  <a:srgbClr val="767171"/>
                </a:solidFill>
              </a:defRPr>
            </a:pPr>
            <a:r>
              <a:rPr sz="660" b="0">
                <a:solidFill>
                  <a:srgbClr val="767171"/>
                </a:solidFill>
              </a:rPr>
              <a:t>[2] Hansen, Su &amp; Wang, TD-MPC2, ICLR 2024, arXiv:2310.16828.</a:t>
            </a:r>
          </a:p>
        </p:txBody>
      </p:sp>
    </p:spTree>
    <p:extLst>
      <p:ext uri="{BB962C8B-B14F-4D97-AF65-F5344CB8AC3E}">
        <p14:creationId xmlns:p14="http://schemas.microsoft.com/office/powerpoint/2010/main" val="186314633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73" name="Google Shape;73;p5">
            <a:extLst xmlns:a="http://schemas.openxmlformats.org/drawingml/2006/main">
              <a:ext uri="{FF2B5EF4-FFF2-40B4-BE49-F238E27FC236}">
                <a16:creationId xmlns:a16="http://schemas.microsoft.com/office/drawing/2014/main" id="{AAF7AA7B-7C74-4C9D-AA7E-67037F0A196E}"/>
              </a:ext>
            </a:extLst>
          </p:cNvPr>
          <p:cNvSpPr>
            <a:spLocks xmlns:a="http://schemas.openxmlformats.org/drawingml/2006/main" noGrp="1"/>
          </p:cNvSpPr>
          <p:nvPr>
            <p:ph type="title" idx="0"/>
          </p:nvPr>
        </p:nvSpPr>
        <p:spPr>
          <a:xfrm xmlns:a="http://schemas.openxmlformats.org/drawingml/2006/main">
            <a:off x="444532" y="430625"/>
            <a:ext cx="11210544" cy="5577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indent="0" algn="l">
              <a:spcBef>
                <a:spcPts val="0"/>
              </a:spcBef>
              <a:spcAft>
                <a:spcPts val="0"/>
              </a:spcAft>
              <a:buNone/>
              <a:defRPr sz="2100" b="0">
                <a:solidFill>
                  <a:srgbClr val="3A3838"/>
                </a:solidFill>
              </a:defRPr>
            </a:pPr>
            <a:r>
              <a:rPr sz="2100" b="0">
                <a:solidFill>
                  <a:srgbClr val="3A3838"/>
                </a:solidFill>
              </a:rPr>
              <a:t>Room Prediction: One Observation, Several Consistent Futures</a:t>
            </a:r>
          </a:p>
        </p:txBody>
      </p:sp>
      <p:sp>
        <p:nvSpPr>
          <p:cNvPr id="74" name="">
            <a:extLst xmlns:a="http://schemas.openxmlformats.org/drawingml/2006/main">
              <a:ext uri="{FF2B5EF4-FFF2-40B4-BE49-F238E27FC236}">
                <a16:creationId xmlns:a16="http://schemas.microsoft.com/office/drawing/2014/main" id="{1E7A9867-4C71-461B-80FC-DB9DE86F68C6}"/>
              </a:ext>
            </a:extLst>
          </p:cNvPr>
          <p:cNvSpPr>
            <a:spLocks xmlns:a="http://schemas.openxmlformats.org/drawingml/2006/main" noGrp="1"/>
          </p:cNvSpPr>
          <p:nvPr/>
        </p:nvSpPr>
        <p:spPr>
          <a:xfrm xmlns:a="http://schemas.openxmlformats.org/drawingml/2006/main">
            <a:off x="444532" y="1097280"/>
            <a:ext cx="11210544" cy="17145"/>
          </a:xfrm>
          <a:prstGeom xmlns:a="http://schemas.openxmlformats.org/drawingml/2006/main" prst="rect">
            <a:avLst/>
          </a:prstGeom>
          <a:solidFill xmlns:a="http://schemas.openxmlformats.org/drawingml/2006/main">
            <a:srgbClr val="D24726"/>
          </a:solidFill>
          <a:ln xmlns:a="http://schemas.openxmlformats.org/drawingml/2006/main" w="0">
            <a:solidFill>
              <a:srgbClr val="D24726"/>
            </a:solidFill>
            <a:prstDash val="solid"/>
          </a:ln>
        </p:spPr>
      </p:sp>
      <p:sp>
        <p:nvSpPr>
          <p:cNvPr id="75" name="">
            <a:extLst xmlns:a="http://schemas.openxmlformats.org/drawingml/2006/main">
              <a:ext uri="{FF2B5EF4-FFF2-40B4-BE49-F238E27FC236}">
                <a16:creationId xmlns:a16="http://schemas.microsoft.com/office/drawing/2014/main" id="{194E0320-7FAB-4636-B094-143619B223C7}"/>
              </a:ext>
            </a:extLst>
          </p:cNvPr>
          <p:cNvSpPr>
            <a:spLocks xmlns:a="http://schemas.openxmlformats.org/drawingml/2006/main" noGrp="1"/>
          </p:cNvSpPr>
          <p:nvPr/>
        </p:nvSpPr>
        <p:spPr>
          <a:xfrm xmlns:a="http://schemas.openxmlformats.org/drawingml/2006/main">
            <a:off x="457200" y="1381125"/>
            <a:ext cx="5905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0">
                <a:solidFill>
                  <a:srgbClr val="3A3838"/>
                </a:solidFill>
              </a:defRPr>
            </a:pPr>
            <a:r>
              <a:rPr sz="1238" b="0">
                <a:solidFill>
                  <a:srgbClr val="3A3838"/>
                </a:solidFill>
              </a:rPr>
              <a:t>A service robot watches a technician push a cart behind an opaque divider. The cart is temporarily hidden, and a sound could indicate several next states.</a:t>
            </a:r>
          </a:p>
        </p:txBody>
      </p:sp>
      <p:sp>
        <p:nvSpPr>
          <p:cNvPr id="76" name="">
            <a:extLst xmlns:a="http://schemas.openxmlformats.org/drawingml/2006/main">
              <a:ext uri="{FF2B5EF4-FFF2-40B4-BE49-F238E27FC236}">
                <a16:creationId xmlns:a16="http://schemas.microsoft.com/office/drawing/2014/main" id="{FC6CBC26-FE69-483A-BC76-91D73D5277BD}"/>
              </a:ext>
            </a:extLst>
          </p:cNvPr>
          <p:cNvSpPr>
            <a:spLocks xmlns:a="http://schemas.openxmlformats.org/drawingml/2006/main" noGrp="1"/>
          </p:cNvSpPr>
          <p:nvPr/>
        </p:nvSpPr>
        <p:spPr>
          <a:xfrm xmlns:a="http://schemas.openxmlformats.org/drawingml/2006/main">
            <a:off x="457200" y="2476500"/>
            <a:ext cx="5524500" cy="3286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10" b="0">
                <a:solidFill>
                  <a:srgbClr val="3A3838"/>
                </a:solidFill>
              </a:defRPr>
            </a:pPr>
            <a:r>
              <a:rPr sz="1110" b="0">
                <a:solidFill>
                  <a:srgbClr val="3A3838"/>
                </a:solidFill>
              </a:rPr>
              <a:t>The model must preserve:</a:t>
            </a:r>
          </a:p>
          <a:p xmlns:a="http://schemas.openxmlformats.org/drawingml/2006/main">
            <a:r>
              <a:t/>
            </a:r>
          </a:p>
          <a:p xmlns:a="http://schemas.openxmlformats.org/drawingml/2006/main">
            <a:pPr algn="l">
              <a:defRPr sz="1110" b="0">
                <a:solidFill>
                  <a:srgbClr val="3A3838"/>
                </a:solidFill>
              </a:defRPr>
            </a:pPr>
            <a:r>
              <a:rPr sz="1110" b="0">
                <a:solidFill>
                  <a:srgbClr val="3A3838"/>
                </a:solidFill>
              </a:rPr>
              <a:t>• where the cart may reappear;</a:t>
            </a:r>
          </a:p>
          <a:p xmlns:a="http://schemas.openxmlformats.org/drawingml/2006/main">
            <a:r>
              <a:t/>
            </a:r>
          </a:p>
          <a:p xmlns:a="http://schemas.openxmlformats.org/drawingml/2006/main">
            <a:pPr algn="l">
              <a:defRPr sz="1110" b="0">
                <a:solidFill>
                  <a:srgbClr val="3A3838"/>
                </a:solidFill>
              </a:defRPr>
            </a:pPr>
            <a:r>
              <a:rPr sz="1110" b="0">
                <a:solidFill>
                  <a:srgbClr val="3A3838"/>
                </a:solidFill>
              </a:rPr>
              <a:t>• whether the technician is still moving with it;</a:t>
            </a:r>
          </a:p>
          <a:p xmlns:a="http://schemas.openxmlformats.org/drawingml/2006/main">
            <a:r>
              <a:t/>
            </a:r>
          </a:p>
          <a:p xmlns:a="http://schemas.openxmlformats.org/drawingml/2006/main">
            <a:pPr algn="l">
              <a:defRPr sz="1110" b="0">
                <a:solidFill>
                  <a:srgbClr val="3A3838"/>
                </a:solidFill>
              </a:defRPr>
            </a:pPr>
            <a:r>
              <a:rPr sz="1110" b="0">
                <a:solidFill>
                  <a:srgbClr val="3A3838"/>
                </a:solidFill>
              </a:rPr>
              <a:t>• how the divider changes visibility;</a:t>
            </a:r>
          </a:p>
          <a:p xmlns:a="http://schemas.openxmlformats.org/drawingml/2006/main">
            <a:r>
              <a:t/>
            </a:r>
          </a:p>
          <a:p xmlns:a="http://schemas.openxmlformats.org/drawingml/2006/main">
            <a:pPr algn="l">
              <a:defRPr sz="1110" b="0">
                <a:solidFill>
                  <a:srgbClr val="3A3838"/>
                </a:solidFill>
              </a:defRPr>
            </a:pPr>
            <a:r>
              <a:rPr sz="1110" b="0">
                <a:solidFill>
                  <a:srgbClr val="3A3838"/>
                </a:solidFill>
              </a:rPr>
              <a:t>• which robot action reveals useful evidence;</a:t>
            </a:r>
          </a:p>
          <a:p xmlns:a="http://schemas.openxmlformats.org/drawingml/2006/main">
            <a:r>
              <a:t/>
            </a:r>
          </a:p>
          <a:p xmlns:a="http://schemas.openxmlformats.org/drawingml/2006/main">
            <a:pPr algn="l">
              <a:defRPr sz="1110" b="0">
                <a:solidFill>
                  <a:srgbClr val="3A3838"/>
                </a:solidFill>
              </a:defRPr>
            </a:pPr>
            <a:r>
              <a:rPr sz="1110" b="0">
                <a:solidFill>
                  <a:srgbClr val="3A3838"/>
                </a:solidFill>
              </a:rPr>
              <a:t>• confidence in each complete future—not just each variable separately.</a:t>
            </a:r>
          </a:p>
        </p:txBody>
      </p:sp>
      <p:sp>
        <p:nvSpPr>
          <p:cNvPr id="77" name="">
            <a:extLst xmlns:a="http://schemas.openxmlformats.org/drawingml/2006/main">
              <a:ext uri="{FF2B5EF4-FFF2-40B4-BE49-F238E27FC236}">
                <a16:creationId xmlns:a16="http://schemas.microsoft.com/office/drawing/2014/main" id="{324AE393-F761-4EF0-A371-BF916CD63BD6}"/>
              </a:ext>
            </a:extLst>
          </p:cNvPr>
          <p:cNvSpPr>
            <a:spLocks xmlns:a="http://schemas.openxmlformats.org/drawingml/2006/main" noGrp="1"/>
          </p:cNvSpPr>
          <p:nvPr/>
        </p:nvSpPr>
        <p:spPr>
          <a:xfrm xmlns:a="http://schemas.openxmlformats.org/drawingml/2006/main">
            <a:off x="6953250" y="2095500"/>
            <a:ext cx="4095750" cy="3143250"/>
          </a:xfrm>
          <a:prstGeom xmlns:a="http://schemas.openxmlformats.org/drawingml/2006/main" prst="rect">
            <a:avLst/>
          </a:prstGeom>
          <a:solidFill xmlns:a="http://schemas.openxmlformats.org/drawingml/2006/main">
            <a:srgbClr val="FFFFFF"/>
          </a:solidFill>
          <a:ln xmlns:a="http://schemas.openxmlformats.org/drawingml/2006/main" w="10478">
            <a:solidFill>
              <a:srgbClr val="3A3838"/>
            </a:solidFill>
            <a:prstDash val="solid"/>
          </a:ln>
        </p:spPr>
      </p:sp>
      <p:sp>
        <p:nvSpPr>
          <p:cNvPr id="78" name="">
            <a:extLst xmlns:a="http://schemas.openxmlformats.org/drawingml/2006/main">
              <a:ext uri="{FF2B5EF4-FFF2-40B4-BE49-F238E27FC236}">
                <a16:creationId xmlns:a16="http://schemas.microsoft.com/office/drawing/2014/main" id="{F598C25F-E03E-4108-B840-4D825DAC19B0}"/>
              </a:ext>
            </a:extLst>
          </p:cNvPr>
          <p:cNvSpPr>
            <a:spLocks xmlns:a="http://schemas.openxmlformats.org/drawingml/2006/main" noGrp="1"/>
          </p:cNvSpPr>
          <p:nvPr/>
        </p:nvSpPr>
        <p:spPr>
          <a:xfrm xmlns:a="http://schemas.openxmlformats.org/drawingml/2006/main">
            <a:off x="7362825" y="2661285"/>
            <a:ext cx="2948940" cy="0"/>
          </a:xfrm>
          <a:prstGeom xmlns:a="http://schemas.openxmlformats.org/drawingml/2006/main" prst="line">
            <a:avLst/>
          </a:prstGeom>
          <a:noFill xmlns:a="http://schemas.openxmlformats.org/drawingml/2006/main"/>
          <a:ln xmlns:a="http://schemas.openxmlformats.org/drawingml/2006/main" w="9525">
            <a:solidFill>
              <a:srgbClr val="B7B7B7"/>
            </a:solidFill>
            <a:prstDash val="solid"/>
          </a:ln>
        </p:spPr>
      </p:sp>
      <p:sp>
        <p:nvSpPr>
          <p:cNvPr id="79" name="">
            <a:extLst xmlns:a="http://schemas.openxmlformats.org/drawingml/2006/main">
              <a:ext uri="{FF2B5EF4-FFF2-40B4-BE49-F238E27FC236}">
                <a16:creationId xmlns:a16="http://schemas.microsoft.com/office/drawing/2014/main" id="{8BA09F7C-A9A0-4F24-AA56-CC64A7B7933A}"/>
              </a:ext>
            </a:extLst>
          </p:cNvPr>
          <p:cNvSpPr>
            <a:spLocks xmlns:a="http://schemas.openxmlformats.org/drawingml/2006/main" noGrp="1"/>
          </p:cNvSpPr>
          <p:nvPr/>
        </p:nvSpPr>
        <p:spPr>
          <a:xfrm xmlns:a="http://schemas.openxmlformats.org/drawingml/2006/main">
            <a:off x="10066020" y="2158365"/>
            <a:ext cx="573405" cy="534353"/>
          </a:xfrm>
          <a:prstGeom xmlns:a="http://schemas.openxmlformats.org/drawingml/2006/main" prst="rect">
            <a:avLst/>
          </a:prstGeom>
          <a:solidFill xmlns:a="http://schemas.openxmlformats.org/drawingml/2006/main">
            <a:srgbClr val="DDEBF7"/>
          </a:solidFill>
          <a:ln xmlns:a="http://schemas.openxmlformats.org/drawingml/2006/main" w="7620">
            <a:solidFill>
              <a:srgbClr val="4472C4"/>
            </a:solidFill>
            <a:prstDash val="solid"/>
          </a:ln>
        </p:spPr>
      </p:sp>
      <p:sp>
        <p:nvSpPr>
          <p:cNvPr id="80" name="">
            <a:extLst xmlns:a="http://schemas.openxmlformats.org/drawingml/2006/main">
              <a:ext uri="{FF2B5EF4-FFF2-40B4-BE49-F238E27FC236}">
                <a16:creationId xmlns:a16="http://schemas.microsoft.com/office/drawing/2014/main" id="{1DCF8642-014B-452C-8634-F7E31927454A}"/>
              </a:ext>
            </a:extLst>
          </p:cNvPr>
          <p:cNvSpPr>
            <a:spLocks xmlns:a="http://schemas.openxmlformats.org/drawingml/2006/main" noGrp="1"/>
          </p:cNvSpPr>
          <p:nvPr/>
        </p:nvSpPr>
        <p:spPr>
          <a:xfrm xmlns:a="http://schemas.openxmlformats.org/drawingml/2006/main">
            <a:off x="8714423" y="2975610"/>
            <a:ext cx="286703" cy="1571625"/>
          </a:xfrm>
          <a:prstGeom xmlns:a="http://schemas.openxmlformats.org/drawingml/2006/main" prst="rect">
            <a:avLst/>
          </a:prstGeom>
          <a:solidFill xmlns:a="http://schemas.openxmlformats.org/drawingml/2006/main">
            <a:srgbClr val="D9D9D9"/>
          </a:solidFill>
          <a:ln xmlns:a="http://schemas.openxmlformats.org/drawingml/2006/main" w="7620">
            <a:solidFill>
              <a:srgbClr val="767171"/>
            </a:solidFill>
            <a:prstDash val="solid"/>
          </a:ln>
        </p:spPr>
      </p:sp>
      <p:sp>
        <p:nvSpPr>
          <p:cNvPr id="81" name="">
            <a:extLst xmlns:a="http://schemas.openxmlformats.org/drawingml/2006/main">
              <a:ext uri="{FF2B5EF4-FFF2-40B4-BE49-F238E27FC236}">
                <a16:creationId xmlns:a16="http://schemas.microsoft.com/office/drawing/2014/main" id="{38B3BB82-C6B0-4AEA-9684-12A93B301E91}"/>
              </a:ext>
            </a:extLst>
          </p:cNvPr>
          <p:cNvSpPr>
            <a:spLocks xmlns:a="http://schemas.openxmlformats.org/drawingml/2006/main" noGrp="1"/>
          </p:cNvSpPr>
          <p:nvPr/>
        </p:nvSpPr>
        <p:spPr>
          <a:xfrm xmlns:a="http://schemas.openxmlformats.org/drawingml/2006/main">
            <a:off x="7362825" y="4295775"/>
            <a:ext cx="532448" cy="377190"/>
          </a:xfrm>
          <a:prstGeom xmlns:a="http://schemas.openxmlformats.org/drawingml/2006/main" prst="rect">
            <a:avLst/>
          </a:prstGeom>
          <a:solidFill xmlns:a="http://schemas.openxmlformats.org/drawingml/2006/main">
            <a:srgbClr val="DDEBF7"/>
          </a:solidFill>
          <a:ln xmlns:a="http://schemas.openxmlformats.org/drawingml/2006/main" w="9525">
            <a:solidFill>
              <a:srgbClr val="4472C4"/>
            </a:solidFill>
            <a:prstDash val="solid"/>
          </a:ln>
        </p:spPr>
      </p:sp>
      <p:sp>
        <p:nvSpPr>
          <p:cNvPr id="82" name="">
            <a:extLst xmlns:a="http://schemas.openxmlformats.org/drawingml/2006/main">
              <a:ext uri="{FF2B5EF4-FFF2-40B4-BE49-F238E27FC236}">
                <a16:creationId xmlns:a16="http://schemas.microsoft.com/office/drawing/2014/main" id="{7F52F9A9-9E04-4E7B-B01D-3FF49DF3C163}"/>
              </a:ext>
            </a:extLst>
          </p:cNvPr>
          <p:cNvSpPr>
            <a:spLocks xmlns:a="http://schemas.openxmlformats.org/drawingml/2006/main" noGrp="1"/>
          </p:cNvSpPr>
          <p:nvPr/>
        </p:nvSpPr>
        <p:spPr>
          <a:xfrm xmlns:a="http://schemas.openxmlformats.org/drawingml/2006/main">
            <a:off x="7342346" y="4405789"/>
            <a:ext cx="57340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638" b="1">
                <a:solidFill>
                  <a:srgbClr val="4472C4"/>
                </a:solidFill>
              </a:defRPr>
            </a:pPr>
            <a:r>
              <a:rPr sz="638" b="1">
                <a:solidFill>
                  <a:srgbClr val="4472C4"/>
                </a:solidFill>
              </a:rPr>
              <a:t>robot</a:t>
            </a:r>
          </a:p>
        </p:txBody>
      </p:sp>
      <p:sp>
        <p:nvSpPr>
          <p:cNvPr id="83" name="">
            <a:extLst xmlns:a="http://schemas.openxmlformats.org/drawingml/2006/main">
              <a:ext uri="{FF2B5EF4-FFF2-40B4-BE49-F238E27FC236}">
                <a16:creationId xmlns:a16="http://schemas.microsoft.com/office/drawing/2014/main" id="{35EB969D-D95D-4F5C-8AE1-7E11A64EE7F7}"/>
              </a:ext>
            </a:extLst>
          </p:cNvPr>
          <p:cNvSpPr>
            <a:spLocks xmlns:a="http://schemas.openxmlformats.org/drawingml/2006/main" noGrp="1"/>
          </p:cNvSpPr>
          <p:nvPr/>
        </p:nvSpPr>
        <p:spPr>
          <a:xfrm xmlns:a="http://schemas.openxmlformats.org/drawingml/2006/main">
            <a:off x="7854315" y="4358640"/>
            <a:ext cx="860107" cy="-597218"/>
          </a:xfrm>
          <a:prstGeom xmlns:a="http://schemas.openxmlformats.org/drawingml/2006/main" prst="line">
            <a:avLst/>
          </a:prstGeom>
          <a:noFill xmlns:a="http://schemas.openxmlformats.org/drawingml/2006/main"/>
          <a:ln xmlns:a="http://schemas.openxmlformats.org/drawingml/2006/main" w="7620">
            <a:solidFill>
              <a:srgbClr val="4472C4"/>
            </a:solidFill>
            <a:prstDash val="solid"/>
          </a:ln>
        </p:spPr>
      </p:sp>
      <p:sp>
        <p:nvSpPr>
          <p:cNvPr id="84" name="">
            <a:extLst xmlns:a="http://schemas.openxmlformats.org/drawingml/2006/main">
              <a:ext uri="{FF2B5EF4-FFF2-40B4-BE49-F238E27FC236}">
                <a16:creationId xmlns:a16="http://schemas.microsoft.com/office/drawing/2014/main" id="{ED1853AA-2BC6-4BBF-ADAC-4BBE6D0EBE5F}"/>
              </a:ext>
            </a:extLst>
          </p:cNvPr>
          <p:cNvSpPr>
            <a:spLocks xmlns:a="http://schemas.openxmlformats.org/drawingml/2006/main" noGrp="1"/>
          </p:cNvSpPr>
          <p:nvPr/>
        </p:nvSpPr>
        <p:spPr>
          <a:xfrm xmlns:a="http://schemas.openxmlformats.org/drawingml/2006/main">
            <a:off x="7854315" y="4547235"/>
            <a:ext cx="860107" cy="-628650"/>
          </a:xfrm>
          <a:prstGeom xmlns:a="http://schemas.openxmlformats.org/drawingml/2006/main" prst="line">
            <a:avLst/>
          </a:prstGeom>
          <a:noFill xmlns:a="http://schemas.openxmlformats.org/drawingml/2006/main"/>
          <a:ln xmlns:a="http://schemas.openxmlformats.org/drawingml/2006/main" w="7620">
            <a:solidFill>
              <a:srgbClr val="4472C4"/>
            </a:solidFill>
            <a:prstDash val="solid"/>
          </a:ln>
        </p:spPr>
      </p:sp>
      <p:sp>
        <p:nvSpPr>
          <p:cNvPr id="85" name="">
            <a:extLst xmlns:a="http://schemas.openxmlformats.org/drawingml/2006/main">
              <a:ext uri="{FF2B5EF4-FFF2-40B4-BE49-F238E27FC236}">
                <a16:creationId xmlns:a16="http://schemas.microsoft.com/office/drawing/2014/main" id="{E37D31BB-F769-44B0-9395-835C2C90CC86}"/>
              </a:ext>
            </a:extLst>
          </p:cNvPr>
          <p:cNvSpPr>
            <a:spLocks xmlns:a="http://schemas.openxmlformats.org/drawingml/2006/main" noGrp="1"/>
          </p:cNvSpPr>
          <p:nvPr/>
        </p:nvSpPr>
        <p:spPr>
          <a:xfrm xmlns:a="http://schemas.openxmlformats.org/drawingml/2006/main">
            <a:off x="8141018" y="3384232"/>
            <a:ext cx="163830" cy="163830"/>
          </a:xfrm>
          <a:prstGeom xmlns:a="http://schemas.openxmlformats.org/drawingml/2006/main" prst="ellipse">
            <a:avLst/>
          </a:prstGeom>
          <a:solidFill xmlns:a="http://schemas.openxmlformats.org/drawingml/2006/main">
            <a:srgbClr val="E2F0D9"/>
          </a:solidFill>
          <a:ln xmlns:a="http://schemas.openxmlformats.org/drawingml/2006/main" w="8573">
            <a:solidFill>
              <a:srgbClr val="70AD47"/>
            </a:solidFill>
            <a:prstDash val="solid"/>
          </a:ln>
        </p:spPr>
      </p:sp>
      <p:sp>
        <p:nvSpPr>
          <p:cNvPr id="86" name="">
            <a:extLst xmlns:a="http://schemas.openxmlformats.org/drawingml/2006/main">
              <a:ext uri="{FF2B5EF4-FFF2-40B4-BE49-F238E27FC236}">
                <a16:creationId xmlns:a16="http://schemas.microsoft.com/office/drawing/2014/main" id="{8A36611F-152A-40A3-B7F3-D3A7F7C398A6}"/>
              </a:ext>
            </a:extLst>
          </p:cNvPr>
          <p:cNvSpPr>
            <a:spLocks xmlns:a="http://schemas.openxmlformats.org/drawingml/2006/main" noGrp="1"/>
          </p:cNvSpPr>
          <p:nvPr/>
        </p:nvSpPr>
        <p:spPr>
          <a:xfrm xmlns:a="http://schemas.openxmlformats.org/drawingml/2006/main">
            <a:off x="8222933" y="3572828"/>
            <a:ext cx="0" cy="471488"/>
          </a:xfrm>
          <a:prstGeom xmlns:a="http://schemas.openxmlformats.org/drawingml/2006/main" prst="line">
            <a:avLst/>
          </a:prstGeom>
          <a:noFill xmlns:a="http://schemas.openxmlformats.org/drawingml/2006/main"/>
          <a:ln xmlns:a="http://schemas.openxmlformats.org/drawingml/2006/main" w="13335">
            <a:solidFill>
              <a:srgbClr val="70AD47"/>
            </a:solidFill>
            <a:prstDash val="solid"/>
          </a:ln>
        </p:spPr>
      </p:sp>
      <p:sp>
        <p:nvSpPr>
          <p:cNvPr id="87" name="">
            <a:extLst xmlns:a="http://schemas.openxmlformats.org/drawingml/2006/main">
              <a:ext uri="{FF2B5EF4-FFF2-40B4-BE49-F238E27FC236}">
                <a16:creationId xmlns:a16="http://schemas.microsoft.com/office/drawing/2014/main" id="{C4A3462C-E76C-4B4A-81EC-68E8D6D7E989}"/>
              </a:ext>
            </a:extLst>
          </p:cNvPr>
          <p:cNvSpPr>
            <a:spLocks xmlns:a="http://schemas.openxmlformats.org/drawingml/2006/main" noGrp="1"/>
          </p:cNvSpPr>
          <p:nvPr/>
        </p:nvSpPr>
        <p:spPr>
          <a:xfrm xmlns:a="http://schemas.openxmlformats.org/drawingml/2006/main">
            <a:off x="8222933" y="3729990"/>
            <a:ext cx="245745" cy="125730"/>
          </a:xfrm>
          <a:prstGeom xmlns:a="http://schemas.openxmlformats.org/drawingml/2006/main" prst="line">
            <a:avLst/>
          </a:prstGeom>
          <a:noFill xmlns:a="http://schemas.openxmlformats.org/drawingml/2006/main"/>
          <a:ln xmlns:a="http://schemas.openxmlformats.org/drawingml/2006/main" w="11430">
            <a:solidFill>
              <a:srgbClr val="70AD47"/>
            </a:solidFill>
            <a:prstDash val="solid"/>
          </a:ln>
        </p:spPr>
      </p:sp>
      <p:sp>
        <p:nvSpPr>
          <p:cNvPr id="88" name="">
            <a:extLst xmlns:a="http://schemas.openxmlformats.org/drawingml/2006/main">
              <a:ext uri="{FF2B5EF4-FFF2-40B4-BE49-F238E27FC236}">
                <a16:creationId xmlns:a16="http://schemas.microsoft.com/office/drawing/2014/main" id="{271931BC-81B0-4CE0-AACD-89EAAFC851BD}"/>
              </a:ext>
            </a:extLst>
          </p:cNvPr>
          <p:cNvSpPr>
            <a:spLocks xmlns:a="http://schemas.openxmlformats.org/drawingml/2006/main" noGrp="1"/>
          </p:cNvSpPr>
          <p:nvPr/>
        </p:nvSpPr>
        <p:spPr>
          <a:xfrm xmlns:a="http://schemas.openxmlformats.org/drawingml/2006/main">
            <a:off x="8919210" y="3604260"/>
            <a:ext cx="573405" cy="282893"/>
          </a:xfrm>
          <a:prstGeom xmlns:a="http://schemas.openxmlformats.org/drawingml/2006/main" prst="rect">
            <a:avLst/>
          </a:prstGeom>
          <a:solidFill xmlns:a="http://schemas.openxmlformats.org/drawingml/2006/main">
            <a:srgbClr val="FFFFFF"/>
          </a:solidFill>
          <a:ln xmlns:a="http://schemas.openxmlformats.org/drawingml/2006/main" w="14288">
            <a:solidFill>
              <a:srgbClr val="D24726"/>
            </a:solidFill>
            <a:prstDash val="solid"/>
          </a:ln>
        </p:spPr>
      </p:sp>
      <p:sp>
        <p:nvSpPr>
          <p:cNvPr id="89" name="">
            <a:extLst xmlns:a="http://schemas.openxmlformats.org/drawingml/2006/main">
              <a:ext uri="{FF2B5EF4-FFF2-40B4-BE49-F238E27FC236}">
                <a16:creationId xmlns:a16="http://schemas.microsoft.com/office/drawing/2014/main" id="{98AC8142-915F-4903-AD95-C886BE476526}"/>
              </a:ext>
            </a:extLst>
          </p:cNvPr>
          <p:cNvSpPr>
            <a:spLocks xmlns:a="http://schemas.openxmlformats.org/drawingml/2006/main" noGrp="1"/>
          </p:cNvSpPr>
          <p:nvPr/>
        </p:nvSpPr>
        <p:spPr>
          <a:xfrm xmlns:a="http://schemas.openxmlformats.org/drawingml/2006/main">
            <a:off x="9001125" y="3855720"/>
            <a:ext cx="102394" cy="102394"/>
          </a:xfrm>
          <a:prstGeom xmlns:a="http://schemas.openxmlformats.org/drawingml/2006/main" prst="ellipse">
            <a:avLst/>
          </a:prstGeom>
          <a:solidFill xmlns:a="http://schemas.openxmlformats.org/drawingml/2006/main">
            <a:srgbClr val="3A3838"/>
          </a:solidFill>
          <a:ln xmlns:a="http://schemas.openxmlformats.org/drawingml/2006/main" w="4763">
            <a:solidFill>
              <a:srgbClr val="3A3838"/>
            </a:solidFill>
            <a:prstDash val="solid"/>
          </a:ln>
        </p:spPr>
      </p:sp>
      <p:sp>
        <p:nvSpPr>
          <p:cNvPr id="90" name="">
            <a:extLst xmlns:a="http://schemas.openxmlformats.org/drawingml/2006/main">
              <a:ext uri="{FF2B5EF4-FFF2-40B4-BE49-F238E27FC236}">
                <a16:creationId xmlns:a16="http://schemas.microsoft.com/office/drawing/2014/main" id="{8CABAA8E-AA39-4614-8CA0-70DCB1C3536B}"/>
              </a:ext>
            </a:extLst>
          </p:cNvPr>
          <p:cNvSpPr>
            <a:spLocks xmlns:a="http://schemas.openxmlformats.org/drawingml/2006/main" noGrp="1"/>
          </p:cNvSpPr>
          <p:nvPr/>
        </p:nvSpPr>
        <p:spPr>
          <a:xfrm xmlns:a="http://schemas.openxmlformats.org/drawingml/2006/main">
            <a:off x="9328785" y="3855720"/>
            <a:ext cx="102394" cy="102394"/>
          </a:xfrm>
          <a:prstGeom xmlns:a="http://schemas.openxmlformats.org/drawingml/2006/main" prst="ellipse">
            <a:avLst/>
          </a:prstGeom>
          <a:solidFill xmlns:a="http://schemas.openxmlformats.org/drawingml/2006/main">
            <a:srgbClr val="3A3838"/>
          </a:solidFill>
          <a:ln xmlns:a="http://schemas.openxmlformats.org/drawingml/2006/main" w="4763">
            <a:solidFill>
              <a:srgbClr val="3A3838"/>
            </a:solidFill>
            <a:prstDash val="solid"/>
          </a:ln>
        </p:spPr>
      </p:sp>
      <p:sp>
        <p:nvSpPr>
          <p:cNvPr id="91" name="">
            <a:extLst xmlns:a="http://schemas.openxmlformats.org/drawingml/2006/main">
              <a:ext uri="{FF2B5EF4-FFF2-40B4-BE49-F238E27FC236}">
                <a16:creationId xmlns:a16="http://schemas.microsoft.com/office/drawing/2014/main" id="{F231FAE4-846C-4D6E-84E9-80AA484340BF}"/>
              </a:ext>
            </a:extLst>
          </p:cNvPr>
          <p:cNvSpPr>
            <a:spLocks xmlns:a="http://schemas.openxmlformats.org/drawingml/2006/main" noGrp="1"/>
          </p:cNvSpPr>
          <p:nvPr/>
        </p:nvSpPr>
        <p:spPr>
          <a:xfrm xmlns:a="http://schemas.openxmlformats.org/drawingml/2006/main">
            <a:off x="9492615" y="358521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D24726"/>
                </a:solidFill>
              </a:defRPr>
            </a:pPr>
            <a:r>
              <a:rPr sz="1500" b="1">
                <a:solidFill>
                  <a:srgbClr val="D24726"/>
                </a:solidFill>
              </a:rPr>
              <a:t>→</a:t>
            </a:r>
          </a:p>
        </p:txBody>
      </p:sp>
      <p:sp>
        <p:nvSpPr>
          <p:cNvPr id="92" name="">
            <a:extLst xmlns:a="http://schemas.openxmlformats.org/drawingml/2006/main">
              <a:ext uri="{FF2B5EF4-FFF2-40B4-BE49-F238E27FC236}">
                <a16:creationId xmlns:a16="http://schemas.microsoft.com/office/drawing/2014/main" id="{95FEA93A-F373-470E-AA03-F83BE94FB8AF}"/>
              </a:ext>
            </a:extLst>
          </p:cNvPr>
          <p:cNvSpPr>
            <a:spLocks xmlns:a="http://schemas.openxmlformats.org/drawingml/2006/main" noGrp="1"/>
          </p:cNvSpPr>
          <p:nvPr/>
        </p:nvSpPr>
        <p:spPr>
          <a:xfrm xmlns:a="http://schemas.openxmlformats.org/drawingml/2006/main">
            <a:off x="6953250" y="186690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63" b="1">
                <a:solidFill>
                  <a:srgbClr val="3A3838"/>
                </a:solidFill>
              </a:defRPr>
            </a:pPr>
            <a:r>
              <a:rPr sz="863" b="1">
                <a:solidFill>
                  <a:srgbClr val="3A3838"/>
                </a:solidFill>
              </a:rPr>
              <a:t>Physical room and decoded prediction</a:t>
            </a:r>
          </a:p>
        </p:txBody>
      </p:sp>
      <p:sp>
        <p:nvSpPr>
          <p:cNvPr id="93" name="">
            <a:extLst xmlns:a="http://schemas.openxmlformats.org/drawingml/2006/main">
              <a:ext uri="{FF2B5EF4-FFF2-40B4-BE49-F238E27FC236}">
                <a16:creationId xmlns:a16="http://schemas.microsoft.com/office/drawing/2014/main" id="{D1C5EC64-1929-40EB-B509-7750BCA70FBE}"/>
              </a:ext>
            </a:extLst>
          </p:cNvPr>
          <p:cNvSpPr>
            <a:spLocks xmlns:a="http://schemas.openxmlformats.org/drawingml/2006/main" noGrp="1"/>
          </p:cNvSpPr>
          <p:nvPr/>
        </p:nvSpPr>
        <p:spPr>
          <a:xfrm xmlns:a="http://schemas.openxmlformats.org/drawingml/2006/main">
            <a:off x="6858000" y="5619750"/>
            <a:ext cx="428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b="0">
                <a:solidFill>
                  <a:srgbClr val="767171"/>
                </a:solidFill>
              </a:defRPr>
            </a:pPr>
            <a:r>
              <a:rPr sz="788" b="0">
                <a:solidFill>
                  <a:srgbClr val="767171"/>
                </a:solidFill>
              </a:rPr>
              <a:t>solid = observed     outlined = inferred/hidden     arrow = predicted motion</a:t>
            </a:r>
          </a:p>
        </p:txBody>
      </p:sp>
      <p:sp>
        <p:nvSpPr>
          <p:cNvPr id="94" name="">
            <a:extLst xmlns:a="http://schemas.openxmlformats.org/drawingml/2006/main">
              <a:ext uri="{FF2B5EF4-FFF2-40B4-BE49-F238E27FC236}">
                <a16:creationId xmlns:a16="http://schemas.microsoft.com/office/drawing/2014/main" id="{00C23AAA-2057-45B0-94D2-71AEE7C67E6B}"/>
              </a:ext>
            </a:extLst>
          </p:cNvPr>
          <p:cNvSpPr>
            <a:spLocks xmlns:a="http://schemas.openxmlformats.org/drawingml/2006/main" noGrp="1"/>
          </p:cNvSpPr>
          <p:nvPr/>
        </p:nvSpPr>
        <p:spPr>
          <a:xfrm xmlns:a="http://schemas.openxmlformats.org/drawingml/2006/main">
            <a:off x="523875" y="6238875"/>
            <a:ext cx="1109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0">
                <a:solidFill>
                  <a:srgbClr val="767171"/>
                </a:solidFill>
              </a:defRPr>
            </a:pPr>
            <a:r>
              <a:rPr sz="660" b="0">
                <a:solidFill>
                  <a:srgbClr val="767171"/>
                </a:solidFill>
              </a:rPr>
              <a:t>Running example used throughout the proposal; synthetic teaching scenario, not an empirical result.</a:t>
            </a:r>
          </a:p>
        </p:txBody>
      </p:sp>
    </p:spTree>
    <p:extLst>
      <p:ext uri="{BB962C8B-B14F-4D97-AF65-F5344CB8AC3E}">
        <p14:creationId xmlns:p14="http://schemas.microsoft.com/office/powerpoint/2010/main" val="49411062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6">
            <a:extLst xmlns:a="http://schemas.openxmlformats.org/drawingml/2006/main">
              <a:ext uri="{FF2B5EF4-FFF2-40B4-BE49-F238E27FC236}">
                <a16:creationId xmlns:a16="http://schemas.microsoft.com/office/drawing/2014/main" id="{707E834C-3F59-45C3-B03C-1BF15E46DC7B}"/>
              </a:ext>
            </a:extLst>
          </p:cNvPr>
          <p:cNvSpPr>
            <a:spLocks xmlns:a="http://schemas.openxmlformats.org/drawingml/2006/main" noGrp="1"/>
          </p:cNvSpPr>
          <p:nvPr>
            <p:ph type="title" idx="0"/>
          </p:nvPr>
        </p:nvSpPr>
        <p:spPr>
          <a:xfrm xmlns:a="http://schemas.openxmlformats.org/drawingml/2006/main">
            <a:off x="444532" y="430625"/>
            <a:ext cx="11210544" cy="5577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indent="0" algn="l">
              <a:spcBef>
                <a:spcPts val="0"/>
              </a:spcBef>
              <a:spcAft>
                <a:spcPts val="0"/>
              </a:spcAft>
              <a:buNone/>
              <a:defRPr sz="1988" b="0">
                <a:solidFill>
                  <a:srgbClr val="3A3838"/>
                </a:solidFill>
              </a:defRPr>
            </a:pPr>
            <a:r>
              <a:rPr sz="1988" b="0">
                <a:solidFill>
                  <a:srgbClr val="3A3838"/>
                </a:solidFill>
              </a:rPr>
              <a:t>The Representation Gap: Compression Can Remove the Wrong Distinction</a:t>
            </a:r>
          </a:p>
        </p:txBody>
      </p:sp>
      <p:sp>
        <p:nvSpPr>
          <p:cNvPr id="80" name="">
            <a:extLst xmlns:a="http://schemas.openxmlformats.org/drawingml/2006/main">
              <a:ext uri="{FF2B5EF4-FFF2-40B4-BE49-F238E27FC236}">
                <a16:creationId xmlns:a16="http://schemas.microsoft.com/office/drawing/2014/main" id="{F0BB7CA7-9D17-4CAC-8DE9-E1C3383EDCBC}"/>
              </a:ext>
            </a:extLst>
          </p:cNvPr>
          <p:cNvSpPr>
            <a:spLocks xmlns:a="http://schemas.openxmlformats.org/drawingml/2006/main" noGrp="1"/>
          </p:cNvSpPr>
          <p:nvPr/>
        </p:nvSpPr>
        <p:spPr>
          <a:xfrm xmlns:a="http://schemas.openxmlformats.org/drawingml/2006/main">
            <a:off x="444532" y="1097280"/>
            <a:ext cx="11210544" cy="17145"/>
          </a:xfrm>
          <a:prstGeom xmlns:a="http://schemas.openxmlformats.org/drawingml/2006/main" prst="rect">
            <a:avLst/>
          </a:prstGeom>
          <a:solidFill xmlns:a="http://schemas.openxmlformats.org/drawingml/2006/main">
            <a:srgbClr val="D24726"/>
          </a:solidFill>
          <a:ln xmlns:a="http://schemas.openxmlformats.org/drawingml/2006/main" w="0">
            <a:solidFill>
              <a:srgbClr val="D24726"/>
            </a:solidFill>
            <a:prstDash val="solid"/>
          </a:ln>
        </p:spPr>
      </p:sp>
      <p:sp>
        <p:nvSpPr>
          <p:cNvPr id="81" name="">
            <a:extLst xmlns:a="http://schemas.openxmlformats.org/drawingml/2006/main">
              <a:ext uri="{FF2B5EF4-FFF2-40B4-BE49-F238E27FC236}">
                <a16:creationId xmlns:a16="http://schemas.microsoft.com/office/drawing/2014/main" id="{41E1A7B7-6193-47F6-AC0D-7A819FF3827C}"/>
              </a:ext>
            </a:extLst>
          </p:cNvPr>
          <p:cNvSpPr>
            <a:spLocks xmlns:a="http://schemas.openxmlformats.org/drawingml/2006/main" noGrp="1"/>
          </p:cNvSpPr>
          <p:nvPr/>
        </p:nvSpPr>
        <p:spPr>
          <a:xfrm xmlns:a="http://schemas.openxmlformats.org/drawingml/2006/main">
            <a:off x="457200" y="1381125"/>
            <a:ext cx="110966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3A3838"/>
                </a:solidFill>
              </a:defRPr>
            </a:pPr>
            <a:r>
              <a:rPr sz="1275" b="0">
                <a:solidFill>
                  <a:srgbClr val="3A3838"/>
                </a:solidFill>
              </a:rPr>
              <a:t>Current models can be stochastic and multimodal. The gap is narrower: training may not preserve the specific joint structure that later actions and observations need.</a:t>
            </a:r>
          </a:p>
        </p:txBody>
      </p:sp>
      <p:sp>
        <p:nvSpPr>
          <p:cNvPr id="82" name="">
            <a:extLst xmlns:a="http://schemas.openxmlformats.org/drawingml/2006/main">
              <a:ext uri="{FF2B5EF4-FFF2-40B4-BE49-F238E27FC236}">
                <a16:creationId xmlns:a16="http://schemas.microsoft.com/office/drawing/2014/main" id="{DF141929-35A8-4421-99E6-9C19ACE639F6}"/>
              </a:ext>
            </a:extLst>
          </p:cNvPr>
          <p:cNvSpPr>
            <a:spLocks xmlns:a="http://schemas.openxmlformats.org/drawingml/2006/main" noGrp="1"/>
          </p:cNvSpPr>
          <p:nvPr/>
        </p:nvSpPr>
        <p:spPr>
          <a:xfrm xmlns:a="http://schemas.openxmlformats.org/drawingml/2006/main">
            <a:off x="1143000" y="2333625"/>
            <a:ext cx="9906000" cy="428625"/>
          </a:xfrm>
          <a:prstGeom xmlns:a="http://schemas.openxmlformats.org/drawingml/2006/main" prst="rect">
            <a:avLst/>
          </a:prstGeom>
          <a:solidFill xmlns:a="http://schemas.openxmlformats.org/drawingml/2006/main">
            <a:srgbClr val="3A3838"/>
          </a:solidFill>
          <a:ln xmlns:a="http://schemas.openxmlformats.org/drawingml/2006/main" w="6668">
            <a:solidFill>
              <a:srgbClr val="B7B7B7"/>
            </a:solidFill>
            <a:prstDash val="solid"/>
          </a:ln>
        </p:spPr>
      </p:sp>
      <p:sp>
        <p:nvSpPr>
          <p:cNvPr id="83" name="">
            <a:extLst xmlns:a="http://schemas.openxmlformats.org/drawingml/2006/main">
              <a:ext uri="{FF2B5EF4-FFF2-40B4-BE49-F238E27FC236}">
                <a16:creationId xmlns:a16="http://schemas.microsoft.com/office/drawing/2014/main" id="{57808BCD-B246-4E6B-B92A-B83AE0B97972}"/>
              </a:ext>
            </a:extLst>
          </p:cNvPr>
          <p:cNvSpPr>
            <a:spLocks xmlns:a="http://schemas.openxmlformats.org/drawingml/2006/main" noGrp="1"/>
          </p:cNvSpPr>
          <p:nvPr/>
        </p:nvSpPr>
        <p:spPr>
          <a:xfrm xmlns:a="http://schemas.openxmlformats.org/drawingml/2006/main">
            <a:off x="1285875" y="2428875"/>
            <a:ext cx="266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1">
                <a:solidFill>
                  <a:srgbClr val="FFFFFF"/>
                </a:solidFill>
              </a:defRPr>
            </a:pPr>
            <a:r>
              <a:rPr sz="1013" b="1">
                <a:solidFill>
                  <a:srgbClr val="FFFFFF"/>
                </a:solidFill>
              </a:rPr>
              <a:t>What can be lost</a:t>
            </a:r>
          </a:p>
        </p:txBody>
      </p:sp>
      <p:sp>
        <p:nvSpPr>
          <p:cNvPr id="84" name="">
            <a:extLst xmlns:a="http://schemas.openxmlformats.org/drawingml/2006/main">
              <a:ext uri="{FF2B5EF4-FFF2-40B4-BE49-F238E27FC236}">
                <a16:creationId xmlns:a16="http://schemas.microsoft.com/office/drawing/2014/main" id="{77BD9AAC-2450-4103-B7BC-4F472940007A}"/>
              </a:ext>
            </a:extLst>
          </p:cNvPr>
          <p:cNvSpPr>
            <a:spLocks xmlns:a="http://schemas.openxmlformats.org/drawingml/2006/main" noGrp="1"/>
          </p:cNvSpPr>
          <p:nvPr/>
        </p:nvSpPr>
        <p:spPr>
          <a:xfrm xmlns:a="http://schemas.openxmlformats.org/drawingml/2006/main">
            <a:off x="4095750" y="242887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1">
                <a:solidFill>
                  <a:srgbClr val="FFFFFF"/>
                </a:solidFill>
              </a:defRPr>
            </a:pPr>
            <a:r>
              <a:rPr sz="1013" b="1">
                <a:solidFill>
                  <a:srgbClr val="FFFFFF"/>
                </a:solidFill>
              </a:rPr>
              <a:t>Why it matters in the room</a:t>
            </a:r>
          </a:p>
        </p:txBody>
      </p:sp>
      <p:sp>
        <p:nvSpPr>
          <p:cNvPr id="85" name="">
            <a:extLst xmlns:a="http://schemas.openxmlformats.org/drawingml/2006/main">
              <a:ext uri="{FF2B5EF4-FFF2-40B4-BE49-F238E27FC236}">
                <a16:creationId xmlns:a16="http://schemas.microsoft.com/office/drawing/2014/main" id="{36211A25-5523-4550-A551-7C579845C59D}"/>
              </a:ext>
            </a:extLst>
          </p:cNvPr>
          <p:cNvSpPr>
            <a:spLocks xmlns:a="http://schemas.openxmlformats.org/drawingml/2006/main" noGrp="1"/>
          </p:cNvSpPr>
          <p:nvPr/>
        </p:nvSpPr>
        <p:spPr>
          <a:xfrm xmlns:a="http://schemas.openxmlformats.org/drawingml/2006/main">
            <a:off x="1143000" y="2762250"/>
            <a:ext cx="9906000" cy="619125"/>
          </a:xfrm>
          <a:prstGeom xmlns:a="http://schemas.openxmlformats.org/drawingml/2006/main" prst="rect">
            <a:avLst/>
          </a:prstGeom>
          <a:solidFill xmlns:a="http://schemas.openxmlformats.org/drawingml/2006/main">
            <a:srgbClr val="FFFFFF"/>
          </a:solidFill>
          <a:ln xmlns:a="http://schemas.openxmlformats.org/drawingml/2006/main" w="6668">
            <a:solidFill>
              <a:srgbClr val="B7B7B7"/>
            </a:solidFill>
            <a:prstDash val="solid"/>
          </a:ln>
        </p:spPr>
      </p:sp>
      <p:sp>
        <p:nvSpPr>
          <p:cNvPr id="86" name="">
            <a:extLst xmlns:a="http://schemas.openxmlformats.org/drawingml/2006/main">
              <a:ext uri="{FF2B5EF4-FFF2-40B4-BE49-F238E27FC236}">
                <a16:creationId xmlns:a16="http://schemas.microsoft.com/office/drawing/2014/main" id="{9307F1F1-89D7-4D33-A1BC-160293143D4C}"/>
              </a:ext>
            </a:extLst>
          </p:cNvPr>
          <p:cNvSpPr>
            <a:spLocks xmlns:a="http://schemas.openxmlformats.org/drawingml/2006/main" noGrp="1"/>
          </p:cNvSpPr>
          <p:nvPr/>
        </p:nvSpPr>
        <p:spPr>
          <a:xfrm xmlns:a="http://schemas.openxmlformats.org/drawingml/2006/main">
            <a:off x="1285875" y="28575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A3838"/>
                </a:solidFill>
              </a:defRPr>
            </a:pPr>
            <a:r>
              <a:rPr sz="975" b="1">
                <a:solidFill>
                  <a:srgbClr val="3A3838"/>
                </a:solidFill>
              </a:rPr>
              <a:t>Joint alternatives</a:t>
            </a:r>
          </a:p>
        </p:txBody>
      </p:sp>
      <p:sp>
        <p:nvSpPr>
          <p:cNvPr id="87" name="">
            <a:extLst xmlns:a="http://schemas.openxmlformats.org/drawingml/2006/main">
              <a:ext uri="{FF2B5EF4-FFF2-40B4-BE49-F238E27FC236}">
                <a16:creationId xmlns:a16="http://schemas.microsoft.com/office/drawing/2014/main" id="{F632D511-ABE5-4202-A990-360FB280D068}"/>
              </a:ext>
            </a:extLst>
          </p:cNvPr>
          <p:cNvSpPr>
            <a:spLocks xmlns:a="http://schemas.openxmlformats.org/drawingml/2006/main" noGrp="1"/>
          </p:cNvSpPr>
          <p:nvPr/>
        </p:nvSpPr>
        <p:spPr>
          <a:xfrm xmlns:a="http://schemas.openxmlformats.org/drawingml/2006/main">
            <a:off x="4095750" y="2857500"/>
            <a:ext cx="666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53" b="0">
                <a:solidFill>
                  <a:srgbClr val="3A3838"/>
                </a:solidFill>
              </a:defRPr>
            </a:pPr>
            <a:r>
              <a:rPr sz="953" b="0">
                <a:solidFill>
                  <a:srgbClr val="3A3838"/>
                </a:solidFill>
              </a:rPr>
              <a:t>‘cart exits right’ and ‘technician follows’ must remain one consistent future</a:t>
            </a:r>
          </a:p>
        </p:txBody>
      </p:sp>
      <p:sp>
        <p:nvSpPr>
          <p:cNvPr id="88" name="">
            <a:extLst xmlns:a="http://schemas.openxmlformats.org/drawingml/2006/main">
              <a:ext uri="{FF2B5EF4-FFF2-40B4-BE49-F238E27FC236}">
                <a16:creationId xmlns:a16="http://schemas.microsoft.com/office/drawing/2014/main" id="{1AE04BA1-34D2-4A31-9BFA-CA2AB2AFE6CD}"/>
              </a:ext>
            </a:extLst>
          </p:cNvPr>
          <p:cNvSpPr>
            <a:spLocks xmlns:a="http://schemas.openxmlformats.org/drawingml/2006/main" noGrp="1"/>
          </p:cNvSpPr>
          <p:nvPr/>
        </p:nvSpPr>
        <p:spPr>
          <a:xfrm xmlns:a="http://schemas.openxmlformats.org/drawingml/2006/main">
            <a:off x="1143000" y="3381375"/>
            <a:ext cx="9906000" cy="619125"/>
          </a:xfrm>
          <a:prstGeom xmlns:a="http://schemas.openxmlformats.org/drawingml/2006/main" prst="rect">
            <a:avLst/>
          </a:prstGeom>
          <a:solidFill xmlns:a="http://schemas.openxmlformats.org/drawingml/2006/main">
            <a:srgbClr val="F2F2F2"/>
          </a:solidFill>
          <a:ln xmlns:a="http://schemas.openxmlformats.org/drawingml/2006/main" w="6668">
            <a:solidFill>
              <a:srgbClr val="B7B7B7"/>
            </a:solidFill>
            <a:prstDash val="solid"/>
          </a:ln>
        </p:spPr>
      </p:sp>
      <p:sp>
        <p:nvSpPr>
          <p:cNvPr id="89" name="">
            <a:extLst xmlns:a="http://schemas.openxmlformats.org/drawingml/2006/main">
              <a:ext uri="{FF2B5EF4-FFF2-40B4-BE49-F238E27FC236}">
                <a16:creationId xmlns:a16="http://schemas.microsoft.com/office/drawing/2014/main" id="{07C4DADA-39D8-4C4E-A8A8-35883040DBDD}"/>
              </a:ext>
            </a:extLst>
          </p:cNvPr>
          <p:cNvSpPr>
            <a:spLocks xmlns:a="http://schemas.openxmlformats.org/drawingml/2006/main" noGrp="1"/>
          </p:cNvSpPr>
          <p:nvPr/>
        </p:nvSpPr>
        <p:spPr>
          <a:xfrm xmlns:a="http://schemas.openxmlformats.org/drawingml/2006/main">
            <a:off x="1285875" y="34766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A3838"/>
                </a:solidFill>
              </a:defRPr>
            </a:pPr>
            <a:r>
              <a:rPr sz="975" b="1">
                <a:solidFill>
                  <a:srgbClr val="3A3838"/>
                </a:solidFill>
              </a:rPr>
              <a:t>Cross-object dependence</a:t>
            </a:r>
          </a:p>
        </p:txBody>
      </p:sp>
      <p:sp>
        <p:nvSpPr>
          <p:cNvPr id="90" name="">
            <a:extLst xmlns:a="http://schemas.openxmlformats.org/drawingml/2006/main">
              <a:ext uri="{FF2B5EF4-FFF2-40B4-BE49-F238E27FC236}">
                <a16:creationId xmlns:a16="http://schemas.microsoft.com/office/drawing/2014/main" id="{BC0CBE2D-071E-466E-A8D0-B1FB5C407C7F}"/>
              </a:ext>
            </a:extLst>
          </p:cNvPr>
          <p:cNvSpPr>
            <a:spLocks xmlns:a="http://schemas.openxmlformats.org/drawingml/2006/main" noGrp="1"/>
          </p:cNvSpPr>
          <p:nvPr/>
        </p:nvSpPr>
        <p:spPr>
          <a:xfrm xmlns:a="http://schemas.openxmlformats.org/drawingml/2006/main">
            <a:off x="4095750" y="3476625"/>
            <a:ext cx="666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53" b="0">
                <a:solidFill>
                  <a:srgbClr val="3A3838"/>
                </a:solidFill>
              </a:defRPr>
            </a:pPr>
            <a:r>
              <a:rPr sz="953" b="0">
                <a:solidFill>
                  <a:srgbClr val="3A3838"/>
                </a:solidFill>
              </a:rPr>
              <a:t>door, divider, cart, and person predictions should update together</a:t>
            </a:r>
          </a:p>
        </p:txBody>
      </p:sp>
      <p:sp>
        <p:nvSpPr>
          <p:cNvPr id="91" name="">
            <a:extLst xmlns:a="http://schemas.openxmlformats.org/drawingml/2006/main">
              <a:ext uri="{FF2B5EF4-FFF2-40B4-BE49-F238E27FC236}">
                <a16:creationId xmlns:a16="http://schemas.microsoft.com/office/drawing/2014/main" id="{57D80AFD-ECB7-4782-89F6-FB17E51DA2EA}"/>
              </a:ext>
            </a:extLst>
          </p:cNvPr>
          <p:cNvSpPr>
            <a:spLocks xmlns:a="http://schemas.openxmlformats.org/drawingml/2006/main" noGrp="1"/>
          </p:cNvSpPr>
          <p:nvPr/>
        </p:nvSpPr>
        <p:spPr>
          <a:xfrm xmlns:a="http://schemas.openxmlformats.org/drawingml/2006/main">
            <a:off x="1143000" y="4000500"/>
            <a:ext cx="9906000" cy="619125"/>
          </a:xfrm>
          <a:prstGeom xmlns:a="http://schemas.openxmlformats.org/drawingml/2006/main" prst="rect">
            <a:avLst/>
          </a:prstGeom>
          <a:solidFill xmlns:a="http://schemas.openxmlformats.org/drawingml/2006/main">
            <a:srgbClr val="FFFFFF"/>
          </a:solidFill>
          <a:ln xmlns:a="http://schemas.openxmlformats.org/drawingml/2006/main" w="6668">
            <a:solidFill>
              <a:srgbClr val="B7B7B7"/>
            </a:solidFill>
            <a:prstDash val="solid"/>
          </a:ln>
        </p:spPr>
      </p:sp>
      <p:sp>
        <p:nvSpPr>
          <p:cNvPr id="92" name="">
            <a:extLst xmlns:a="http://schemas.openxmlformats.org/drawingml/2006/main">
              <a:ext uri="{FF2B5EF4-FFF2-40B4-BE49-F238E27FC236}">
                <a16:creationId xmlns:a16="http://schemas.microsoft.com/office/drawing/2014/main" id="{1255A822-5D9F-4959-8484-A37A1A14D306}"/>
              </a:ext>
            </a:extLst>
          </p:cNvPr>
          <p:cNvSpPr>
            <a:spLocks xmlns:a="http://schemas.openxmlformats.org/drawingml/2006/main" noGrp="1"/>
          </p:cNvSpPr>
          <p:nvPr/>
        </p:nvSpPr>
        <p:spPr>
          <a:xfrm xmlns:a="http://schemas.openxmlformats.org/drawingml/2006/main">
            <a:off x="1285875" y="40957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A3838"/>
                </a:solidFill>
              </a:defRPr>
            </a:pPr>
            <a:r>
              <a:rPr sz="975" b="1">
                <a:solidFill>
                  <a:srgbClr val="3A3838"/>
                </a:solidFill>
              </a:rPr>
              <a:t>Branch identity</a:t>
            </a:r>
          </a:p>
        </p:txBody>
      </p:sp>
      <p:sp>
        <p:nvSpPr>
          <p:cNvPr id="93" name="">
            <a:extLst xmlns:a="http://schemas.openxmlformats.org/drawingml/2006/main">
              <a:ext uri="{FF2B5EF4-FFF2-40B4-BE49-F238E27FC236}">
                <a16:creationId xmlns:a16="http://schemas.microsoft.com/office/drawing/2014/main" id="{BA0106CB-2518-4FF5-863E-2C2CDE888B14}"/>
              </a:ext>
            </a:extLst>
          </p:cNvPr>
          <p:cNvSpPr>
            <a:spLocks xmlns:a="http://schemas.openxmlformats.org/drawingml/2006/main" noGrp="1"/>
          </p:cNvSpPr>
          <p:nvPr/>
        </p:nvSpPr>
        <p:spPr>
          <a:xfrm xmlns:a="http://schemas.openxmlformats.org/drawingml/2006/main">
            <a:off x="4095750" y="4095750"/>
            <a:ext cx="666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53" b="0">
                <a:solidFill>
                  <a:srgbClr val="3A3838"/>
                </a:solidFill>
              </a:defRPr>
            </a:pPr>
            <a:r>
              <a:rPr sz="953" b="0">
                <a:solidFill>
                  <a:srgbClr val="3A3838"/>
                </a:solidFill>
              </a:rPr>
              <a:t>an action may be safe in one future and unsafe in another</a:t>
            </a:r>
          </a:p>
        </p:txBody>
      </p:sp>
      <p:sp>
        <p:nvSpPr>
          <p:cNvPr id="94" name="">
            <a:extLst xmlns:a="http://schemas.openxmlformats.org/drawingml/2006/main">
              <a:ext uri="{FF2B5EF4-FFF2-40B4-BE49-F238E27FC236}">
                <a16:creationId xmlns:a16="http://schemas.microsoft.com/office/drawing/2014/main" id="{9F8594D1-3BB9-4353-9FC0-68AA7FA722B3}"/>
              </a:ext>
            </a:extLst>
          </p:cNvPr>
          <p:cNvSpPr>
            <a:spLocks xmlns:a="http://schemas.openxmlformats.org/drawingml/2006/main" noGrp="1"/>
          </p:cNvSpPr>
          <p:nvPr/>
        </p:nvSpPr>
        <p:spPr>
          <a:xfrm xmlns:a="http://schemas.openxmlformats.org/drawingml/2006/main">
            <a:off x="1143000" y="4619625"/>
            <a:ext cx="9906000" cy="619125"/>
          </a:xfrm>
          <a:prstGeom xmlns:a="http://schemas.openxmlformats.org/drawingml/2006/main" prst="rect">
            <a:avLst/>
          </a:prstGeom>
          <a:solidFill xmlns:a="http://schemas.openxmlformats.org/drawingml/2006/main">
            <a:srgbClr val="F2F2F2"/>
          </a:solidFill>
          <a:ln xmlns:a="http://schemas.openxmlformats.org/drawingml/2006/main" w="6668">
            <a:solidFill>
              <a:srgbClr val="B7B7B7"/>
            </a:solidFill>
            <a:prstDash val="solid"/>
          </a:ln>
        </p:spPr>
      </p:sp>
      <p:sp>
        <p:nvSpPr>
          <p:cNvPr id="95" name="">
            <a:extLst xmlns:a="http://schemas.openxmlformats.org/drawingml/2006/main">
              <a:ext uri="{FF2B5EF4-FFF2-40B4-BE49-F238E27FC236}">
                <a16:creationId xmlns:a16="http://schemas.microsoft.com/office/drawing/2014/main" id="{DB3E1365-625A-4132-83B2-7BA21C2E70D2}"/>
              </a:ext>
            </a:extLst>
          </p:cNvPr>
          <p:cNvSpPr>
            <a:spLocks xmlns:a="http://schemas.openxmlformats.org/drawingml/2006/main" noGrp="1"/>
          </p:cNvSpPr>
          <p:nvPr/>
        </p:nvSpPr>
        <p:spPr>
          <a:xfrm xmlns:a="http://schemas.openxmlformats.org/drawingml/2006/main">
            <a:off x="1285875" y="47148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A3838"/>
                </a:solidFill>
              </a:defRPr>
            </a:pPr>
            <a:r>
              <a:rPr sz="975" b="1">
                <a:solidFill>
                  <a:srgbClr val="3A3838"/>
                </a:solidFill>
              </a:rPr>
              <a:t>Useful uncertainty</a:t>
            </a:r>
          </a:p>
        </p:txBody>
      </p:sp>
      <p:sp>
        <p:nvSpPr>
          <p:cNvPr id="96" name="">
            <a:extLst xmlns:a="http://schemas.openxmlformats.org/drawingml/2006/main">
              <a:ext uri="{FF2B5EF4-FFF2-40B4-BE49-F238E27FC236}">
                <a16:creationId xmlns:a16="http://schemas.microsoft.com/office/drawing/2014/main" id="{E64B1759-6FA2-42AA-817C-220DBDC6F1F5}"/>
              </a:ext>
            </a:extLst>
          </p:cNvPr>
          <p:cNvSpPr>
            <a:spLocks xmlns:a="http://schemas.openxmlformats.org/drawingml/2006/main" noGrp="1"/>
          </p:cNvSpPr>
          <p:nvPr/>
        </p:nvSpPr>
        <p:spPr>
          <a:xfrm xmlns:a="http://schemas.openxmlformats.org/drawingml/2006/main">
            <a:off x="4095750" y="4714875"/>
            <a:ext cx="666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53" b="0">
                <a:solidFill>
                  <a:srgbClr val="3A3838"/>
                </a:solidFill>
              </a:defRPr>
            </a:pPr>
            <a:r>
              <a:rPr sz="953" b="0">
                <a:solidFill>
                  <a:srgbClr val="3A3838"/>
                </a:solidFill>
              </a:rPr>
              <a:t>the robot should know when another observation is valuable</a:t>
            </a:r>
          </a:p>
        </p:txBody>
      </p:sp>
      <p:sp>
        <p:nvSpPr>
          <p:cNvPr id="97" name="">
            <a:extLst xmlns:a="http://schemas.openxmlformats.org/drawingml/2006/main">
              <a:ext uri="{FF2B5EF4-FFF2-40B4-BE49-F238E27FC236}">
                <a16:creationId xmlns:a16="http://schemas.microsoft.com/office/drawing/2014/main" id="{AEF569AE-DBB4-43E7-94D1-25460FC1E69F}"/>
              </a:ext>
            </a:extLst>
          </p:cNvPr>
          <p:cNvSpPr>
            <a:spLocks xmlns:a="http://schemas.openxmlformats.org/drawingml/2006/main" noGrp="1"/>
          </p:cNvSpPr>
          <p:nvPr/>
        </p:nvSpPr>
        <p:spPr>
          <a:xfrm xmlns:a="http://schemas.openxmlformats.org/drawingml/2006/main">
            <a:off x="1190625" y="5600700"/>
            <a:ext cx="9810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65" b="1">
                <a:solidFill>
                  <a:srgbClr val="D24726"/>
                </a:solidFill>
              </a:defRPr>
            </a:pPr>
            <a:r>
              <a:rPr sz="1065" b="1">
                <a:solidFill>
                  <a:srgbClr val="D24726"/>
                </a:solidFill>
              </a:rPr>
              <a:t>‘Larger’ means a richer constrained state family. It does not mean a larger picture, more Shannon information, or guaranteed better accuracy.</a:t>
            </a:r>
          </a:p>
        </p:txBody>
      </p:sp>
      <p:sp>
        <p:nvSpPr>
          <p:cNvPr id="98" name="">
            <a:extLst xmlns:a="http://schemas.openxmlformats.org/drawingml/2006/main">
              <a:ext uri="{FF2B5EF4-FFF2-40B4-BE49-F238E27FC236}">
                <a16:creationId xmlns:a16="http://schemas.microsoft.com/office/drawing/2014/main" id="{993AE409-13CC-4152-AB38-403236465BCE}"/>
              </a:ext>
            </a:extLst>
          </p:cNvPr>
          <p:cNvSpPr>
            <a:spLocks xmlns:a="http://schemas.openxmlformats.org/drawingml/2006/main" noGrp="1"/>
          </p:cNvSpPr>
          <p:nvPr/>
        </p:nvSpPr>
        <p:spPr>
          <a:xfrm xmlns:a="http://schemas.openxmlformats.org/drawingml/2006/main">
            <a:off x="523875" y="6238875"/>
            <a:ext cx="1109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0">
                <a:solidFill>
                  <a:srgbClr val="767171"/>
                </a:solidFill>
              </a:defRPr>
            </a:pPr>
            <a:r>
              <a:rPr sz="660" b="0">
                <a:solidFill>
                  <a:srgbClr val="767171"/>
                </a:solidFill>
              </a:rPr>
              <a:t>Research framing: compare structure at matched parameters, memory, FLOPs, and latency.</a:t>
            </a:r>
          </a:p>
        </p:txBody>
      </p:sp>
    </p:spTree>
    <p:extLst>
      <p:ext uri="{BB962C8B-B14F-4D97-AF65-F5344CB8AC3E}">
        <p14:creationId xmlns:p14="http://schemas.microsoft.com/office/powerpoint/2010/main" val="122916984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85" name="Google Shape;85;p7">
            <a:extLst xmlns:a="http://schemas.openxmlformats.org/drawingml/2006/main">
              <a:ext uri="{FF2B5EF4-FFF2-40B4-BE49-F238E27FC236}">
                <a16:creationId xmlns:a16="http://schemas.microsoft.com/office/drawing/2014/main" id="{DDD8208A-0C2F-4155-B4E9-E5C0CC22D658}"/>
              </a:ext>
            </a:extLst>
          </p:cNvPr>
          <p:cNvSpPr>
            <a:spLocks xmlns:a="http://schemas.openxmlformats.org/drawingml/2006/main" noGrp="1"/>
          </p:cNvSpPr>
          <p:nvPr>
            <p:ph type="title" idx="0"/>
          </p:nvPr>
        </p:nvSpPr>
        <p:spPr>
          <a:xfrm xmlns:a="http://schemas.openxmlformats.org/drawingml/2006/main">
            <a:off x="444532" y="430625"/>
            <a:ext cx="11210544" cy="5577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indent="0" algn="l">
              <a:spcBef>
                <a:spcPts val="0"/>
              </a:spcBef>
              <a:spcAft>
                <a:spcPts val="0"/>
              </a:spcAft>
              <a:buNone/>
              <a:defRPr sz="2100" b="0">
                <a:solidFill>
                  <a:srgbClr val="3A3838"/>
                </a:solidFill>
              </a:defRPr>
            </a:pPr>
            <a:r>
              <a:rPr sz="2100" b="0">
                <a:solidFill>
                  <a:srgbClr val="3A3838"/>
                </a:solidFill>
              </a:rPr>
              <a:t>Design Rules for a Quantum-Inspired World-Model Core</a:t>
            </a:r>
          </a:p>
        </p:txBody>
      </p:sp>
      <p:sp>
        <p:nvSpPr>
          <p:cNvPr id="86" name="">
            <a:extLst xmlns:a="http://schemas.openxmlformats.org/drawingml/2006/main">
              <a:ext uri="{FF2B5EF4-FFF2-40B4-BE49-F238E27FC236}">
                <a16:creationId xmlns:a16="http://schemas.microsoft.com/office/drawing/2014/main" id="{68D82F59-D52E-467F-AA62-86AF845FCED0}"/>
              </a:ext>
            </a:extLst>
          </p:cNvPr>
          <p:cNvSpPr>
            <a:spLocks xmlns:a="http://schemas.openxmlformats.org/drawingml/2006/main" noGrp="1"/>
          </p:cNvSpPr>
          <p:nvPr/>
        </p:nvSpPr>
        <p:spPr>
          <a:xfrm xmlns:a="http://schemas.openxmlformats.org/drawingml/2006/main">
            <a:off x="444532" y="1097280"/>
            <a:ext cx="11210544" cy="17145"/>
          </a:xfrm>
          <a:prstGeom xmlns:a="http://schemas.openxmlformats.org/drawingml/2006/main" prst="rect">
            <a:avLst/>
          </a:prstGeom>
          <a:solidFill xmlns:a="http://schemas.openxmlformats.org/drawingml/2006/main">
            <a:srgbClr val="D24726"/>
          </a:solidFill>
          <a:ln xmlns:a="http://schemas.openxmlformats.org/drawingml/2006/main" w="0">
            <a:solidFill>
              <a:srgbClr val="D24726"/>
            </a:solidFill>
            <a:prstDash val="solid"/>
          </a:ln>
        </p:spPr>
      </p:sp>
      <p:sp>
        <p:nvSpPr>
          <p:cNvPr id="87" name="">
            <a:extLst xmlns:a="http://schemas.openxmlformats.org/drawingml/2006/main">
              <a:ext uri="{FF2B5EF4-FFF2-40B4-BE49-F238E27FC236}">
                <a16:creationId xmlns:a16="http://schemas.microsoft.com/office/drawing/2014/main" id="{9A91E6C9-C3A9-445F-AFC3-06B46D5DCB71}"/>
              </a:ext>
            </a:extLst>
          </p:cNvPr>
          <p:cNvSpPr>
            <a:spLocks xmlns:a="http://schemas.openxmlformats.org/drawingml/2006/main" noGrp="1"/>
          </p:cNvSpPr>
          <p:nvPr/>
        </p:nvSpPr>
        <p:spPr>
          <a:xfrm xmlns:a="http://schemas.openxmlformats.org/drawingml/2006/main">
            <a:off x="457200" y="1381125"/>
            <a:ext cx="11144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13" b="1">
                <a:solidFill>
                  <a:srgbClr val="3A3838"/>
                </a:solidFill>
              </a:defRPr>
            </a:pPr>
            <a:r>
              <a:rPr sz="1313" b="1">
                <a:solidFill>
                  <a:srgbClr val="3A3838"/>
                </a:solidFill>
              </a:rPr>
              <a:t>Quantum-inspired means mathematical structure only. Everything runs on ordinary floating-point hardware.</a:t>
            </a:r>
          </a:p>
        </p:txBody>
      </p:sp>
      <p:sp>
        <p:nvSpPr>
          <p:cNvPr id="88" name="">
            <a:extLst xmlns:a="http://schemas.openxmlformats.org/drawingml/2006/main">
              <a:ext uri="{FF2B5EF4-FFF2-40B4-BE49-F238E27FC236}">
                <a16:creationId xmlns:a16="http://schemas.microsoft.com/office/drawing/2014/main" id="{4980AC85-56C7-47C3-AC73-7B6487BF3F70}"/>
              </a:ext>
            </a:extLst>
          </p:cNvPr>
          <p:cNvSpPr>
            <a:spLocks xmlns:a="http://schemas.openxmlformats.org/drawingml/2006/main" noGrp="1"/>
          </p:cNvSpPr>
          <p:nvPr/>
        </p:nvSpPr>
        <p:spPr>
          <a:xfrm xmlns:a="http://schemas.openxmlformats.org/drawingml/2006/main">
            <a:off x="857250" y="2200275"/>
            <a:ext cx="457200" cy="457200"/>
          </a:xfrm>
          <a:prstGeom xmlns:a="http://schemas.openxmlformats.org/drawingml/2006/main" prst="ellipse">
            <a:avLst/>
          </a:prstGeom>
          <a:solidFill xmlns:a="http://schemas.openxmlformats.org/drawingml/2006/main">
            <a:srgbClr val="D24726"/>
          </a:solidFill>
          <a:ln xmlns:a="http://schemas.openxmlformats.org/drawingml/2006/main" w="9525">
            <a:solidFill>
              <a:srgbClr val="D24726"/>
            </a:solidFill>
            <a:prstDash val="solid"/>
          </a:ln>
        </p:spPr>
      </p:sp>
      <p:sp>
        <p:nvSpPr>
          <p:cNvPr id="89" name="">
            <a:extLst xmlns:a="http://schemas.openxmlformats.org/drawingml/2006/main">
              <a:ext uri="{FF2B5EF4-FFF2-40B4-BE49-F238E27FC236}">
                <a16:creationId xmlns:a16="http://schemas.microsoft.com/office/drawing/2014/main" id="{5662D25C-68F1-41BC-BCCF-AC6CEB194B31}"/>
              </a:ext>
            </a:extLst>
          </p:cNvPr>
          <p:cNvSpPr>
            <a:spLocks xmlns:a="http://schemas.openxmlformats.org/drawingml/2006/main" noGrp="1"/>
          </p:cNvSpPr>
          <p:nvPr/>
        </p:nvSpPr>
        <p:spPr>
          <a:xfrm xmlns:a="http://schemas.openxmlformats.org/drawingml/2006/main">
            <a:off x="857250" y="229552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defRPr>
            </a:pPr>
            <a:r>
              <a:rPr sz="1125" b="1">
                <a:solidFill>
                  <a:srgbClr val="FFFFFF"/>
                </a:solidFill>
              </a:rPr>
              <a:t>1</a:t>
            </a:r>
          </a:p>
        </p:txBody>
      </p:sp>
      <p:sp>
        <p:nvSpPr>
          <p:cNvPr id="90" name="">
            <a:extLst xmlns:a="http://schemas.openxmlformats.org/drawingml/2006/main">
              <a:ext uri="{FF2B5EF4-FFF2-40B4-BE49-F238E27FC236}">
                <a16:creationId xmlns:a16="http://schemas.microsoft.com/office/drawing/2014/main" id="{735CD508-5F00-4839-BD14-E817CD5E3F69}"/>
              </a:ext>
            </a:extLst>
          </p:cNvPr>
          <p:cNvSpPr>
            <a:spLocks xmlns:a="http://schemas.openxmlformats.org/drawingml/2006/main" noGrp="1"/>
          </p:cNvSpPr>
          <p:nvPr/>
        </p:nvSpPr>
        <p:spPr>
          <a:xfrm xmlns:a="http://schemas.openxmlformats.org/drawingml/2006/main">
            <a:off x="1571625" y="2143125"/>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1">
                <a:solidFill>
                  <a:srgbClr val="3A3838"/>
                </a:solidFill>
              </a:defRPr>
            </a:pPr>
            <a:r>
              <a:rPr sz="1163" b="1">
                <a:solidFill>
                  <a:srgbClr val="3A3838"/>
                </a:solidFill>
              </a:rPr>
              <a:t>Valid state</a:t>
            </a:r>
          </a:p>
        </p:txBody>
      </p:sp>
      <p:sp>
        <p:nvSpPr>
          <p:cNvPr id="91" name="">
            <a:extLst xmlns:a="http://schemas.openxmlformats.org/drawingml/2006/main">
              <a:ext uri="{FF2B5EF4-FFF2-40B4-BE49-F238E27FC236}">
                <a16:creationId xmlns:a16="http://schemas.microsoft.com/office/drawing/2014/main" id="{FB1404CE-E0D4-4850-BD3F-32F8D51C8DF1}"/>
              </a:ext>
            </a:extLst>
          </p:cNvPr>
          <p:cNvSpPr>
            <a:spLocks xmlns:a="http://schemas.openxmlformats.org/drawingml/2006/main" noGrp="1"/>
          </p:cNvSpPr>
          <p:nvPr/>
        </p:nvSpPr>
        <p:spPr>
          <a:xfrm xmlns:a="http://schemas.openxmlformats.org/drawingml/2006/main">
            <a:off x="3857625" y="2143125"/>
            <a:ext cx="723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20" b="0">
                <a:solidFill>
                  <a:srgbClr val="3A3838"/>
                </a:solidFill>
              </a:defRPr>
            </a:pPr>
            <a:r>
              <a:rPr sz="1020" b="0">
                <a:solidFill>
                  <a:srgbClr val="3A3838"/>
                </a:solidFill>
              </a:rPr>
              <a:t>The representation must stay normalized or explicitly track mass; matrix states must remain positive semidefinite.</a:t>
            </a:r>
          </a:p>
        </p:txBody>
      </p:sp>
      <p:sp>
        <p:nvSpPr>
          <p:cNvPr id="92" name="">
            <a:extLst xmlns:a="http://schemas.openxmlformats.org/drawingml/2006/main">
              <a:ext uri="{FF2B5EF4-FFF2-40B4-BE49-F238E27FC236}">
                <a16:creationId xmlns:a16="http://schemas.microsoft.com/office/drawing/2014/main" id="{857C8054-4C6A-4246-A620-D681B3FFE0F4}"/>
              </a:ext>
            </a:extLst>
          </p:cNvPr>
          <p:cNvSpPr>
            <a:spLocks xmlns:a="http://schemas.openxmlformats.org/drawingml/2006/main" noGrp="1"/>
          </p:cNvSpPr>
          <p:nvPr/>
        </p:nvSpPr>
        <p:spPr>
          <a:xfrm xmlns:a="http://schemas.openxmlformats.org/drawingml/2006/main">
            <a:off x="857250" y="3076575"/>
            <a:ext cx="457200" cy="457200"/>
          </a:xfrm>
          <a:prstGeom xmlns:a="http://schemas.openxmlformats.org/drawingml/2006/main" prst="ellipse">
            <a:avLst/>
          </a:prstGeom>
          <a:solidFill xmlns:a="http://schemas.openxmlformats.org/drawingml/2006/main">
            <a:srgbClr val="D24726"/>
          </a:solidFill>
          <a:ln xmlns:a="http://schemas.openxmlformats.org/drawingml/2006/main" w="9525">
            <a:solidFill>
              <a:srgbClr val="D24726"/>
            </a:solidFill>
            <a:prstDash val="solid"/>
          </a:ln>
        </p:spPr>
      </p:sp>
      <p:sp>
        <p:nvSpPr>
          <p:cNvPr id="93" name="">
            <a:extLst xmlns:a="http://schemas.openxmlformats.org/drawingml/2006/main">
              <a:ext uri="{FF2B5EF4-FFF2-40B4-BE49-F238E27FC236}">
                <a16:creationId xmlns:a16="http://schemas.microsoft.com/office/drawing/2014/main" id="{0B047C52-B265-456A-8DC3-1AC76A56EB9B}"/>
              </a:ext>
            </a:extLst>
          </p:cNvPr>
          <p:cNvSpPr>
            <a:spLocks xmlns:a="http://schemas.openxmlformats.org/drawingml/2006/main" noGrp="1"/>
          </p:cNvSpPr>
          <p:nvPr/>
        </p:nvSpPr>
        <p:spPr>
          <a:xfrm xmlns:a="http://schemas.openxmlformats.org/drawingml/2006/main">
            <a:off x="857250" y="317182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defRPr>
            </a:pPr>
            <a:r>
              <a:rPr sz="1125" b="1">
                <a:solidFill>
                  <a:srgbClr val="FFFFFF"/>
                </a:solidFill>
              </a:rPr>
              <a:t>2</a:t>
            </a:r>
          </a:p>
        </p:txBody>
      </p:sp>
      <p:sp>
        <p:nvSpPr>
          <p:cNvPr id="94" name="">
            <a:extLst xmlns:a="http://schemas.openxmlformats.org/drawingml/2006/main">
              <a:ext uri="{FF2B5EF4-FFF2-40B4-BE49-F238E27FC236}">
                <a16:creationId xmlns:a16="http://schemas.microsoft.com/office/drawing/2014/main" id="{7921C2E4-4BB6-469E-862A-05F15FD39E03}"/>
              </a:ext>
            </a:extLst>
          </p:cNvPr>
          <p:cNvSpPr>
            <a:spLocks xmlns:a="http://schemas.openxmlformats.org/drawingml/2006/main" noGrp="1"/>
          </p:cNvSpPr>
          <p:nvPr/>
        </p:nvSpPr>
        <p:spPr>
          <a:xfrm xmlns:a="http://schemas.openxmlformats.org/drawingml/2006/main">
            <a:off x="1571625" y="3019425"/>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1">
                <a:solidFill>
                  <a:srgbClr val="3A3838"/>
                </a:solidFill>
              </a:defRPr>
            </a:pPr>
            <a:r>
              <a:rPr sz="1163" b="1">
                <a:solidFill>
                  <a:srgbClr val="3A3838"/>
                </a:solidFill>
              </a:rPr>
              <a:t>Useful structure</a:t>
            </a:r>
          </a:p>
        </p:txBody>
      </p:sp>
      <p:sp>
        <p:nvSpPr>
          <p:cNvPr id="95" name="">
            <a:extLst xmlns:a="http://schemas.openxmlformats.org/drawingml/2006/main">
              <a:ext uri="{FF2B5EF4-FFF2-40B4-BE49-F238E27FC236}">
                <a16:creationId xmlns:a16="http://schemas.microsoft.com/office/drawing/2014/main" id="{C074F865-4CFF-44B6-A484-D8CBAC702253}"/>
              </a:ext>
            </a:extLst>
          </p:cNvPr>
          <p:cNvSpPr>
            <a:spLocks xmlns:a="http://schemas.openxmlformats.org/drawingml/2006/main" noGrp="1"/>
          </p:cNvSpPr>
          <p:nvPr/>
        </p:nvSpPr>
        <p:spPr>
          <a:xfrm xmlns:a="http://schemas.openxmlformats.org/drawingml/2006/main">
            <a:off x="3857625" y="3019425"/>
            <a:ext cx="723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20" b="0">
                <a:solidFill>
                  <a:srgbClr val="3A3838"/>
                </a:solidFill>
              </a:defRPr>
            </a:pPr>
            <a:r>
              <a:rPr sz="1020" b="0">
                <a:solidFill>
                  <a:srgbClr val="3A3838"/>
                </a:solidFill>
              </a:rPr>
              <a:t>Alternatives and relationships must influence later dynamics, readouts, or planning.</a:t>
            </a:r>
          </a:p>
        </p:txBody>
      </p:sp>
      <p:sp>
        <p:nvSpPr>
          <p:cNvPr id="96" name="">
            <a:extLst xmlns:a="http://schemas.openxmlformats.org/drawingml/2006/main">
              <a:ext uri="{FF2B5EF4-FFF2-40B4-BE49-F238E27FC236}">
                <a16:creationId xmlns:a16="http://schemas.microsoft.com/office/drawing/2014/main" id="{E4AE1AE0-DE72-4279-AB16-BE6E6CA116C7}"/>
              </a:ext>
            </a:extLst>
          </p:cNvPr>
          <p:cNvSpPr>
            <a:spLocks xmlns:a="http://schemas.openxmlformats.org/drawingml/2006/main" noGrp="1"/>
          </p:cNvSpPr>
          <p:nvPr/>
        </p:nvSpPr>
        <p:spPr>
          <a:xfrm xmlns:a="http://schemas.openxmlformats.org/drawingml/2006/main">
            <a:off x="857250" y="3952875"/>
            <a:ext cx="457200" cy="457200"/>
          </a:xfrm>
          <a:prstGeom xmlns:a="http://schemas.openxmlformats.org/drawingml/2006/main" prst="ellipse">
            <a:avLst/>
          </a:prstGeom>
          <a:solidFill xmlns:a="http://schemas.openxmlformats.org/drawingml/2006/main">
            <a:srgbClr val="D24726"/>
          </a:solidFill>
          <a:ln xmlns:a="http://schemas.openxmlformats.org/drawingml/2006/main" w="9525">
            <a:solidFill>
              <a:srgbClr val="D24726"/>
            </a:solidFill>
            <a:prstDash val="solid"/>
          </a:ln>
        </p:spPr>
      </p:sp>
      <p:sp>
        <p:nvSpPr>
          <p:cNvPr id="97" name="">
            <a:extLst xmlns:a="http://schemas.openxmlformats.org/drawingml/2006/main">
              <a:ext uri="{FF2B5EF4-FFF2-40B4-BE49-F238E27FC236}">
                <a16:creationId xmlns:a16="http://schemas.microsoft.com/office/drawing/2014/main" id="{6A3871FC-6E8C-42DF-9A6B-717F1C430E63}"/>
              </a:ext>
            </a:extLst>
          </p:cNvPr>
          <p:cNvSpPr>
            <a:spLocks xmlns:a="http://schemas.openxmlformats.org/drawingml/2006/main" noGrp="1"/>
          </p:cNvSpPr>
          <p:nvPr/>
        </p:nvSpPr>
        <p:spPr>
          <a:xfrm xmlns:a="http://schemas.openxmlformats.org/drawingml/2006/main">
            <a:off x="857250" y="404812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defRPr>
            </a:pPr>
            <a:r>
              <a:rPr sz="1125" b="1">
                <a:solidFill>
                  <a:srgbClr val="FFFFFF"/>
                </a:solidFill>
              </a:rPr>
              <a:t>3</a:t>
            </a:r>
          </a:p>
        </p:txBody>
      </p:sp>
      <p:sp>
        <p:nvSpPr>
          <p:cNvPr id="98" name="">
            <a:extLst xmlns:a="http://schemas.openxmlformats.org/drawingml/2006/main">
              <a:ext uri="{FF2B5EF4-FFF2-40B4-BE49-F238E27FC236}">
                <a16:creationId xmlns:a16="http://schemas.microsoft.com/office/drawing/2014/main" id="{A9F36F49-846F-4952-9009-8D9E6BD096F2}"/>
              </a:ext>
            </a:extLst>
          </p:cNvPr>
          <p:cNvSpPr>
            <a:spLocks xmlns:a="http://schemas.openxmlformats.org/drawingml/2006/main" noGrp="1"/>
          </p:cNvSpPr>
          <p:nvPr/>
        </p:nvSpPr>
        <p:spPr>
          <a:xfrm xmlns:a="http://schemas.openxmlformats.org/drawingml/2006/main">
            <a:off x="1571625" y="3895725"/>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1">
                <a:solidFill>
                  <a:srgbClr val="3A3838"/>
                </a:solidFill>
              </a:defRPr>
            </a:pPr>
            <a:r>
              <a:rPr sz="1163" b="1">
                <a:solidFill>
                  <a:srgbClr val="3A3838"/>
                </a:solidFill>
              </a:rPr>
              <a:t>Scalable control</a:t>
            </a:r>
          </a:p>
        </p:txBody>
      </p:sp>
      <p:sp>
        <p:nvSpPr>
          <p:cNvPr id="99" name="">
            <a:extLst xmlns:a="http://schemas.openxmlformats.org/drawingml/2006/main">
              <a:ext uri="{FF2B5EF4-FFF2-40B4-BE49-F238E27FC236}">
                <a16:creationId xmlns:a16="http://schemas.microsoft.com/office/drawing/2014/main" id="{C939F7A0-9350-4B5D-A77B-3D683E77A9FC}"/>
              </a:ext>
            </a:extLst>
          </p:cNvPr>
          <p:cNvSpPr>
            <a:spLocks xmlns:a="http://schemas.openxmlformats.org/drawingml/2006/main" noGrp="1"/>
          </p:cNvSpPr>
          <p:nvPr/>
        </p:nvSpPr>
        <p:spPr>
          <a:xfrm xmlns:a="http://schemas.openxmlformats.org/drawingml/2006/main">
            <a:off x="3857625" y="3895725"/>
            <a:ext cx="723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20" b="0">
                <a:solidFill>
                  <a:srgbClr val="3A3838"/>
                </a:solidFill>
              </a:defRPr>
            </a:pPr>
            <a:r>
              <a:rPr sz="1020" b="0">
                <a:solidFill>
                  <a:srgbClr val="3A3838"/>
                </a:solidFill>
              </a:rPr>
              <a:t>Rank, bond dimension, or branch count must provide a clear compute–capacity knob.</a:t>
            </a:r>
          </a:p>
        </p:txBody>
      </p:sp>
      <p:sp>
        <p:nvSpPr>
          <p:cNvPr id="100" name="">
            <a:extLst xmlns:a="http://schemas.openxmlformats.org/drawingml/2006/main">
              <a:ext uri="{FF2B5EF4-FFF2-40B4-BE49-F238E27FC236}">
                <a16:creationId xmlns:a16="http://schemas.microsoft.com/office/drawing/2014/main" id="{3D9491E5-BE9E-4119-883C-9E49F37F6C56}"/>
              </a:ext>
            </a:extLst>
          </p:cNvPr>
          <p:cNvSpPr>
            <a:spLocks xmlns:a="http://schemas.openxmlformats.org/drawingml/2006/main" noGrp="1"/>
          </p:cNvSpPr>
          <p:nvPr/>
        </p:nvSpPr>
        <p:spPr>
          <a:xfrm xmlns:a="http://schemas.openxmlformats.org/drawingml/2006/main">
            <a:off x="857250" y="4829175"/>
            <a:ext cx="457200" cy="457200"/>
          </a:xfrm>
          <a:prstGeom xmlns:a="http://schemas.openxmlformats.org/drawingml/2006/main" prst="ellipse">
            <a:avLst/>
          </a:prstGeom>
          <a:solidFill xmlns:a="http://schemas.openxmlformats.org/drawingml/2006/main">
            <a:srgbClr val="D24726"/>
          </a:solidFill>
          <a:ln xmlns:a="http://schemas.openxmlformats.org/drawingml/2006/main" w="9525">
            <a:solidFill>
              <a:srgbClr val="D24726"/>
            </a:solidFill>
            <a:prstDash val="solid"/>
          </a:ln>
        </p:spPr>
      </p:sp>
      <p:sp>
        <p:nvSpPr>
          <p:cNvPr id="101" name="">
            <a:extLst xmlns:a="http://schemas.openxmlformats.org/drawingml/2006/main">
              <a:ext uri="{FF2B5EF4-FFF2-40B4-BE49-F238E27FC236}">
                <a16:creationId xmlns:a16="http://schemas.microsoft.com/office/drawing/2014/main" id="{0B7BABB1-EEE9-428D-B00A-5196C38F5E97}"/>
              </a:ext>
            </a:extLst>
          </p:cNvPr>
          <p:cNvSpPr>
            <a:spLocks xmlns:a="http://schemas.openxmlformats.org/drawingml/2006/main" noGrp="1"/>
          </p:cNvSpPr>
          <p:nvPr/>
        </p:nvSpPr>
        <p:spPr>
          <a:xfrm xmlns:a="http://schemas.openxmlformats.org/drawingml/2006/main">
            <a:off x="857250" y="492442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defRPr>
            </a:pPr>
            <a:r>
              <a:rPr sz="1125" b="1">
                <a:solidFill>
                  <a:srgbClr val="FFFFFF"/>
                </a:solidFill>
              </a:rPr>
              <a:t>4</a:t>
            </a:r>
          </a:p>
        </p:txBody>
      </p:sp>
      <p:sp>
        <p:nvSpPr>
          <p:cNvPr id="102" name="">
            <a:extLst xmlns:a="http://schemas.openxmlformats.org/drawingml/2006/main">
              <a:ext uri="{FF2B5EF4-FFF2-40B4-BE49-F238E27FC236}">
                <a16:creationId xmlns:a16="http://schemas.microsoft.com/office/drawing/2014/main" id="{BA2FDD44-AF98-401E-88A7-C984AA9A5C8A}"/>
              </a:ext>
            </a:extLst>
          </p:cNvPr>
          <p:cNvSpPr>
            <a:spLocks xmlns:a="http://schemas.openxmlformats.org/drawingml/2006/main" noGrp="1"/>
          </p:cNvSpPr>
          <p:nvPr/>
        </p:nvSpPr>
        <p:spPr>
          <a:xfrm xmlns:a="http://schemas.openxmlformats.org/drawingml/2006/main">
            <a:off x="1571625" y="4772025"/>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1">
                <a:solidFill>
                  <a:srgbClr val="3A3838"/>
                </a:solidFill>
              </a:defRPr>
            </a:pPr>
            <a:r>
              <a:rPr sz="1163" b="1">
                <a:solidFill>
                  <a:srgbClr val="3A3838"/>
                </a:solidFill>
              </a:rPr>
              <a:t>Falsifiable benefit</a:t>
            </a:r>
          </a:p>
        </p:txBody>
      </p:sp>
      <p:sp>
        <p:nvSpPr>
          <p:cNvPr id="103" name="">
            <a:extLst xmlns:a="http://schemas.openxmlformats.org/drawingml/2006/main">
              <a:ext uri="{FF2B5EF4-FFF2-40B4-BE49-F238E27FC236}">
                <a16:creationId xmlns:a16="http://schemas.microsoft.com/office/drawing/2014/main" id="{CC0BE650-5AAE-4CDE-B04B-7756C55CDAC1}"/>
              </a:ext>
            </a:extLst>
          </p:cNvPr>
          <p:cNvSpPr>
            <a:spLocks xmlns:a="http://schemas.openxmlformats.org/drawingml/2006/main" noGrp="1"/>
          </p:cNvSpPr>
          <p:nvPr/>
        </p:nvSpPr>
        <p:spPr>
          <a:xfrm xmlns:a="http://schemas.openxmlformats.org/drawingml/2006/main">
            <a:off x="3857625" y="4772025"/>
            <a:ext cx="723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20" b="0">
                <a:solidFill>
                  <a:srgbClr val="3A3838"/>
                </a:solidFill>
              </a:defRPr>
            </a:pPr>
            <a:r>
              <a:rPr sz="1020" b="0">
                <a:solidFill>
                  <a:srgbClr val="3A3838"/>
                </a:solidFill>
              </a:rPr>
              <a:t>The richer core must beat matched classical baselines on prediction, calibration, or control.</a:t>
            </a:r>
          </a:p>
        </p:txBody>
      </p:sp>
      <p:sp>
        <p:nvSpPr>
          <p:cNvPr id="104" name="">
            <a:extLst xmlns:a="http://schemas.openxmlformats.org/drawingml/2006/main">
              <a:ext uri="{FF2B5EF4-FFF2-40B4-BE49-F238E27FC236}">
                <a16:creationId xmlns:a16="http://schemas.microsoft.com/office/drawing/2014/main" id="{7651FC51-0346-406F-A6B4-E097C5C75CD6}"/>
              </a:ext>
            </a:extLst>
          </p:cNvPr>
          <p:cNvSpPr>
            <a:spLocks xmlns:a="http://schemas.openxmlformats.org/drawingml/2006/main" noGrp="1"/>
          </p:cNvSpPr>
          <p:nvPr/>
        </p:nvSpPr>
        <p:spPr>
          <a:xfrm xmlns:a="http://schemas.openxmlformats.org/drawingml/2006/main">
            <a:off x="3000375" y="577215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63" b="1">
                <a:solidFill>
                  <a:srgbClr val="D24726"/>
                </a:solidFill>
              </a:defRPr>
            </a:pPr>
            <a:r>
              <a:rPr sz="1163" b="1">
                <a:solidFill>
                  <a:srgbClr val="D24726"/>
                </a:solidFill>
              </a:rPr>
              <a:t>No qubits. No quantum computer. No speed-up claim.</a:t>
            </a:r>
          </a:p>
        </p:txBody>
      </p:sp>
      <p:sp>
        <p:nvSpPr>
          <p:cNvPr id="105" name="">
            <a:extLst xmlns:a="http://schemas.openxmlformats.org/drawingml/2006/main">
              <a:ext uri="{FF2B5EF4-FFF2-40B4-BE49-F238E27FC236}">
                <a16:creationId xmlns:a16="http://schemas.microsoft.com/office/drawing/2014/main" id="{871858ED-1CB2-4965-9EB4-60F26C2ACAEC}"/>
              </a:ext>
            </a:extLst>
          </p:cNvPr>
          <p:cNvSpPr>
            <a:spLocks xmlns:a="http://schemas.openxmlformats.org/drawingml/2006/main" noGrp="1"/>
          </p:cNvSpPr>
          <p:nvPr/>
        </p:nvSpPr>
        <p:spPr>
          <a:xfrm xmlns:a="http://schemas.openxmlformats.org/drawingml/2006/main">
            <a:off x="523875" y="6238875"/>
            <a:ext cx="1109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0">
                <a:solidFill>
                  <a:srgbClr val="767171"/>
                </a:solidFill>
              </a:defRPr>
            </a:pPr>
            <a:r>
              <a:rPr sz="660" b="0">
                <a:solidFill>
                  <a:srgbClr val="767171"/>
                </a:solidFill>
              </a:rPr>
              <a:t>The proposal borrows density operators, purification/tensor networks, and projective-state ensembles as classical model parameterizations.</a:t>
            </a:r>
          </a:p>
        </p:txBody>
      </p:sp>
    </p:spTree>
    <p:extLst>
      <p:ext uri="{BB962C8B-B14F-4D97-AF65-F5344CB8AC3E}">
        <p14:creationId xmlns:p14="http://schemas.microsoft.com/office/powerpoint/2010/main" val="169501168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92" name="Google Shape;92;p8">
            <a:extLst xmlns:a="http://schemas.openxmlformats.org/drawingml/2006/main">
              <a:ext uri="{FF2B5EF4-FFF2-40B4-BE49-F238E27FC236}">
                <a16:creationId xmlns:a16="http://schemas.microsoft.com/office/drawing/2014/main" id="{F75C90D7-79BE-427E-A019-BE36736A03AB}"/>
              </a:ext>
            </a:extLst>
          </p:cNvPr>
          <p:cNvSpPr>
            <a:spLocks xmlns:a="http://schemas.openxmlformats.org/drawingml/2006/main" noGrp="1"/>
          </p:cNvSpPr>
          <p:nvPr>
            <p:ph type="title" idx="0"/>
          </p:nvPr>
        </p:nvSpPr>
        <p:spPr>
          <a:xfrm xmlns:a="http://schemas.openxmlformats.org/drawingml/2006/main">
            <a:off x="444532" y="430625"/>
            <a:ext cx="11210544" cy="5577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indent="0" algn="l">
              <a:spcBef>
                <a:spcPts val="0"/>
              </a:spcBef>
              <a:spcAft>
                <a:spcPts val="0"/>
              </a:spcAft>
              <a:buNone/>
              <a:defRPr sz="2100" b="0">
                <a:solidFill>
                  <a:srgbClr val="3A3838"/>
                </a:solidFill>
              </a:defRPr>
            </a:pPr>
            <a:r>
              <a:rPr sz="2100" b="0">
                <a:solidFill>
                  <a:srgbClr val="3A3838"/>
                </a:solidFill>
              </a:rPr>
              <a:t>Three Proposed Approaches</a:t>
            </a:r>
          </a:p>
        </p:txBody>
      </p:sp>
      <p:sp>
        <p:nvSpPr>
          <p:cNvPr id="93" name="">
            <a:extLst xmlns:a="http://schemas.openxmlformats.org/drawingml/2006/main">
              <a:ext uri="{FF2B5EF4-FFF2-40B4-BE49-F238E27FC236}">
                <a16:creationId xmlns:a16="http://schemas.microsoft.com/office/drawing/2014/main" id="{6A8AD355-804A-4375-B699-197A8604BF97}"/>
              </a:ext>
            </a:extLst>
          </p:cNvPr>
          <p:cNvSpPr>
            <a:spLocks xmlns:a="http://schemas.openxmlformats.org/drawingml/2006/main" noGrp="1"/>
          </p:cNvSpPr>
          <p:nvPr/>
        </p:nvSpPr>
        <p:spPr>
          <a:xfrm xmlns:a="http://schemas.openxmlformats.org/drawingml/2006/main">
            <a:off x="444532" y="1097280"/>
            <a:ext cx="11210544" cy="17145"/>
          </a:xfrm>
          <a:prstGeom xmlns:a="http://schemas.openxmlformats.org/drawingml/2006/main" prst="rect">
            <a:avLst/>
          </a:prstGeom>
          <a:solidFill xmlns:a="http://schemas.openxmlformats.org/drawingml/2006/main">
            <a:srgbClr val="D24726"/>
          </a:solidFill>
          <a:ln xmlns:a="http://schemas.openxmlformats.org/drawingml/2006/main" w="0">
            <a:solidFill>
              <a:srgbClr val="D24726"/>
            </a:solidFill>
            <a:prstDash val="solid"/>
          </a:ln>
        </p:spPr>
      </p:sp>
      <p:sp>
        <p:nvSpPr>
          <p:cNvPr id="94" name="">
            <a:extLst xmlns:a="http://schemas.openxmlformats.org/drawingml/2006/main">
              <a:ext uri="{FF2B5EF4-FFF2-40B4-BE49-F238E27FC236}">
                <a16:creationId xmlns:a16="http://schemas.microsoft.com/office/drawing/2014/main" id="{1B9B224D-22D1-4F8E-9769-46A1D3645380}"/>
              </a:ext>
            </a:extLst>
          </p:cNvPr>
          <p:cNvSpPr>
            <a:spLocks xmlns:a="http://schemas.openxmlformats.org/drawingml/2006/main" noGrp="1"/>
          </p:cNvSpPr>
          <p:nvPr/>
        </p:nvSpPr>
        <p:spPr>
          <a:xfrm xmlns:a="http://schemas.openxmlformats.org/drawingml/2006/main">
            <a:off x="457200" y="1381125"/>
            <a:ext cx="11144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3A3838"/>
                </a:solidFill>
              </a:defRPr>
            </a:pPr>
            <a:r>
              <a:rPr sz="1275" b="0">
                <a:solidFill>
                  <a:srgbClr val="3A3838"/>
                </a:solidFill>
              </a:rPr>
              <a:t>All three aim to preserve structured uncertainty, but they place the structure in different parts of the latent state.</a:t>
            </a:r>
          </a:p>
        </p:txBody>
      </p:sp>
      <p:sp>
        <p:nvSpPr>
          <p:cNvPr id="95" name="">
            <a:extLst xmlns:a="http://schemas.openxmlformats.org/drawingml/2006/main">
              <a:ext uri="{FF2B5EF4-FFF2-40B4-BE49-F238E27FC236}">
                <a16:creationId xmlns:a16="http://schemas.microsoft.com/office/drawing/2014/main" id="{7FF685E0-F979-4F82-B052-D76D0E19F800}"/>
              </a:ext>
            </a:extLst>
          </p:cNvPr>
          <p:cNvSpPr>
            <a:spLocks xmlns:a="http://schemas.openxmlformats.org/drawingml/2006/main" noGrp="1"/>
          </p:cNvSpPr>
          <p:nvPr/>
        </p:nvSpPr>
        <p:spPr>
          <a:xfrm xmlns:a="http://schemas.openxmlformats.org/drawingml/2006/main">
            <a:off x="666750" y="2238375"/>
            <a:ext cx="3143250" cy="2714625"/>
          </a:xfrm>
          <a:prstGeom xmlns:a="http://schemas.openxmlformats.org/drawingml/2006/main" prst="rect">
            <a:avLst/>
          </a:prstGeom>
          <a:solidFill xmlns:a="http://schemas.openxmlformats.org/drawingml/2006/main">
            <a:srgbClr val="DDEBF7"/>
          </a:solidFill>
          <a:ln xmlns:a="http://schemas.openxmlformats.org/drawingml/2006/main" w="12383">
            <a:solidFill>
              <a:srgbClr val="4472C4"/>
            </a:solidFill>
            <a:prstDash val="solid"/>
          </a:ln>
        </p:spPr>
      </p:sp>
      <p:sp>
        <p:nvSpPr>
          <p:cNvPr id="96" name="">
            <a:extLst xmlns:a="http://schemas.openxmlformats.org/drawingml/2006/main">
              <a:ext uri="{FF2B5EF4-FFF2-40B4-BE49-F238E27FC236}">
                <a16:creationId xmlns:a16="http://schemas.microsoft.com/office/drawing/2014/main" id="{D2AB135E-7832-4D58-BE19-0F283314D0FC}"/>
              </a:ext>
            </a:extLst>
          </p:cNvPr>
          <p:cNvSpPr>
            <a:spLocks xmlns:a="http://schemas.openxmlformats.org/drawingml/2006/main" noGrp="1"/>
          </p:cNvSpPr>
          <p:nvPr/>
        </p:nvSpPr>
        <p:spPr>
          <a:xfrm xmlns:a="http://schemas.openxmlformats.org/drawingml/2006/main">
            <a:off x="1924050" y="2457450"/>
            <a:ext cx="628650" cy="628650"/>
          </a:xfrm>
          <a:prstGeom xmlns:a="http://schemas.openxmlformats.org/drawingml/2006/main" prst="ellipse">
            <a:avLst/>
          </a:prstGeom>
          <a:solidFill xmlns:a="http://schemas.openxmlformats.org/drawingml/2006/main">
            <a:srgbClr val="FFFFFF"/>
          </a:solidFill>
          <a:ln xmlns:a="http://schemas.openxmlformats.org/drawingml/2006/main" w="14288">
            <a:solidFill>
              <a:srgbClr val="4472C4"/>
            </a:solidFill>
            <a:prstDash val="solid"/>
          </a:ln>
        </p:spPr>
      </p:sp>
      <p:sp>
        <p:nvSpPr>
          <p:cNvPr id="97" name="">
            <a:extLst xmlns:a="http://schemas.openxmlformats.org/drawingml/2006/main">
              <a:ext uri="{FF2B5EF4-FFF2-40B4-BE49-F238E27FC236}">
                <a16:creationId xmlns:a16="http://schemas.microsoft.com/office/drawing/2014/main" id="{894ADB6B-A481-45FC-A3F4-D8FBDAEB7093}"/>
              </a:ext>
            </a:extLst>
          </p:cNvPr>
          <p:cNvSpPr>
            <a:spLocks xmlns:a="http://schemas.openxmlformats.org/drawingml/2006/main" noGrp="1"/>
          </p:cNvSpPr>
          <p:nvPr/>
        </p:nvSpPr>
        <p:spPr>
          <a:xfrm xmlns:a="http://schemas.openxmlformats.org/drawingml/2006/main">
            <a:off x="1924050" y="2628900"/>
            <a:ext cx="628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4472C4"/>
                </a:solidFill>
              </a:defRPr>
            </a:pPr>
            <a:r>
              <a:rPr sz="1500" b="1">
                <a:solidFill>
                  <a:srgbClr val="4472C4"/>
                </a:solidFill>
              </a:rPr>
              <a:t>1</a:t>
            </a:r>
          </a:p>
        </p:txBody>
      </p:sp>
      <p:sp>
        <p:nvSpPr>
          <p:cNvPr id="98" name="">
            <a:extLst xmlns:a="http://schemas.openxmlformats.org/drawingml/2006/main">
              <a:ext uri="{FF2B5EF4-FFF2-40B4-BE49-F238E27FC236}">
                <a16:creationId xmlns:a16="http://schemas.microsoft.com/office/drawing/2014/main" id="{67EDFA04-18D8-4539-9A22-731D1BFBADCD}"/>
              </a:ext>
            </a:extLst>
          </p:cNvPr>
          <p:cNvSpPr>
            <a:spLocks xmlns:a="http://schemas.openxmlformats.org/drawingml/2006/main" noGrp="1"/>
          </p:cNvSpPr>
          <p:nvPr/>
        </p:nvSpPr>
        <p:spPr>
          <a:xfrm xmlns:a="http://schemas.openxmlformats.org/drawingml/2006/main">
            <a:off x="857250" y="3295650"/>
            <a:ext cx="276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38" b="1">
                <a:solidFill>
                  <a:srgbClr val="4472C4"/>
                </a:solidFill>
              </a:defRPr>
            </a:pPr>
            <a:r>
              <a:rPr sz="1238" b="1">
                <a:solidFill>
                  <a:srgbClr val="4472C4"/>
                </a:solidFill>
              </a:rPr>
              <a:t>Quantum Latent Core (QLC)</a:t>
            </a:r>
          </a:p>
        </p:txBody>
      </p:sp>
      <p:sp>
        <p:nvSpPr>
          <p:cNvPr id="99" name="">
            <a:extLst xmlns:a="http://schemas.openxmlformats.org/drawingml/2006/main">
              <a:ext uri="{FF2B5EF4-FFF2-40B4-BE49-F238E27FC236}">
                <a16:creationId xmlns:a16="http://schemas.microsoft.com/office/drawing/2014/main" id="{6FB1E33B-FE52-4E8A-8091-11CF474DEEE5}"/>
              </a:ext>
            </a:extLst>
          </p:cNvPr>
          <p:cNvSpPr>
            <a:spLocks xmlns:a="http://schemas.openxmlformats.org/drawingml/2006/main" noGrp="1"/>
          </p:cNvSpPr>
          <p:nvPr/>
        </p:nvSpPr>
        <p:spPr>
          <a:xfrm xmlns:a="http://schemas.openxmlformats.org/drawingml/2006/main">
            <a:off x="933450" y="3914775"/>
            <a:ext cx="2609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3A3838"/>
                </a:solidFill>
              </a:defRPr>
            </a:pPr>
            <a:r>
              <a:rPr sz="975" b="0">
                <a:solidFill>
                  <a:srgbClr val="3A3838"/>
                </a:solidFill>
              </a:rPr>
              <a:t>One density matrix stores a constrained joint belief.</a:t>
            </a:r>
          </a:p>
        </p:txBody>
      </p:sp>
      <p:sp>
        <p:nvSpPr>
          <p:cNvPr id="100" name="">
            <a:extLst xmlns:a="http://schemas.openxmlformats.org/drawingml/2006/main">
              <a:ext uri="{FF2B5EF4-FFF2-40B4-BE49-F238E27FC236}">
                <a16:creationId xmlns:a16="http://schemas.microsoft.com/office/drawing/2014/main" id="{5D9A59CD-8A88-4420-8B94-8CB1DBE32879}"/>
              </a:ext>
            </a:extLst>
          </p:cNvPr>
          <p:cNvSpPr>
            <a:spLocks xmlns:a="http://schemas.openxmlformats.org/drawingml/2006/main" noGrp="1"/>
          </p:cNvSpPr>
          <p:nvPr/>
        </p:nvSpPr>
        <p:spPr>
          <a:xfrm xmlns:a="http://schemas.openxmlformats.org/drawingml/2006/main">
            <a:off x="895350" y="45148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48" b="0">
                <a:solidFill>
                  <a:srgbClr val="767171"/>
                </a:solidFill>
              </a:defRPr>
            </a:pPr>
            <a:r>
              <a:rPr sz="848" b="0">
                <a:solidFill>
                  <a:srgbClr val="767171"/>
                </a:solidFill>
              </a:rPr>
              <a:t>Can learned coherence improve prediction?</a:t>
            </a:r>
          </a:p>
        </p:txBody>
      </p:sp>
      <p:sp>
        <p:nvSpPr>
          <p:cNvPr id="101" name="">
            <a:extLst xmlns:a="http://schemas.openxmlformats.org/drawingml/2006/main">
              <a:ext uri="{FF2B5EF4-FFF2-40B4-BE49-F238E27FC236}">
                <a16:creationId xmlns:a16="http://schemas.microsoft.com/office/drawing/2014/main" id="{BCBD7C0E-AE1A-4BDD-B86B-6F14C30E4A53}"/>
              </a:ext>
            </a:extLst>
          </p:cNvPr>
          <p:cNvSpPr>
            <a:spLocks xmlns:a="http://schemas.openxmlformats.org/drawingml/2006/main" noGrp="1"/>
          </p:cNvSpPr>
          <p:nvPr/>
        </p:nvSpPr>
        <p:spPr>
          <a:xfrm xmlns:a="http://schemas.openxmlformats.org/drawingml/2006/main">
            <a:off x="4333875" y="2238375"/>
            <a:ext cx="3143250" cy="2714625"/>
          </a:xfrm>
          <a:prstGeom xmlns:a="http://schemas.openxmlformats.org/drawingml/2006/main" prst="rect">
            <a:avLst/>
          </a:prstGeom>
          <a:solidFill xmlns:a="http://schemas.openxmlformats.org/drawingml/2006/main">
            <a:srgbClr val="E2F0D9"/>
          </a:solidFill>
          <a:ln xmlns:a="http://schemas.openxmlformats.org/drawingml/2006/main" w="12383">
            <a:solidFill>
              <a:srgbClr val="70AD47"/>
            </a:solidFill>
            <a:prstDash val="solid"/>
          </a:ln>
        </p:spPr>
      </p:sp>
      <p:sp>
        <p:nvSpPr>
          <p:cNvPr id="102" name="">
            <a:extLst xmlns:a="http://schemas.openxmlformats.org/drawingml/2006/main">
              <a:ext uri="{FF2B5EF4-FFF2-40B4-BE49-F238E27FC236}">
                <a16:creationId xmlns:a16="http://schemas.microsoft.com/office/drawing/2014/main" id="{3D85DBFE-F03A-455E-8C82-90E845E01197}"/>
              </a:ext>
            </a:extLst>
          </p:cNvPr>
          <p:cNvSpPr>
            <a:spLocks xmlns:a="http://schemas.openxmlformats.org/drawingml/2006/main" noGrp="1"/>
          </p:cNvSpPr>
          <p:nvPr/>
        </p:nvSpPr>
        <p:spPr>
          <a:xfrm xmlns:a="http://schemas.openxmlformats.org/drawingml/2006/main">
            <a:off x="5591175" y="2457450"/>
            <a:ext cx="628650" cy="628650"/>
          </a:xfrm>
          <a:prstGeom xmlns:a="http://schemas.openxmlformats.org/drawingml/2006/main" prst="ellipse">
            <a:avLst/>
          </a:prstGeom>
          <a:solidFill xmlns:a="http://schemas.openxmlformats.org/drawingml/2006/main">
            <a:srgbClr val="FFFFFF"/>
          </a:solidFill>
          <a:ln xmlns:a="http://schemas.openxmlformats.org/drawingml/2006/main" w="14288">
            <a:solidFill>
              <a:srgbClr val="70AD47"/>
            </a:solidFill>
            <a:prstDash val="solid"/>
          </a:ln>
        </p:spPr>
      </p:sp>
      <p:sp>
        <p:nvSpPr>
          <p:cNvPr id="103" name="">
            <a:extLst xmlns:a="http://schemas.openxmlformats.org/drawingml/2006/main">
              <a:ext uri="{FF2B5EF4-FFF2-40B4-BE49-F238E27FC236}">
                <a16:creationId xmlns:a16="http://schemas.microsoft.com/office/drawing/2014/main" id="{E4A2CD47-1347-4F95-A335-BA90CAF7995A}"/>
              </a:ext>
            </a:extLst>
          </p:cNvPr>
          <p:cNvSpPr>
            <a:spLocks xmlns:a="http://schemas.openxmlformats.org/drawingml/2006/main" noGrp="1"/>
          </p:cNvSpPr>
          <p:nvPr/>
        </p:nvSpPr>
        <p:spPr>
          <a:xfrm xmlns:a="http://schemas.openxmlformats.org/drawingml/2006/main">
            <a:off x="5591175" y="2628900"/>
            <a:ext cx="628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70AD47"/>
                </a:solidFill>
              </a:defRPr>
            </a:pPr>
            <a:r>
              <a:rPr sz="1500" b="1">
                <a:solidFill>
                  <a:srgbClr val="70AD47"/>
                </a:solidFill>
              </a:rPr>
              <a:t>2</a:t>
            </a:r>
          </a:p>
        </p:txBody>
      </p:sp>
      <p:sp>
        <p:nvSpPr>
          <p:cNvPr id="104" name="">
            <a:extLst xmlns:a="http://schemas.openxmlformats.org/drawingml/2006/main">
              <a:ext uri="{FF2B5EF4-FFF2-40B4-BE49-F238E27FC236}">
                <a16:creationId xmlns:a16="http://schemas.microsoft.com/office/drawing/2014/main" id="{C05890C9-6D53-4AF7-960E-714743060828}"/>
              </a:ext>
            </a:extLst>
          </p:cNvPr>
          <p:cNvSpPr>
            <a:spLocks xmlns:a="http://schemas.openxmlformats.org/drawingml/2006/main" noGrp="1"/>
          </p:cNvSpPr>
          <p:nvPr/>
        </p:nvSpPr>
        <p:spPr>
          <a:xfrm xmlns:a="http://schemas.openxmlformats.org/drawingml/2006/main">
            <a:off x="4524375" y="3295650"/>
            <a:ext cx="276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38" b="1">
                <a:solidFill>
                  <a:srgbClr val="70AD47"/>
                </a:solidFill>
              </a:defRPr>
            </a:pPr>
            <a:r>
              <a:rPr sz="1238" b="1">
                <a:solidFill>
                  <a:srgbClr val="70AD47"/>
                </a:solidFill>
              </a:rPr>
              <a:t>Purified Slot Core (PSC)</a:t>
            </a:r>
          </a:p>
        </p:txBody>
      </p:sp>
      <p:sp>
        <p:nvSpPr>
          <p:cNvPr id="105" name="">
            <a:extLst xmlns:a="http://schemas.openxmlformats.org/drawingml/2006/main">
              <a:ext uri="{FF2B5EF4-FFF2-40B4-BE49-F238E27FC236}">
                <a16:creationId xmlns:a16="http://schemas.microsoft.com/office/drawing/2014/main" id="{74BCFEFD-21C3-4142-85D2-09C2A7BF2316}"/>
              </a:ext>
            </a:extLst>
          </p:cNvPr>
          <p:cNvSpPr>
            <a:spLocks xmlns:a="http://schemas.openxmlformats.org/drawingml/2006/main" noGrp="1"/>
          </p:cNvSpPr>
          <p:nvPr/>
        </p:nvSpPr>
        <p:spPr>
          <a:xfrm xmlns:a="http://schemas.openxmlformats.org/drawingml/2006/main">
            <a:off x="4600575" y="3914775"/>
            <a:ext cx="2609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3A3838"/>
                </a:solidFill>
              </a:defRPr>
            </a:pPr>
            <a:r>
              <a:rPr sz="975" b="0">
                <a:solidFill>
                  <a:srgbClr val="3A3838"/>
                </a:solidFill>
              </a:rPr>
              <a:t>Object slots are joined by tensor-network bonds.</a:t>
            </a:r>
          </a:p>
        </p:txBody>
      </p:sp>
      <p:sp>
        <p:nvSpPr>
          <p:cNvPr id="106" name="">
            <a:extLst xmlns:a="http://schemas.openxmlformats.org/drawingml/2006/main">
              <a:ext uri="{FF2B5EF4-FFF2-40B4-BE49-F238E27FC236}">
                <a16:creationId xmlns:a16="http://schemas.microsoft.com/office/drawing/2014/main" id="{ECF847CD-61A9-4C04-A0E4-573ADC022E45}"/>
              </a:ext>
            </a:extLst>
          </p:cNvPr>
          <p:cNvSpPr>
            <a:spLocks xmlns:a="http://schemas.openxmlformats.org/drawingml/2006/main" noGrp="1"/>
          </p:cNvSpPr>
          <p:nvPr/>
        </p:nvSpPr>
        <p:spPr>
          <a:xfrm xmlns:a="http://schemas.openxmlformats.org/drawingml/2006/main">
            <a:off x="4562475" y="45148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48" b="0">
                <a:solidFill>
                  <a:srgbClr val="767171"/>
                </a:solidFill>
              </a:defRPr>
            </a:pPr>
            <a:r>
              <a:rPr sz="848" b="0">
                <a:solidFill>
                  <a:srgbClr val="767171"/>
                </a:solidFill>
              </a:rPr>
              <a:t>Can χ preserve useful cross-object dependence?</a:t>
            </a:r>
          </a:p>
        </p:txBody>
      </p:sp>
      <p:sp>
        <p:nvSpPr>
          <p:cNvPr id="107" name="">
            <a:extLst xmlns:a="http://schemas.openxmlformats.org/drawingml/2006/main">
              <a:ext uri="{FF2B5EF4-FFF2-40B4-BE49-F238E27FC236}">
                <a16:creationId xmlns:a16="http://schemas.microsoft.com/office/drawing/2014/main" id="{8257379F-E666-4FD4-ACD9-51C01034E8FB}"/>
              </a:ext>
            </a:extLst>
          </p:cNvPr>
          <p:cNvSpPr>
            <a:spLocks xmlns:a="http://schemas.openxmlformats.org/drawingml/2006/main" noGrp="1"/>
          </p:cNvSpPr>
          <p:nvPr/>
        </p:nvSpPr>
        <p:spPr>
          <a:xfrm xmlns:a="http://schemas.openxmlformats.org/drawingml/2006/main">
            <a:off x="8001000" y="2238375"/>
            <a:ext cx="3143250" cy="2714625"/>
          </a:xfrm>
          <a:prstGeom xmlns:a="http://schemas.openxmlformats.org/drawingml/2006/main" prst="rect">
            <a:avLst/>
          </a:prstGeom>
          <a:solidFill xmlns:a="http://schemas.openxmlformats.org/drawingml/2006/main">
            <a:srgbClr val="E4DFEC"/>
          </a:solidFill>
          <a:ln xmlns:a="http://schemas.openxmlformats.org/drawingml/2006/main" w="12383">
            <a:solidFill>
              <a:srgbClr val="8064A2"/>
            </a:solidFill>
            <a:prstDash val="solid"/>
          </a:ln>
        </p:spPr>
      </p:sp>
      <p:sp>
        <p:nvSpPr>
          <p:cNvPr id="108" name="">
            <a:extLst xmlns:a="http://schemas.openxmlformats.org/drawingml/2006/main">
              <a:ext uri="{FF2B5EF4-FFF2-40B4-BE49-F238E27FC236}">
                <a16:creationId xmlns:a16="http://schemas.microsoft.com/office/drawing/2014/main" id="{611BFC21-8C14-4D03-B7DD-05A9FC4AA022}"/>
              </a:ext>
            </a:extLst>
          </p:cNvPr>
          <p:cNvSpPr>
            <a:spLocks xmlns:a="http://schemas.openxmlformats.org/drawingml/2006/main" noGrp="1"/>
          </p:cNvSpPr>
          <p:nvPr/>
        </p:nvSpPr>
        <p:spPr>
          <a:xfrm xmlns:a="http://schemas.openxmlformats.org/drawingml/2006/main">
            <a:off x="9258300" y="2457450"/>
            <a:ext cx="628650" cy="628650"/>
          </a:xfrm>
          <a:prstGeom xmlns:a="http://schemas.openxmlformats.org/drawingml/2006/main" prst="ellipse">
            <a:avLst/>
          </a:prstGeom>
          <a:solidFill xmlns:a="http://schemas.openxmlformats.org/drawingml/2006/main">
            <a:srgbClr val="FFFFFF"/>
          </a:solidFill>
          <a:ln xmlns:a="http://schemas.openxmlformats.org/drawingml/2006/main" w="14288">
            <a:solidFill>
              <a:srgbClr val="8064A2"/>
            </a:solidFill>
            <a:prstDash val="solid"/>
          </a:ln>
        </p:spPr>
      </p:sp>
      <p:sp>
        <p:nvSpPr>
          <p:cNvPr id="109" name="">
            <a:extLst xmlns:a="http://schemas.openxmlformats.org/drawingml/2006/main">
              <a:ext uri="{FF2B5EF4-FFF2-40B4-BE49-F238E27FC236}">
                <a16:creationId xmlns:a16="http://schemas.microsoft.com/office/drawing/2014/main" id="{CAAF7412-02DE-49DE-9610-BF8771BD911E}"/>
              </a:ext>
            </a:extLst>
          </p:cNvPr>
          <p:cNvSpPr>
            <a:spLocks xmlns:a="http://schemas.openxmlformats.org/drawingml/2006/main" noGrp="1"/>
          </p:cNvSpPr>
          <p:nvPr/>
        </p:nvSpPr>
        <p:spPr>
          <a:xfrm xmlns:a="http://schemas.openxmlformats.org/drawingml/2006/main">
            <a:off x="9258300" y="2628900"/>
            <a:ext cx="628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8064A2"/>
                </a:solidFill>
              </a:defRPr>
            </a:pPr>
            <a:r>
              <a:rPr sz="1500" b="1">
                <a:solidFill>
                  <a:srgbClr val="8064A2"/>
                </a:solidFill>
              </a:rPr>
              <a:t>3</a:t>
            </a:r>
          </a:p>
        </p:txBody>
      </p:sp>
      <p:sp>
        <p:nvSpPr>
          <p:cNvPr id="110" name="">
            <a:extLst xmlns:a="http://schemas.openxmlformats.org/drawingml/2006/main">
              <a:ext uri="{FF2B5EF4-FFF2-40B4-BE49-F238E27FC236}">
                <a16:creationId xmlns:a16="http://schemas.microsoft.com/office/drawing/2014/main" id="{4D2FC25F-E8B3-49A8-8228-95D8228B05BA}"/>
              </a:ext>
            </a:extLst>
          </p:cNvPr>
          <p:cNvSpPr>
            <a:spLocks xmlns:a="http://schemas.openxmlformats.org/drawingml/2006/main" noGrp="1"/>
          </p:cNvSpPr>
          <p:nvPr/>
        </p:nvSpPr>
        <p:spPr>
          <a:xfrm xmlns:a="http://schemas.openxmlformats.org/drawingml/2006/main">
            <a:off x="8191500" y="3295650"/>
            <a:ext cx="276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38" b="1">
                <a:solidFill>
                  <a:srgbClr val="8064A2"/>
                </a:solidFill>
              </a:defRPr>
            </a:pPr>
            <a:r>
              <a:rPr sz="1238" b="1">
                <a:solidFill>
                  <a:srgbClr val="8064A2"/>
                </a:solidFill>
              </a:rPr>
              <a:t>Trajectory Ensemble Core (TEC)</a:t>
            </a:r>
          </a:p>
        </p:txBody>
      </p:sp>
      <p:sp>
        <p:nvSpPr>
          <p:cNvPr id="111" name="">
            <a:extLst xmlns:a="http://schemas.openxmlformats.org/drawingml/2006/main">
              <a:ext uri="{FF2B5EF4-FFF2-40B4-BE49-F238E27FC236}">
                <a16:creationId xmlns:a16="http://schemas.microsoft.com/office/drawing/2014/main" id="{0B171C73-6CC2-46CB-8549-295547F75F12}"/>
              </a:ext>
            </a:extLst>
          </p:cNvPr>
          <p:cNvSpPr>
            <a:spLocks xmlns:a="http://schemas.openxmlformats.org/drawingml/2006/main" noGrp="1"/>
          </p:cNvSpPr>
          <p:nvPr/>
        </p:nvSpPr>
        <p:spPr>
          <a:xfrm xmlns:a="http://schemas.openxmlformats.org/drawingml/2006/main">
            <a:off x="8267700" y="3914775"/>
            <a:ext cx="2609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3A3838"/>
                </a:solidFill>
              </a:defRPr>
            </a:pPr>
            <a:r>
              <a:rPr sz="975" b="0">
                <a:solidFill>
                  <a:srgbClr val="3A3838"/>
                </a:solidFill>
              </a:rPr>
              <a:t>Several complete future branches remain explicit.</a:t>
            </a:r>
          </a:p>
        </p:txBody>
      </p:sp>
      <p:sp>
        <p:nvSpPr>
          <p:cNvPr id="112" name="">
            <a:extLst xmlns:a="http://schemas.openxmlformats.org/drawingml/2006/main">
              <a:ext uri="{FF2B5EF4-FFF2-40B4-BE49-F238E27FC236}">
                <a16:creationId xmlns:a16="http://schemas.microsoft.com/office/drawing/2014/main" id="{F260130C-6230-4451-8F31-0BD9DF0E415C}"/>
              </a:ext>
            </a:extLst>
          </p:cNvPr>
          <p:cNvSpPr>
            <a:spLocks xmlns:a="http://schemas.openxmlformats.org/drawingml/2006/main" noGrp="1"/>
          </p:cNvSpPr>
          <p:nvPr/>
        </p:nvSpPr>
        <p:spPr>
          <a:xfrm xmlns:a="http://schemas.openxmlformats.org/drawingml/2006/main">
            <a:off x="8229600" y="45148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48" b="0">
                <a:solidFill>
                  <a:srgbClr val="767171"/>
                </a:solidFill>
              </a:defRPr>
            </a:pPr>
            <a:r>
              <a:rPr sz="848" b="0">
                <a:solidFill>
                  <a:srgbClr val="767171"/>
                </a:solidFill>
              </a:rPr>
              <a:t>Does persistent branch identity improve planning?</a:t>
            </a:r>
          </a:p>
        </p:txBody>
      </p:sp>
      <p:sp>
        <p:nvSpPr>
          <p:cNvPr id="113" name="">
            <a:extLst xmlns:a="http://schemas.openxmlformats.org/drawingml/2006/main">
              <a:ext uri="{FF2B5EF4-FFF2-40B4-BE49-F238E27FC236}">
                <a16:creationId xmlns:a16="http://schemas.microsoft.com/office/drawing/2014/main" id="{FA8A872A-2FE6-4C7D-B9A2-E44668A4F25F}"/>
              </a:ext>
            </a:extLst>
          </p:cNvPr>
          <p:cNvSpPr>
            <a:spLocks xmlns:a="http://schemas.openxmlformats.org/drawingml/2006/main" noGrp="1"/>
          </p:cNvSpPr>
          <p:nvPr/>
        </p:nvSpPr>
        <p:spPr>
          <a:xfrm xmlns:a="http://schemas.openxmlformats.org/drawingml/2006/main">
            <a:off x="1619250" y="5429250"/>
            <a:ext cx="895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D24726"/>
                </a:solidFill>
              </a:defRPr>
            </a:pPr>
            <a:r>
              <a:rPr sz="1050" b="1">
                <a:solidFill>
                  <a:srgbClr val="D24726"/>
                </a:solidFill>
              </a:rPr>
              <a:t>Established ingredients; proposed world-model integration; empirical advantage not yet demonstrated.</a:t>
            </a:r>
          </a:p>
        </p:txBody>
      </p:sp>
      <p:sp>
        <p:nvSpPr>
          <p:cNvPr id="114" name="">
            <a:extLst xmlns:a="http://schemas.openxmlformats.org/drawingml/2006/main">
              <a:ext uri="{FF2B5EF4-FFF2-40B4-BE49-F238E27FC236}">
                <a16:creationId xmlns:a16="http://schemas.microsoft.com/office/drawing/2014/main" id="{40584868-4BDB-4197-B992-C355AEE91508}"/>
              </a:ext>
            </a:extLst>
          </p:cNvPr>
          <p:cNvSpPr>
            <a:spLocks xmlns:a="http://schemas.openxmlformats.org/drawingml/2006/main" noGrp="1"/>
          </p:cNvSpPr>
          <p:nvPr/>
        </p:nvSpPr>
        <p:spPr>
          <a:xfrm xmlns:a="http://schemas.openxmlformats.org/drawingml/2006/main">
            <a:off x="523875" y="6238875"/>
            <a:ext cx="1109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0">
                <a:solidFill>
                  <a:srgbClr val="767171"/>
                </a:solidFill>
              </a:defRPr>
            </a:pPr>
            <a:r>
              <a:rPr sz="660" b="0">
                <a:solidFill>
                  <a:srgbClr val="767171"/>
                </a:solidFill>
              </a:rPr>
              <a:t>Grounding: HQMMs; locally purified tensor networks; projective pure-state ensembles and HJW non-uniqueness.</a:t>
            </a:r>
          </a:p>
        </p:txBody>
      </p:sp>
    </p:spTree>
    <p:extLst>
      <p:ext uri="{BB962C8B-B14F-4D97-AF65-F5344CB8AC3E}">
        <p14:creationId xmlns:p14="http://schemas.microsoft.com/office/powerpoint/2010/main" val="31707046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99" name="Google Shape;99;p9">
            <a:extLst xmlns:a="http://schemas.openxmlformats.org/drawingml/2006/main">
              <a:ext uri="{FF2B5EF4-FFF2-40B4-BE49-F238E27FC236}">
                <a16:creationId xmlns:a16="http://schemas.microsoft.com/office/drawing/2014/main" id="{020E72A9-F965-4810-8CDF-C0182DDE68CA}"/>
              </a:ext>
            </a:extLst>
          </p:cNvPr>
          <p:cNvSpPr>
            <a:spLocks xmlns:a="http://schemas.openxmlformats.org/drawingml/2006/main" noGrp="1"/>
          </p:cNvSpPr>
          <p:nvPr>
            <p:ph type="title" idx="0"/>
          </p:nvPr>
        </p:nvSpPr>
        <p:spPr>
          <a:xfrm xmlns:a="http://schemas.openxmlformats.org/drawingml/2006/main">
            <a:off x="444532" y="430625"/>
            <a:ext cx="11210544" cy="5577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indent="0" algn="l">
              <a:spcBef>
                <a:spcPts val="0"/>
              </a:spcBef>
              <a:spcAft>
                <a:spcPts val="0"/>
              </a:spcAft>
              <a:buNone/>
              <a:defRPr sz="2100" b="0">
                <a:solidFill>
                  <a:srgbClr val="3A3838"/>
                </a:solidFill>
              </a:defRPr>
            </a:pPr>
            <a:r>
              <a:rPr sz="2100" b="0">
                <a:solidFill>
                  <a:srgbClr val="3A3838"/>
                </a:solidFill>
              </a:rPr>
              <a:t>Approach 1 — Quantum Latent Core: One Matrix-Valued Belief</a:t>
            </a:r>
          </a:p>
        </p:txBody>
      </p:sp>
      <p:sp>
        <p:nvSpPr>
          <p:cNvPr id="100" name="">
            <a:extLst xmlns:a="http://schemas.openxmlformats.org/drawingml/2006/main">
              <a:ext uri="{FF2B5EF4-FFF2-40B4-BE49-F238E27FC236}">
                <a16:creationId xmlns:a16="http://schemas.microsoft.com/office/drawing/2014/main" id="{D9A9DC18-C5B1-4E4E-9BA8-0D41FC180F92}"/>
              </a:ext>
            </a:extLst>
          </p:cNvPr>
          <p:cNvSpPr>
            <a:spLocks xmlns:a="http://schemas.openxmlformats.org/drawingml/2006/main" noGrp="1"/>
          </p:cNvSpPr>
          <p:nvPr/>
        </p:nvSpPr>
        <p:spPr>
          <a:xfrm xmlns:a="http://schemas.openxmlformats.org/drawingml/2006/main">
            <a:off x="444532" y="1097280"/>
            <a:ext cx="11210544" cy="17145"/>
          </a:xfrm>
          <a:prstGeom xmlns:a="http://schemas.openxmlformats.org/drawingml/2006/main" prst="rect">
            <a:avLst/>
          </a:prstGeom>
          <a:solidFill xmlns:a="http://schemas.openxmlformats.org/drawingml/2006/main">
            <a:srgbClr val="D24726"/>
          </a:solidFill>
          <a:ln xmlns:a="http://schemas.openxmlformats.org/drawingml/2006/main" w="0">
            <a:solidFill>
              <a:srgbClr val="D24726"/>
            </a:solidFill>
            <a:prstDash val="solid"/>
          </a:ln>
        </p:spPr>
      </p:sp>
      <p:sp>
        <p:nvSpPr>
          <p:cNvPr id="101" name="">
            <a:extLst xmlns:a="http://schemas.openxmlformats.org/drawingml/2006/main">
              <a:ext uri="{FF2B5EF4-FFF2-40B4-BE49-F238E27FC236}">
                <a16:creationId xmlns:a16="http://schemas.microsoft.com/office/drawing/2014/main" id="{FBF7C671-B6E3-461B-A416-1D901DEF39D5}"/>
              </a:ext>
            </a:extLst>
          </p:cNvPr>
          <p:cNvSpPr>
            <a:spLocks xmlns:a="http://schemas.openxmlformats.org/drawingml/2006/main" noGrp="1"/>
          </p:cNvSpPr>
          <p:nvPr/>
        </p:nvSpPr>
        <p:spPr>
          <a:xfrm xmlns:a="http://schemas.openxmlformats.org/drawingml/2006/main">
            <a:off x="523875" y="1381125"/>
            <a:ext cx="6381750" cy="552450"/>
          </a:xfrm>
          <a:prstGeom xmlns:a="http://schemas.openxmlformats.org/drawingml/2006/main" prst="rect">
            <a:avLst/>
          </a:prstGeom>
          <a:solidFill xmlns:a="http://schemas.openxmlformats.org/drawingml/2006/main">
            <a:srgbClr val="FFFFFF"/>
          </a:solidFill>
          <a:ln xmlns:a="http://schemas.openxmlformats.org/drawingml/2006/main" w="7620">
            <a:solidFill>
              <a:srgbClr val="4472C4"/>
            </a:solidFill>
            <a:prstDash val="solid"/>
          </a:ln>
        </p:spPr>
        <p:txBody>
          <a:bodyPr xmlns:a="http://schemas.openxmlformats.org/drawingml/2006/main" anchor="ctr"/>
          <a:lstStyle xmlns:a="http://schemas.openxmlformats.org/drawingml/2006/main"/>
          <a:p xmlns:a="http://schemas.openxmlformats.org/drawingml/2006/main">
            <a:pPr algn="ctr">
              <a:defRPr sz="1500" b="0">
                <a:solidFill>
                  <a:srgbClr val="3A3838"/>
                </a:solidFill>
              </a:defRPr>
            </a:pPr>
            <a:r>
              <a:rPr sz="1500" b="0">
                <a:solidFill>
                  <a:srgbClr val="3A3838"/>
                </a:solidFill>
              </a:rPr>
              <a:t>ρₜ ∈ C^(d×d)     ρₜ = ρₜ†     ρₜ ⪰ 0     Tr(ρₜ) = 1</a:t>
            </a:r>
          </a:p>
        </p:txBody>
      </p:sp>
      <p:sp>
        <p:nvSpPr>
          <p:cNvPr id="102" name="">
            <a:extLst xmlns:a="http://schemas.openxmlformats.org/drawingml/2006/main">
              <a:ext uri="{FF2B5EF4-FFF2-40B4-BE49-F238E27FC236}">
                <a16:creationId xmlns:a16="http://schemas.microsoft.com/office/drawing/2014/main" id="{D1E1A141-986B-42EC-AE1E-FB8AD783FF82}"/>
              </a:ext>
            </a:extLst>
          </p:cNvPr>
          <p:cNvSpPr>
            <a:spLocks xmlns:a="http://schemas.openxmlformats.org/drawingml/2006/main" noGrp="1"/>
          </p:cNvSpPr>
          <p:nvPr/>
        </p:nvSpPr>
        <p:spPr>
          <a:xfrm xmlns:a="http://schemas.openxmlformats.org/drawingml/2006/main">
            <a:off x="523875" y="2209800"/>
            <a:ext cx="6381750" cy="3619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10" b="0">
                <a:solidFill>
                  <a:srgbClr val="3A3838"/>
                </a:solidFill>
              </a:defRPr>
            </a:pPr>
            <a:r>
              <a:rPr sz="1110" b="0">
                <a:solidFill>
                  <a:srgbClr val="3A3838"/>
                </a:solidFill>
              </a:rPr>
              <a:t>What it stores</a:t>
            </a:r>
          </a:p>
          <a:p xmlns:a="http://schemas.openxmlformats.org/drawingml/2006/main">
            <a:pPr algn="l">
              <a:defRPr sz="1110" b="0">
                <a:solidFill>
                  <a:srgbClr val="3A3838"/>
                </a:solidFill>
              </a:defRPr>
            </a:pPr>
            <a:r>
              <a:rPr sz="1110" b="0">
                <a:solidFill>
                  <a:srgbClr val="3A3838"/>
                </a:solidFill>
              </a:rPr>
              <a:t>• diagonal entries: weights in the chosen basis;</a:t>
            </a:r>
          </a:p>
          <a:p xmlns:a="http://schemas.openxmlformats.org/drawingml/2006/main">
            <a:pPr algn="l">
              <a:defRPr sz="1110" b="0">
                <a:solidFill>
                  <a:srgbClr val="3A3838"/>
                </a:solidFill>
              </a:defRPr>
            </a:pPr>
            <a:r>
              <a:rPr sz="1110" b="0">
                <a:solidFill>
                  <a:srgbClr val="3A3838"/>
                </a:solidFill>
              </a:rPr>
              <a:t>• off-diagonal entries: basis-dependent coherence;</a:t>
            </a:r>
          </a:p>
          <a:p xmlns:a="http://schemas.openxmlformats.org/drawingml/2006/main">
            <a:pPr algn="l">
              <a:defRPr sz="1110" b="0">
                <a:solidFill>
                  <a:srgbClr val="3A3838"/>
                </a:solidFill>
              </a:defRPr>
            </a:pPr>
            <a:r>
              <a:rPr sz="1110" b="0">
                <a:solidFill>
                  <a:srgbClr val="3A3838"/>
                </a:solidFill>
              </a:rPr>
              <a:t>• eigenvalues: the state's spectrum and mixedness.</a:t>
            </a:r>
          </a:p>
          <a:p xmlns:a="http://schemas.openxmlformats.org/drawingml/2006/main">
            <a:r>
              <a:t/>
            </a:r>
          </a:p>
          <a:p xmlns:a="http://schemas.openxmlformats.org/drawingml/2006/main">
            <a:pPr algn="l">
              <a:defRPr sz="1110" b="0">
                <a:solidFill>
                  <a:srgbClr val="3A3838"/>
                </a:solidFill>
              </a:defRPr>
            </a:pPr>
            <a:r>
              <a:rPr sz="1110" b="0">
                <a:solidFill>
                  <a:srgbClr val="3A3838"/>
                </a:solidFill>
              </a:rPr>
              <a:t>Valid action update</a:t>
            </a:r>
          </a:p>
          <a:p xmlns:a="http://schemas.openxmlformats.org/drawingml/2006/main">
            <a:pPr algn="l">
              <a:defRPr sz="1110" b="0">
                <a:solidFill>
                  <a:srgbClr val="3A3838"/>
                </a:solidFill>
              </a:defRPr>
            </a:pPr>
            <a:r>
              <a:rPr sz="1110" b="0">
                <a:solidFill>
                  <a:srgbClr val="3A3838"/>
                </a:solidFill>
              </a:rPr>
              <a:t>ρₜ₊₁ = Σₖ Kₖ,ₐ ρₜ Kₖ,ₐ†,     Σₖ Kₖ,ₐ†Kₖ,ₐ = I</a:t>
            </a:r>
          </a:p>
          <a:p xmlns:a="http://schemas.openxmlformats.org/drawingml/2006/main">
            <a:r>
              <a:t/>
            </a:r>
          </a:p>
          <a:p xmlns:a="http://schemas.openxmlformats.org/drawingml/2006/main">
            <a:pPr algn="l">
              <a:defRPr sz="1110" b="0">
                <a:solidFill>
                  <a:srgbClr val="3A3838"/>
                </a:solidFill>
              </a:defRPr>
            </a:pPr>
            <a:r>
              <a:rPr sz="1110" b="0">
                <a:solidFill>
                  <a:srgbClr val="3A3838"/>
                </a:solidFill>
              </a:rPr>
              <a:t>Readout</a:t>
            </a:r>
          </a:p>
          <a:p xmlns:a="http://schemas.openxmlformats.org/drawingml/2006/main">
            <a:pPr algn="l">
              <a:defRPr sz="1110" b="0">
                <a:solidFill>
                  <a:srgbClr val="3A3838"/>
                </a:solidFill>
              </a:defRPr>
            </a:pPr>
            <a:r>
              <a:rPr sz="1110" b="0">
                <a:solidFill>
                  <a:srgbClr val="3A3838"/>
                </a:solidFill>
              </a:rPr>
              <a:t>p(y|ρ) = Tr(Eᵧρ),     Eᵧ ⪰ 0,     ΣᵧEᵧ = I</a:t>
            </a:r>
          </a:p>
        </p:txBody>
      </p:sp>
      <p:sp>
        <p:nvSpPr>
          <p:cNvPr id="103" name="">
            <a:extLst xmlns:a="http://schemas.openxmlformats.org/drawingml/2006/main">
              <a:ext uri="{FF2B5EF4-FFF2-40B4-BE49-F238E27FC236}">
                <a16:creationId xmlns:a16="http://schemas.microsoft.com/office/drawing/2014/main" id="{798F4B93-D903-4091-9E99-3154CAA0DBE7}"/>
              </a:ext>
            </a:extLst>
          </p:cNvPr>
          <p:cNvSpPr>
            <a:spLocks xmlns:a="http://schemas.openxmlformats.org/drawingml/2006/main" noGrp="1"/>
          </p:cNvSpPr>
          <p:nvPr/>
        </p:nvSpPr>
        <p:spPr>
          <a:xfrm xmlns:a="http://schemas.openxmlformats.org/drawingml/2006/main">
            <a:off x="8191500" y="2095500"/>
            <a:ext cx="2381250" cy="2381250"/>
          </a:xfrm>
          <a:prstGeom xmlns:a="http://schemas.openxmlformats.org/drawingml/2006/main" prst="rect">
            <a:avLst/>
          </a:prstGeom>
          <a:solidFill xmlns:a="http://schemas.openxmlformats.org/drawingml/2006/main">
            <a:srgbClr val="FFFFFF"/>
          </a:solidFill>
          <a:ln xmlns:a="http://schemas.openxmlformats.org/drawingml/2006/main" w="9525">
            <a:solidFill>
              <a:srgbClr val="3A3838"/>
            </a:solidFill>
            <a:prstDash val="solid"/>
          </a:ln>
        </p:spPr>
      </p:sp>
      <p:sp>
        <p:nvSpPr>
          <p:cNvPr id="104" name="">
            <a:extLst xmlns:a="http://schemas.openxmlformats.org/drawingml/2006/main">
              <a:ext uri="{FF2B5EF4-FFF2-40B4-BE49-F238E27FC236}">
                <a16:creationId xmlns:a16="http://schemas.microsoft.com/office/drawing/2014/main" id="{E8963E8E-0D66-4D37-9484-95CC7592ED95}"/>
              </a:ext>
            </a:extLst>
          </p:cNvPr>
          <p:cNvSpPr>
            <a:spLocks xmlns:a="http://schemas.openxmlformats.org/drawingml/2006/main" noGrp="1"/>
          </p:cNvSpPr>
          <p:nvPr/>
        </p:nvSpPr>
        <p:spPr>
          <a:xfrm xmlns:a="http://schemas.openxmlformats.org/drawingml/2006/main">
            <a:off x="8191500" y="2095500"/>
            <a:ext cx="595313" cy="595313"/>
          </a:xfrm>
          <a:prstGeom xmlns:a="http://schemas.openxmlformats.org/drawingml/2006/main" prst="rect">
            <a:avLst/>
          </a:prstGeom>
          <a:solidFill xmlns:a="http://schemas.openxmlformats.org/drawingml/2006/main">
            <a:srgbClr val="4472C4"/>
          </a:solidFill>
          <a:ln xmlns:a="http://schemas.openxmlformats.org/drawingml/2006/main" w="7620">
            <a:solidFill>
              <a:srgbClr val="FFFFFF"/>
            </a:solidFill>
            <a:prstDash val="solid"/>
          </a:ln>
        </p:spPr>
      </p:sp>
      <p:sp>
        <p:nvSpPr>
          <p:cNvPr id="105" name="">
            <a:extLst xmlns:a="http://schemas.openxmlformats.org/drawingml/2006/main">
              <a:ext uri="{FF2B5EF4-FFF2-40B4-BE49-F238E27FC236}">
                <a16:creationId xmlns:a16="http://schemas.microsoft.com/office/drawing/2014/main" id="{E155CF05-56DA-4581-A74B-B9CD79E16C36}"/>
              </a:ext>
            </a:extLst>
          </p:cNvPr>
          <p:cNvSpPr>
            <a:spLocks xmlns:a="http://schemas.openxmlformats.org/drawingml/2006/main" noGrp="1"/>
          </p:cNvSpPr>
          <p:nvPr/>
        </p:nvSpPr>
        <p:spPr>
          <a:xfrm xmlns:a="http://schemas.openxmlformats.org/drawingml/2006/main">
            <a:off x="8191500" y="2268141"/>
            <a:ext cx="59531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13" b="0">
                <a:solidFill>
                  <a:srgbClr val="FFFFFF"/>
                </a:solidFill>
              </a:defRPr>
            </a:pPr>
            <a:r>
              <a:rPr sz="713" b="0">
                <a:solidFill>
                  <a:srgbClr val="FFFFFF"/>
                </a:solidFill>
              </a:rPr>
              <a:t>0.30</a:t>
            </a:r>
          </a:p>
        </p:txBody>
      </p:sp>
      <p:sp>
        <p:nvSpPr>
          <p:cNvPr id="106" name="">
            <a:extLst xmlns:a="http://schemas.openxmlformats.org/drawingml/2006/main">
              <a:ext uri="{FF2B5EF4-FFF2-40B4-BE49-F238E27FC236}">
                <a16:creationId xmlns:a16="http://schemas.microsoft.com/office/drawing/2014/main" id="{7721293F-5EB6-4572-882E-76E8E8737438}"/>
              </a:ext>
            </a:extLst>
          </p:cNvPr>
          <p:cNvSpPr>
            <a:spLocks xmlns:a="http://schemas.openxmlformats.org/drawingml/2006/main" noGrp="1"/>
          </p:cNvSpPr>
          <p:nvPr/>
        </p:nvSpPr>
        <p:spPr>
          <a:xfrm xmlns:a="http://schemas.openxmlformats.org/drawingml/2006/main">
            <a:off x="8786813" y="2095500"/>
            <a:ext cx="595313" cy="595313"/>
          </a:xfrm>
          <a:prstGeom xmlns:a="http://schemas.openxmlformats.org/drawingml/2006/main" prst="rect">
            <a:avLst/>
          </a:prstGeom>
          <a:solidFill xmlns:a="http://schemas.openxmlformats.org/drawingml/2006/main">
            <a:srgbClr val="FCE4D6"/>
          </a:solidFill>
          <a:ln xmlns:a="http://schemas.openxmlformats.org/drawingml/2006/main" w="7620">
            <a:solidFill>
              <a:srgbClr val="FFFFFF"/>
            </a:solidFill>
            <a:prstDash val="solid"/>
          </a:ln>
        </p:spPr>
      </p:sp>
      <p:sp>
        <p:nvSpPr>
          <p:cNvPr id="107" name="">
            <a:extLst xmlns:a="http://schemas.openxmlformats.org/drawingml/2006/main">
              <a:ext uri="{FF2B5EF4-FFF2-40B4-BE49-F238E27FC236}">
                <a16:creationId xmlns:a16="http://schemas.microsoft.com/office/drawing/2014/main" id="{654079FD-AEB3-487F-935D-4D08E13A8C4A}"/>
              </a:ext>
            </a:extLst>
          </p:cNvPr>
          <p:cNvSpPr>
            <a:spLocks xmlns:a="http://schemas.openxmlformats.org/drawingml/2006/main" noGrp="1"/>
          </p:cNvSpPr>
          <p:nvPr/>
        </p:nvSpPr>
        <p:spPr>
          <a:xfrm xmlns:a="http://schemas.openxmlformats.org/drawingml/2006/main">
            <a:off x="8786813" y="2268141"/>
            <a:ext cx="59531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13" b="0">
                <a:solidFill>
                  <a:srgbClr val="3A3838"/>
                </a:solidFill>
              </a:defRPr>
            </a:pPr>
            <a:r>
              <a:rPr sz="713" b="0">
                <a:solidFill>
                  <a:srgbClr val="3A3838"/>
                </a:solidFill>
              </a:rPr>
              <a:t>0.10</a:t>
            </a:r>
          </a:p>
        </p:txBody>
      </p:sp>
      <p:sp>
        <p:nvSpPr>
          <p:cNvPr id="108" name="">
            <a:extLst xmlns:a="http://schemas.openxmlformats.org/drawingml/2006/main">
              <a:ext uri="{FF2B5EF4-FFF2-40B4-BE49-F238E27FC236}">
                <a16:creationId xmlns:a16="http://schemas.microsoft.com/office/drawing/2014/main" id="{FCBF8CAF-5E6B-4873-96A8-AF99D8AFD493}"/>
              </a:ext>
            </a:extLst>
          </p:cNvPr>
          <p:cNvSpPr>
            <a:spLocks xmlns:a="http://schemas.openxmlformats.org/drawingml/2006/main" noGrp="1"/>
          </p:cNvSpPr>
          <p:nvPr/>
        </p:nvSpPr>
        <p:spPr>
          <a:xfrm xmlns:a="http://schemas.openxmlformats.org/drawingml/2006/main">
            <a:off x="9382125" y="2095500"/>
            <a:ext cx="595313" cy="59531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prstDash val="solid"/>
          </a:ln>
        </p:spPr>
      </p:sp>
      <p:sp>
        <p:nvSpPr>
          <p:cNvPr id="109" name="">
            <a:extLst xmlns:a="http://schemas.openxmlformats.org/drawingml/2006/main">
              <a:ext uri="{FF2B5EF4-FFF2-40B4-BE49-F238E27FC236}">
                <a16:creationId xmlns:a16="http://schemas.microsoft.com/office/drawing/2014/main" id="{481C0CF6-3942-4FF9-AAA3-C821A1CE5FEA}"/>
              </a:ext>
            </a:extLst>
          </p:cNvPr>
          <p:cNvSpPr>
            <a:spLocks xmlns:a="http://schemas.openxmlformats.org/drawingml/2006/main" noGrp="1"/>
          </p:cNvSpPr>
          <p:nvPr/>
        </p:nvSpPr>
        <p:spPr>
          <a:xfrm xmlns:a="http://schemas.openxmlformats.org/drawingml/2006/main">
            <a:off x="9382125" y="2268141"/>
            <a:ext cx="59531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13" b="0">
                <a:solidFill>
                  <a:srgbClr val="3A3838"/>
                </a:solidFill>
              </a:defRPr>
            </a:pPr>
            <a:r>
              <a:rPr sz="713" b="0">
                <a:solidFill>
                  <a:srgbClr val="3A3838"/>
                </a:solidFill>
              </a:rPr>
              <a:t>0.00</a:t>
            </a:r>
          </a:p>
        </p:txBody>
      </p:sp>
      <p:sp>
        <p:nvSpPr>
          <p:cNvPr id="110" name="">
            <a:extLst xmlns:a="http://schemas.openxmlformats.org/drawingml/2006/main">
              <a:ext uri="{FF2B5EF4-FFF2-40B4-BE49-F238E27FC236}">
                <a16:creationId xmlns:a16="http://schemas.microsoft.com/office/drawing/2014/main" id="{D0A27709-41E5-4937-83CB-44D4187FD8D3}"/>
              </a:ext>
            </a:extLst>
          </p:cNvPr>
          <p:cNvSpPr>
            <a:spLocks xmlns:a="http://schemas.openxmlformats.org/drawingml/2006/main" noGrp="1"/>
          </p:cNvSpPr>
          <p:nvPr/>
        </p:nvSpPr>
        <p:spPr>
          <a:xfrm xmlns:a="http://schemas.openxmlformats.org/drawingml/2006/main">
            <a:off x="9977438" y="2095500"/>
            <a:ext cx="595313" cy="595313"/>
          </a:xfrm>
          <a:prstGeom xmlns:a="http://schemas.openxmlformats.org/drawingml/2006/main" prst="rect">
            <a:avLst/>
          </a:prstGeom>
          <a:solidFill xmlns:a="http://schemas.openxmlformats.org/drawingml/2006/main">
            <a:srgbClr val="FCE4D6"/>
          </a:solidFill>
          <a:ln xmlns:a="http://schemas.openxmlformats.org/drawingml/2006/main" w="7620">
            <a:solidFill>
              <a:srgbClr val="FFFFFF"/>
            </a:solidFill>
            <a:prstDash val="solid"/>
          </a:ln>
        </p:spPr>
      </p:sp>
      <p:sp>
        <p:nvSpPr>
          <p:cNvPr id="111" name="">
            <a:extLst xmlns:a="http://schemas.openxmlformats.org/drawingml/2006/main">
              <a:ext uri="{FF2B5EF4-FFF2-40B4-BE49-F238E27FC236}">
                <a16:creationId xmlns:a16="http://schemas.microsoft.com/office/drawing/2014/main" id="{F0BF4B50-21BC-4478-952E-674C347E5503}"/>
              </a:ext>
            </a:extLst>
          </p:cNvPr>
          <p:cNvSpPr>
            <a:spLocks xmlns:a="http://schemas.openxmlformats.org/drawingml/2006/main" noGrp="1"/>
          </p:cNvSpPr>
          <p:nvPr/>
        </p:nvSpPr>
        <p:spPr>
          <a:xfrm xmlns:a="http://schemas.openxmlformats.org/drawingml/2006/main">
            <a:off x="9977438" y="2268141"/>
            <a:ext cx="59531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13" b="0">
                <a:solidFill>
                  <a:srgbClr val="3A3838"/>
                </a:solidFill>
              </a:defRPr>
            </a:pPr>
            <a:r>
              <a:rPr sz="713" b="0">
                <a:solidFill>
                  <a:srgbClr val="3A3838"/>
                </a:solidFill>
              </a:rPr>
              <a:t>0.06</a:t>
            </a:r>
          </a:p>
        </p:txBody>
      </p:sp>
      <p:sp>
        <p:nvSpPr>
          <p:cNvPr id="112" name="">
            <a:extLst xmlns:a="http://schemas.openxmlformats.org/drawingml/2006/main">
              <a:ext uri="{FF2B5EF4-FFF2-40B4-BE49-F238E27FC236}">
                <a16:creationId xmlns:a16="http://schemas.microsoft.com/office/drawing/2014/main" id="{2DF7F81B-3F6D-4E0B-AFAF-DE11E4F30666}"/>
              </a:ext>
            </a:extLst>
          </p:cNvPr>
          <p:cNvSpPr>
            <a:spLocks xmlns:a="http://schemas.openxmlformats.org/drawingml/2006/main" noGrp="1"/>
          </p:cNvSpPr>
          <p:nvPr/>
        </p:nvSpPr>
        <p:spPr>
          <a:xfrm xmlns:a="http://schemas.openxmlformats.org/drawingml/2006/main">
            <a:off x="8191500" y="2690813"/>
            <a:ext cx="595313" cy="595313"/>
          </a:xfrm>
          <a:prstGeom xmlns:a="http://schemas.openxmlformats.org/drawingml/2006/main" prst="rect">
            <a:avLst/>
          </a:prstGeom>
          <a:solidFill xmlns:a="http://schemas.openxmlformats.org/drawingml/2006/main">
            <a:srgbClr val="FCE4D6"/>
          </a:solidFill>
          <a:ln xmlns:a="http://schemas.openxmlformats.org/drawingml/2006/main" w="7620">
            <a:solidFill>
              <a:srgbClr val="FFFFFF"/>
            </a:solidFill>
            <a:prstDash val="solid"/>
          </a:ln>
        </p:spPr>
      </p:sp>
      <p:sp>
        <p:nvSpPr>
          <p:cNvPr id="113" name="">
            <a:extLst xmlns:a="http://schemas.openxmlformats.org/drawingml/2006/main">
              <a:ext uri="{FF2B5EF4-FFF2-40B4-BE49-F238E27FC236}">
                <a16:creationId xmlns:a16="http://schemas.microsoft.com/office/drawing/2014/main" id="{DD4BCB7C-3BE7-4F60-98C3-02D4AB9D9517}"/>
              </a:ext>
            </a:extLst>
          </p:cNvPr>
          <p:cNvSpPr>
            <a:spLocks xmlns:a="http://schemas.openxmlformats.org/drawingml/2006/main" noGrp="1"/>
          </p:cNvSpPr>
          <p:nvPr/>
        </p:nvSpPr>
        <p:spPr>
          <a:xfrm xmlns:a="http://schemas.openxmlformats.org/drawingml/2006/main">
            <a:off x="8191500" y="2863453"/>
            <a:ext cx="59531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13" b="0">
                <a:solidFill>
                  <a:srgbClr val="3A3838"/>
                </a:solidFill>
              </a:defRPr>
            </a:pPr>
            <a:r>
              <a:rPr sz="713" b="0">
                <a:solidFill>
                  <a:srgbClr val="3A3838"/>
                </a:solidFill>
              </a:rPr>
              <a:t>0.10</a:t>
            </a:r>
          </a:p>
        </p:txBody>
      </p:sp>
      <p:sp>
        <p:nvSpPr>
          <p:cNvPr id="114" name="">
            <a:extLst xmlns:a="http://schemas.openxmlformats.org/drawingml/2006/main">
              <a:ext uri="{FF2B5EF4-FFF2-40B4-BE49-F238E27FC236}">
                <a16:creationId xmlns:a16="http://schemas.microsoft.com/office/drawing/2014/main" id="{8F5721C2-68CA-406E-8EFA-7ABE9E4CF6C9}"/>
              </a:ext>
            </a:extLst>
          </p:cNvPr>
          <p:cNvSpPr>
            <a:spLocks xmlns:a="http://schemas.openxmlformats.org/drawingml/2006/main" noGrp="1"/>
          </p:cNvSpPr>
          <p:nvPr/>
        </p:nvSpPr>
        <p:spPr>
          <a:xfrm xmlns:a="http://schemas.openxmlformats.org/drawingml/2006/main">
            <a:off x="8786813" y="2690813"/>
            <a:ext cx="595313" cy="595313"/>
          </a:xfrm>
          <a:prstGeom xmlns:a="http://schemas.openxmlformats.org/drawingml/2006/main" prst="rect">
            <a:avLst/>
          </a:prstGeom>
          <a:solidFill xmlns:a="http://schemas.openxmlformats.org/drawingml/2006/main">
            <a:srgbClr val="4472C4"/>
          </a:solidFill>
          <a:ln xmlns:a="http://schemas.openxmlformats.org/drawingml/2006/main" w="7620">
            <a:solidFill>
              <a:srgbClr val="FFFFFF"/>
            </a:solidFill>
            <a:prstDash val="solid"/>
          </a:ln>
        </p:spPr>
      </p:sp>
      <p:sp>
        <p:nvSpPr>
          <p:cNvPr id="115" name="">
            <a:extLst xmlns:a="http://schemas.openxmlformats.org/drawingml/2006/main">
              <a:ext uri="{FF2B5EF4-FFF2-40B4-BE49-F238E27FC236}">
                <a16:creationId xmlns:a16="http://schemas.microsoft.com/office/drawing/2014/main" id="{BF9A794A-A2B8-460B-B350-47E2E39D6666}"/>
              </a:ext>
            </a:extLst>
          </p:cNvPr>
          <p:cNvSpPr>
            <a:spLocks xmlns:a="http://schemas.openxmlformats.org/drawingml/2006/main" noGrp="1"/>
          </p:cNvSpPr>
          <p:nvPr/>
        </p:nvSpPr>
        <p:spPr>
          <a:xfrm xmlns:a="http://schemas.openxmlformats.org/drawingml/2006/main">
            <a:off x="8786813" y="2863453"/>
            <a:ext cx="59531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13" b="0">
                <a:solidFill>
                  <a:srgbClr val="FFFFFF"/>
                </a:solidFill>
              </a:defRPr>
            </a:pPr>
            <a:r>
              <a:rPr sz="713" b="0">
                <a:solidFill>
                  <a:srgbClr val="FFFFFF"/>
                </a:solidFill>
              </a:rPr>
              <a:t>0.34</a:t>
            </a:r>
          </a:p>
        </p:txBody>
      </p:sp>
      <p:sp>
        <p:nvSpPr>
          <p:cNvPr id="116" name="">
            <a:extLst xmlns:a="http://schemas.openxmlformats.org/drawingml/2006/main">
              <a:ext uri="{FF2B5EF4-FFF2-40B4-BE49-F238E27FC236}">
                <a16:creationId xmlns:a16="http://schemas.microsoft.com/office/drawing/2014/main" id="{E9027CFC-9678-4FB6-A045-5D41ABF61514}"/>
              </a:ext>
            </a:extLst>
          </p:cNvPr>
          <p:cNvSpPr>
            <a:spLocks xmlns:a="http://schemas.openxmlformats.org/drawingml/2006/main" noGrp="1"/>
          </p:cNvSpPr>
          <p:nvPr/>
        </p:nvSpPr>
        <p:spPr>
          <a:xfrm xmlns:a="http://schemas.openxmlformats.org/drawingml/2006/main">
            <a:off x="9382125" y="2690813"/>
            <a:ext cx="595313" cy="595313"/>
          </a:xfrm>
          <a:prstGeom xmlns:a="http://schemas.openxmlformats.org/drawingml/2006/main" prst="rect">
            <a:avLst/>
          </a:prstGeom>
          <a:solidFill xmlns:a="http://schemas.openxmlformats.org/drawingml/2006/main">
            <a:srgbClr val="D24726"/>
          </a:solidFill>
          <a:ln xmlns:a="http://schemas.openxmlformats.org/drawingml/2006/main" w="7620">
            <a:solidFill>
              <a:srgbClr val="FFFFFF"/>
            </a:solidFill>
            <a:prstDash val="solid"/>
          </a:ln>
        </p:spPr>
      </p:sp>
      <p:sp>
        <p:nvSpPr>
          <p:cNvPr id="117" name="">
            <a:extLst xmlns:a="http://schemas.openxmlformats.org/drawingml/2006/main">
              <a:ext uri="{FF2B5EF4-FFF2-40B4-BE49-F238E27FC236}">
                <a16:creationId xmlns:a16="http://schemas.microsoft.com/office/drawing/2014/main" id="{2E6F5E4F-52AA-47BB-A191-01023E3AD138}"/>
              </a:ext>
            </a:extLst>
          </p:cNvPr>
          <p:cNvSpPr>
            <a:spLocks xmlns:a="http://schemas.openxmlformats.org/drawingml/2006/main" noGrp="1"/>
          </p:cNvSpPr>
          <p:nvPr/>
        </p:nvSpPr>
        <p:spPr>
          <a:xfrm xmlns:a="http://schemas.openxmlformats.org/drawingml/2006/main">
            <a:off x="9382125" y="2863453"/>
            <a:ext cx="59531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13" b="0">
                <a:solidFill>
                  <a:srgbClr val="FFFFFF"/>
                </a:solidFill>
              </a:defRPr>
            </a:pPr>
            <a:r>
              <a:rPr sz="713" b="0">
                <a:solidFill>
                  <a:srgbClr val="FFFFFF"/>
                </a:solidFill>
              </a:rPr>
              <a:t>0.12</a:t>
            </a:r>
          </a:p>
        </p:txBody>
      </p:sp>
      <p:sp>
        <p:nvSpPr>
          <p:cNvPr id="118" name="">
            <a:extLst xmlns:a="http://schemas.openxmlformats.org/drawingml/2006/main">
              <a:ext uri="{FF2B5EF4-FFF2-40B4-BE49-F238E27FC236}">
                <a16:creationId xmlns:a16="http://schemas.microsoft.com/office/drawing/2014/main" id="{06E0F31B-3314-4CED-8D13-8B1AF3A5FE11}"/>
              </a:ext>
            </a:extLst>
          </p:cNvPr>
          <p:cNvSpPr>
            <a:spLocks xmlns:a="http://schemas.openxmlformats.org/drawingml/2006/main" noGrp="1"/>
          </p:cNvSpPr>
          <p:nvPr/>
        </p:nvSpPr>
        <p:spPr>
          <a:xfrm xmlns:a="http://schemas.openxmlformats.org/drawingml/2006/main">
            <a:off x="9977438" y="2690813"/>
            <a:ext cx="595313" cy="59531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prstDash val="solid"/>
          </a:ln>
        </p:spPr>
      </p:sp>
      <p:sp>
        <p:nvSpPr>
          <p:cNvPr id="119" name="">
            <a:extLst xmlns:a="http://schemas.openxmlformats.org/drawingml/2006/main">
              <a:ext uri="{FF2B5EF4-FFF2-40B4-BE49-F238E27FC236}">
                <a16:creationId xmlns:a16="http://schemas.microsoft.com/office/drawing/2014/main" id="{81C7B0F8-EF51-4423-9C2E-6D8EA7A084B9}"/>
              </a:ext>
            </a:extLst>
          </p:cNvPr>
          <p:cNvSpPr>
            <a:spLocks xmlns:a="http://schemas.openxmlformats.org/drawingml/2006/main" noGrp="1"/>
          </p:cNvSpPr>
          <p:nvPr/>
        </p:nvSpPr>
        <p:spPr>
          <a:xfrm xmlns:a="http://schemas.openxmlformats.org/drawingml/2006/main">
            <a:off x="9977438" y="2863453"/>
            <a:ext cx="59531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13" b="0">
                <a:solidFill>
                  <a:srgbClr val="3A3838"/>
                </a:solidFill>
              </a:defRPr>
            </a:pPr>
            <a:r>
              <a:rPr sz="713" b="0">
                <a:solidFill>
                  <a:srgbClr val="3A3838"/>
                </a:solidFill>
              </a:rPr>
              <a:t>0.00</a:t>
            </a:r>
          </a:p>
        </p:txBody>
      </p:sp>
      <p:sp>
        <p:nvSpPr>
          <p:cNvPr id="120" name="">
            <a:extLst xmlns:a="http://schemas.openxmlformats.org/drawingml/2006/main">
              <a:ext uri="{FF2B5EF4-FFF2-40B4-BE49-F238E27FC236}">
                <a16:creationId xmlns:a16="http://schemas.microsoft.com/office/drawing/2014/main" id="{CA7106CE-E283-4D3D-8EC7-977D42CF1EC9}"/>
              </a:ext>
            </a:extLst>
          </p:cNvPr>
          <p:cNvSpPr>
            <a:spLocks xmlns:a="http://schemas.openxmlformats.org/drawingml/2006/main" noGrp="1"/>
          </p:cNvSpPr>
          <p:nvPr/>
        </p:nvSpPr>
        <p:spPr>
          <a:xfrm xmlns:a="http://schemas.openxmlformats.org/drawingml/2006/main">
            <a:off x="8191500" y="3286125"/>
            <a:ext cx="595313" cy="59531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prstDash val="solid"/>
          </a:ln>
        </p:spPr>
      </p:sp>
      <p:sp>
        <p:nvSpPr>
          <p:cNvPr id="121" name="">
            <a:extLst xmlns:a="http://schemas.openxmlformats.org/drawingml/2006/main">
              <a:ext uri="{FF2B5EF4-FFF2-40B4-BE49-F238E27FC236}">
                <a16:creationId xmlns:a16="http://schemas.microsoft.com/office/drawing/2014/main" id="{DE1F2B89-5942-490B-A679-B70C067DA772}"/>
              </a:ext>
            </a:extLst>
          </p:cNvPr>
          <p:cNvSpPr>
            <a:spLocks xmlns:a="http://schemas.openxmlformats.org/drawingml/2006/main" noGrp="1"/>
          </p:cNvSpPr>
          <p:nvPr/>
        </p:nvSpPr>
        <p:spPr>
          <a:xfrm xmlns:a="http://schemas.openxmlformats.org/drawingml/2006/main">
            <a:off x="8191500" y="3458766"/>
            <a:ext cx="59531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13" b="0">
                <a:solidFill>
                  <a:srgbClr val="3A3838"/>
                </a:solidFill>
              </a:defRPr>
            </a:pPr>
            <a:r>
              <a:rPr sz="713" b="0">
                <a:solidFill>
                  <a:srgbClr val="3A3838"/>
                </a:solidFill>
              </a:rPr>
              <a:t>0.00</a:t>
            </a:r>
          </a:p>
        </p:txBody>
      </p:sp>
      <p:sp>
        <p:nvSpPr>
          <p:cNvPr id="122" name="">
            <a:extLst xmlns:a="http://schemas.openxmlformats.org/drawingml/2006/main">
              <a:ext uri="{FF2B5EF4-FFF2-40B4-BE49-F238E27FC236}">
                <a16:creationId xmlns:a16="http://schemas.microsoft.com/office/drawing/2014/main" id="{8F464A26-6F12-40E0-AF21-89337734DE2A}"/>
              </a:ext>
            </a:extLst>
          </p:cNvPr>
          <p:cNvSpPr>
            <a:spLocks xmlns:a="http://schemas.openxmlformats.org/drawingml/2006/main" noGrp="1"/>
          </p:cNvSpPr>
          <p:nvPr/>
        </p:nvSpPr>
        <p:spPr>
          <a:xfrm xmlns:a="http://schemas.openxmlformats.org/drawingml/2006/main">
            <a:off x="8786813" y="3286125"/>
            <a:ext cx="595313" cy="595313"/>
          </a:xfrm>
          <a:prstGeom xmlns:a="http://schemas.openxmlformats.org/drawingml/2006/main" prst="rect">
            <a:avLst/>
          </a:prstGeom>
          <a:solidFill xmlns:a="http://schemas.openxmlformats.org/drawingml/2006/main">
            <a:srgbClr val="D24726"/>
          </a:solidFill>
          <a:ln xmlns:a="http://schemas.openxmlformats.org/drawingml/2006/main" w="7620">
            <a:solidFill>
              <a:srgbClr val="FFFFFF"/>
            </a:solidFill>
            <a:prstDash val="solid"/>
          </a:ln>
        </p:spPr>
      </p:sp>
      <p:sp>
        <p:nvSpPr>
          <p:cNvPr id="123" name="">
            <a:extLst xmlns:a="http://schemas.openxmlformats.org/drawingml/2006/main">
              <a:ext uri="{FF2B5EF4-FFF2-40B4-BE49-F238E27FC236}">
                <a16:creationId xmlns:a16="http://schemas.microsoft.com/office/drawing/2014/main" id="{AA6F529E-FB2D-4EDF-AE48-FEB2A2AFFA5A}"/>
              </a:ext>
            </a:extLst>
          </p:cNvPr>
          <p:cNvSpPr>
            <a:spLocks xmlns:a="http://schemas.openxmlformats.org/drawingml/2006/main" noGrp="1"/>
          </p:cNvSpPr>
          <p:nvPr/>
        </p:nvSpPr>
        <p:spPr>
          <a:xfrm xmlns:a="http://schemas.openxmlformats.org/drawingml/2006/main">
            <a:off x="8786813" y="3458766"/>
            <a:ext cx="59531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13" b="0">
                <a:solidFill>
                  <a:srgbClr val="FFFFFF"/>
                </a:solidFill>
              </a:defRPr>
            </a:pPr>
            <a:r>
              <a:rPr sz="713" b="0">
                <a:solidFill>
                  <a:srgbClr val="FFFFFF"/>
                </a:solidFill>
              </a:rPr>
              <a:t>0.12</a:t>
            </a:r>
          </a:p>
        </p:txBody>
      </p:sp>
      <p:sp>
        <p:nvSpPr>
          <p:cNvPr id="124" name="">
            <a:extLst xmlns:a="http://schemas.openxmlformats.org/drawingml/2006/main">
              <a:ext uri="{FF2B5EF4-FFF2-40B4-BE49-F238E27FC236}">
                <a16:creationId xmlns:a16="http://schemas.microsoft.com/office/drawing/2014/main" id="{E02735EE-BAD0-41DE-85C3-D9ECC7927672}"/>
              </a:ext>
            </a:extLst>
          </p:cNvPr>
          <p:cNvSpPr>
            <a:spLocks xmlns:a="http://schemas.openxmlformats.org/drawingml/2006/main" noGrp="1"/>
          </p:cNvSpPr>
          <p:nvPr/>
        </p:nvSpPr>
        <p:spPr>
          <a:xfrm xmlns:a="http://schemas.openxmlformats.org/drawingml/2006/main">
            <a:off x="9382125" y="3286125"/>
            <a:ext cx="595313" cy="595313"/>
          </a:xfrm>
          <a:prstGeom xmlns:a="http://schemas.openxmlformats.org/drawingml/2006/main" prst="rect">
            <a:avLst/>
          </a:prstGeom>
          <a:solidFill xmlns:a="http://schemas.openxmlformats.org/drawingml/2006/main">
            <a:srgbClr val="8EAADB"/>
          </a:solidFill>
          <a:ln xmlns:a="http://schemas.openxmlformats.org/drawingml/2006/main" w="7620">
            <a:solidFill>
              <a:srgbClr val="FFFFFF"/>
            </a:solidFill>
            <a:prstDash val="solid"/>
          </a:ln>
        </p:spPr>
      </p:sp>
      <p:sp>
        <p:nvSpPr>
          <p:cNvPr id="125" name="">
            <a:extLst xmlns:a="http://schemas.openxmlformats.org/drawingml/2006/main">
              <a:ext uri="{FF2B5EF4-FFF2-40B4-BE49-F238E27FC236}">
                <a16:creationId xmlns:a16="http://schemas.microsoft.com/office/drawing/2014/main" id="{D6166B1B-C8DC-4576-B6A1-16459DA17513}"/>
              </a:ext>
            </a:extLst>
          </p:cNvPr>
          <p:cNvSpPr>
            <a:spLocks xmlns:a="http://schemas.openxmlformats.org/drawingml/2006/main" noGrp="1"/>
          </p:cNvSpPr>
          <p:nvPr/>
        </p:nvSpPr>
        <p:spPr>
          <a:xfrm xmlns:a="http://schemas.openxmlformats.org/drawingml/2006/main">
            <a:off x="9382125" y="3458766"/>
            <a:ext cx="59531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13" b="0">
                <a:solidFill>
                  <a:srgbClr val="3A3838"/>
                </a:solidFill>
              </a:defRPr>
            </a:pPr>
            <a:r>
              <a:rPr sz="713" b="0">
                <a:solidFill>
                  <a:srgbClr val="3A3838"/>
                </a:solidFill>
              </a:rPr>
              <a:t>0.22</a:t>
            </a:r>
          </a:p>
        </p:txBody>
      </p:sp>
      <p:sp>
        <p:nvSpPr>
          <p:cNvPr id="126" name="">
            <a:extLst xmlns:a="http://schemas.openxmlformats.org/drawingml/2006/main">
              <a:ext uri="{FF2B5EF4-FFF2-40B4-BE49-F238E27FC236}">
                <a16:creationId xmlns:a16="http://schemas.microsoft.com/office/drawing/2014/main" id="{B18BCBBE-E0BD-4DCB-8F2D-09121E8DF6E7}"/>
              </a:ext>
            </a:extLst>
          </p:cNvPr>
          <p:cNvSpPr>
            <a:spLocks xmlns:a="http://schemas.openxmlformats.org/drawingml/2006/main" noGrp="1"/>
          </p:cNvSpPr>
          <p:nvPr/>
        </p:nvSpPr>
        <p:spPr>
          <a:xfrm xmlns:a="http://schemas.openxmlformats.org/drawingml/2006/main">
            <a:off x="9977438" y="3286125"/>
            <a:ext cx="595313" cy="59531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prstDash val="solid"/>
          </a:ln>
        </p:spPr>
      </p:sp>
      <p:sp>
        <p:nvSpPr>
          <p:cNvPr id="127" name="">
            <a:extLst xmlns:a="http://schemas.openxmlformats.org/drawingml/2006/main">
              <a:ext uri="{FF2B5EF4-FFF2-40B4-BE49-F238E27FC236}">
                <a16:creationId xmlns:a16="http://schemas.microsoft.com/office/drawing/2014/main" id="{92042D96-061B-4A42-96C6-4202D1A05BD5}"/>
              </a:ext>
            </a:extLst>
          </p:cNvPr>
          <p:cNvSpPr>
            <a:spLocks xmlns:a="http://schemas.openxmlformats.org/drawingml/2006/main" noGrp="1"/>
          </p:cNvSpPr>
          <p:nvPr/>
        </p:nvSpPr>
        <p:spPr>
          <a:xfrm xmlns:a="http://schemas.openxmlformats.org/drawingml/2006/main">
            <a:off x="9977438" y="3458766"/>
            <a:ext cx="59531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13" b="0">
                <a:solidFill>
                  <a:srgbClr val="3A3838"/>
                </a:solidFill>
              </a:defRPr>
            </a:pPr>
            <a:r>
              <a:rPr sz="713" b="0">
                <a:solidFill>
                  <a:srgbClr val="3A3838"/>
                </a:solidFill>
              </a:rPr>
              <a:t>0.04</a:t>
            </a:r>
          </a:p>
        </p:txBody>
      </p:sp>
      <p:sp>
        <p:nvSpPr>
          <p:cNvPr id="128" name="">
            <a:extLst xmlns:a="http://schemas.openxmlformats.org/drawingml/2006/main">
              <a:ext uri="{FF2B5EF4-FFF2-40B4-BE49-F238E27FC236}">
                <a16:creationId xmlns:a16="http://schemas.microsoft.com/office/drawing/2014/main" id="{8B16255E-E1D5-4134-B0C8-4B2914E4BD14}"/>
              </a:ext>
            </a:extLst>
          </p:cNvPr>
          <p:cNvSpPr>
            <a:spLocks xmlns:a="http://schemas.openxmlformats.org/drawingml/2006/main" noGrp="1"/>
          </p:cNvSpPr>
          <p:nvPr/>
        </p:nvSpPr>
        <p:spPr>
          <a:xfrm xmlns:a="http://schemas.openxmlformats.org/drawingml/2006/main">
            <a:off x="8191500" y="3881438"/>
            <a:ext cx="595313" cy="595313"/>
          </a:xfrm>
          <a:prstGeom xmlns:a="http://schemas.openxmlformats.org/drawingml/2006/main" prst="rect">
            <a:avLst/>
          </a:prstGeom>
          <a:solidFill xmlns:a="http://schemas.openxmlformats.org/drawingml/2006/main">
            <a:srgbClr val="FCE4D6"/>
          </a:solidFill>
          <a:ln xmlns:a="http://schemas.openxmlformats.org/drawingml/2006/main" w="7620">
            <a:solidFill>
              <a:srgbClr val="FFFFFF"/>
            </a:solidFill>
            <a:prstDash val="solid"/>
          </a:ln>
        </p:spPr>
      </p:sp>
      <p:sp>
        <p:nvSpPr>
          <p:cNvPr id="129" name="">
            <a:extLst xmlns:a="http://schemas.openxmlformats.org/drawingml/2006/main">
              <a:ext uri="{FF2B5EF4-FFF2-40B4-BE49-F238E27FC236}">
                <a16:creationId xmlns:a16="http://schemas.microsoft.com/office/drawing/2014/main" id="{518B15C3-A4AD-453F-A953-87062173E2A6}"/>
              </a:ext>
            </a:extLst>
          </p:cNvPr>
          <p:cNvSpPr>
            <a:spLocks xmlns:a="http://schemas.openxmlformats.org/drawingml/2006/main" noGrp="1"/>
          </p:cNvSpPr>
          <p:nvPr/>
        </p:nvSpPr>
        <p:spPr>
          <a:xfrm xmlns:a="http://schemas.openxmlformats.org/drawingml/2006/main">
            <a:off x="8191500" y="4054078"/>
            <a:ext cx="59531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13" b="0">
                <a:solidFill>
                  <a:srgbClr val="3A3838"/>
                </a:solidFill>
              </a:defRPr>
            </a:pPr>
            <a:r>
              <a:rPr sz="713" b="0">
                <a:solidFill>
                  <a:srgbClr val="3A3838"/>
                </a:solidFill>
              </a:rPr>
              <a:t>0.06</a:t>
            </a:r>
          </a:p>
        </p:txBody>
      </p:sp>
      <p:sp>
        <p:nvSpPr>
          <p:cNvPr id="130" name="">
            <a:extLst xmlns:a="http://schemas.openxmlformats.org/drawingml/2006/main">
              <a:ext uri="{FF2B5EF4-FFF2-40B4-BE49-F238E27FC236}">
                <a16:creationId xmlns:a16="http://schemas.microsoft.com/office/drawing/2014/main" id="{E0F703C5-5035-4FDA-95BB-B1981E6B7BBD}"/>
              </a:ext>
            </a:extLst>
          </p:cNvPr>
          <p:cNvSpPr>
            <a:spLocks xmlns:a="http://schemas.openxmlformats.org/drawingml/2006/main" noGrp="1"/>
          </p:cNvSpPr>
          <p:nvPr/>
        </p:nvSpPr>
        <p:spPr>
          <a:xfrm xmlns:a="http://schemas.openxmlformats.org/drawingml/2006/main">
            <a:off x="8786813" y="3881438"/>
            <a:ext cx="595313" cy="59531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prstDash val="solid"/>
          </a:ln>
        </p:spPr>
      </p:sp>
      <p:sp>
        <p:nvSpPr>
          <p:cNvPr id="131" name="">
            <a:extLst xmlns:a="http://schemas.openxmlformats.org/drawingml/2006/main">
              <a:ext uri="{FF2B5EF4-FFF2-40B4-BE49-F238E27FC236}">
                <a16:creationId xmlns:a16="http://schemas.microsoft.com/office/drawing/2014/main" id="{E4601343-62C6-4881-9291-A4C7566B4529}"/>
              </a:ext>
            </a:extLst>
          </p:cNvPr>
          <p:cNvSpPr>
            <a:spLocks xmlns:a="http://schemas.openxmlformats.org/drawingml/2006/main" noGrp="1"/>
          </p:cNvSpPr>
          <p:nvPr/>
        </p:nvSpPr>
        <p:spPr>
          <a:xfrm xmlns:a="http://schemas.openxmlformats.org/drawingml/2006/main">
            <a:off x="8786813" y="4054078"/>
            <a:ext cx="59531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13" b="0">
                <a:solidFill>
                  <a:srgbClr val="3A3838"/>
                </a:solidFill>
              </a:defRPr>
            </a:pPr>
            <a:r>
              <a:rPr sz="713" b="0">
                <a:solidFill>
                  <a:srgbClr val="3A3838"/>
                </a:solidFill>
              </a:rPr>
              <a:t>0.00</a:t>
            </a:r>
          </a:p>
        </p:txBody>
      </p:sp>
      <p:sp>
        <p:nvSpPr>
          <p:cNvPr id="132" name="">
            <a:extLst xmlns:a="http://schemas.openxmlformats.org/drawingml/2006/main">
              <a:ext uri="{FF2B5EF4-FFF2-40B4-BE49-F238E27FC236}">
                <a16:creationId xmlns:a16="http://schemas.microsoft.com/office/drawing/2014/main" id="{C5D8EBCA-68DA-405A-A485-417C6AFC573A}"/>
              </a:ext>
            </a:extLst>
          </p:cNvPr>
          <p:cNvSpPr>
            <a:spLocks xmlns:a="http://schemas.openxmlformats.org/drawingml/2006/main" noGrp="1"/>
          </p:cNvSpPr>
          <p:nvPr/>
        </p:nvSpPr>
        <p:spPr>
          <a:xfrm xmlns:a="http://schemas.openxmlformats.org/drawingml/2006/main">
            <a:off x="9382125" y="3881438"/>
            <a:ext cx="595313" cy="595313"/>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prstDash val="solid"/>
          </a:ln>
        </p:spPr>
      </p:sp>
      <p:sp>
        <p:nvSpPr>
          <p:cNvPr id="133" name="">
            <a:extLst xmlns:a="http://schemas.openxmlformats.org/drawingml/2006/main">
              <a:ext uri="{FF2B5EF4-FFF2-40B4-BE49-F238E27FC236}">
                <a16:creationId xmlns:a16="http://schemas.microsoft.com/office/drawing/2014/main" id="{05A01605-AE74-450D-8A95-EDF25FFABCB4}"/>
              </a:ext>
            </a:extLst>
          </p:cNvPr>
          <p:cNvSpPr>
            <a:spLocks xmlns:a="http://schemas.openxmlformats.org/drawingml/2006/main" noGrp="1"/>
          </p:cNvSpPr>
          <p:nvPr/>
        </p:nvSpPr>
        <p:spPr>
          <a:xfrm xmlns:a="http://schemas.openxmlformats.org/drawingml/2006/main">
            <a:off x="9382125" y="4054078"/>
            <a:ext cx="59531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13" b="0">
                <a:solidFill>
                  <a:srgbClr val="3A3838"/>
                </a:solidFill>
              </a:defRPr>
            </a:pPr>
            <a:r>
              <a:rPr sz="713" b="0">
                <a:solidFill>
                  <a:srgbClr val="3A3838"/>
                </a:solidFill>
              </a:rPr>
              <a:t>0.04</a:t>
            </a:r>
          </a:p>
        </p:txBody>
      </p:sp>
      <p:sp>
        <p:nvSpPr>
          <p:cNvPr id="134" name="">
            <a:extLst xmlns:a="http://schemas.openxmlformats.org/drawingml/2006/main">
              <a:ext uri="{FF2B5EF4-FFF2-40B4-BE49-F238E27FC236}">
                <a16:creationId xmlns:a16="http://schemas.microsoft.com/office/drawing/2014/main" id="{A2C1D0B7-B1E4-4980-912D-F1D00D926E61}"/>
              </a:ext>
            </a:extLst>
          </p:cNvPr>
          <p:cNvSpPr>
            <a:spLocks xmlns:a="http://schemas.openxmlformats.org/drawingml/2006/main" noGrp="1"/>
          </p:cNvSpPr>
          <p:nvPr/>
        </p:nvSpPr>
        <p:spPr>
          <a:xfrm xmlns:a="http://schemas.openxmlformats.org/drawingml/2006/main">
            <a:off x="9977438" y="3881438"/>
            <a:ext cx="595313" cy="595313"/>
          </a:xfrm>
          <a:prstGeom xmlns:a="http://schemas.openxmlformats.org/drawingml/2006/main" prst="rect">
            <a:avLst/>
          </a:prstGeom>
          <a:solidFill xmlns:a="http://schemas.openxmlformats.org/drawingml/2006/main">
            <a:srgbClr val="DDEBF7"/>
          </a:solidFill>
          <a:ln xmlns:a="http://schemas.openxmlformats.org/drawingml/2006/main" w="7620">
            <a:solidFill>
              <a:srgbClr val="FFFFFF"/>
            </a:solidFill>
            <a:prstDash val="solid"/>
          </a:ln>
        </p:spPr>
      </p:sp>
      <p:sp>
        <p:nvSpPr>
          <p:cNvPr id="135" name="">
            <a:extLst xmlns:a="http://schemas.openxmlformats.org/drawingml/2006/main">
              <a:ext uri="{FF2B5EF4-FFF2-40B4-BE49-F238E27FC236}">
                <a16:creationId xmlns:a16="http://schemas.microsoft.com/office/drawing/2014/main" id="{67297CB9-F291-4E31-AEDA-5D3F43BD1FCC}"/>
              </a:ext>
            </a:extLst>
          </p:cNvPr>
          <p:cNvSpPr>
            <a:spLocks xmlns:a="http://schemas.openxmlformats.org/drawingml/2006/main" noGrp="1"/>
          </p:cNvSpPr>
          <p:nvPr/>
        </p:nvSpPr>
        <p:spPr>
          <a:xfrm xmlns:a="http://schemas.openxmlformats.org/drawingml/2006/main">
            <a:off x="9977438" y="4054078"/>
            <a:ext cx="59531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13" b="0">
                <a:solidFill>
                  <a:srgbClr val="3A3838"/>
                </a:solidFill>
              </a:defRPr>
            </a:pPr>
            <a:r>
              <a:rPr sz="713" b="0">
                <a:solidFill>
                  <a:srgbClr val="3A3838"/>
                </a:solidFill>
              </a:rPr>
              <a:t>0.14</a:t>
            </a:r>
          </a:p>
        </p:txBody>
      </p:sp>
      <p:sp>
        <p:nvSpPr>
          <p:cNvPr id="136" name="">
            <a:extLst xmlns:a="http://schemas.openxmlformats.org/drawingml/2006/main">
              <a:ext uri="{FF2B5EF4-FFF2-40B4-BE49-F238E27FC236}">
                <a16:creationId xmlns:a16="http://schemas.microsoft.com/office/drawing/2014/main" id="{999CE6BB-8656-408D-8360-8150443FD1F0}"/>
              </a:ext>
            </a:extLst>
          </p:cNvPr>
          <p:cNvSpPr>
            <a:spLocks xmlns:a="http://schemas.openxmlformats.org/drawingml/2006/main" noGrp="1"/>
          </p:cNvSpPr>
          <p:nvPr/>
        </p:nvSpPr>
        <p:spPr>
          <a:xfrm xmlns:a="http://schemas.openxmlformats.org/drawingml/2006/main">
            <a:off x="8001000" y="4543425"/>
            <a:ext cx="276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b="1">
                <a:solidFill>
                  <a:srgbClr val="4472C4"/>
                </a:solidFill>
              </a:defRPr>
            </a:pPr>
            <a:r>
              <a:rPr sz="788" b="1">
                <a:solidFill>
                  <a:srgbClr val="4472C4"/>
                </a:solidFill>
              </a:rPr>
              <a:t>diagonal = basis weights</a:t>
            </a:r>
          </a:p>
        </p:txBody>
      </p:sp>
      <p:sp>
        <p:nvSpPr>
          <p:cNvPr id="137" name="">
            <a:extLst xmlns:a="http://schemas.openxmlformats.org/drawingml/2006/main">
              <a:ext uri="{FF2B5EF4-FFF2-40B4-BE49-F238E27FC236}">
                <a16:creationId xmlns:a16="http://schemas.microsoft.com/office/drawing/2014/main" id="{FACBAB5A-0AA6-4098-BFE6-AFB6C995C7A5}"/>
              </a:ext>
            </a:extLst>
          </p:cNvPr>
          <p:cNvSpPr>
            <a:spLocks xmlns:a="http://schemas.openxmlformats.org/drawingml/2006/main" noGrp="1"/>
          </p:cNvSpPr>
          <p:nvPr/>
        </p:nvSpPr>
        <p:spPr>
          <a:xfrm xmlns:a="http://schemas.openxmlformats.org/drawingml/2006/main">
            <a:off x="7905750" y="4733925"/>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b="0">
                <a:solidFill>
                  <a:srgbClr val="D24726"/>
                </a:solidFill>
              </a:defRPr>
            </a:pPr>
            <a:r>
              <a:rPr sz="788" b="0">
                <a:solidFill>
                  <a:srgbClr val="D24726"/>
                </a:solidFill>
              </a:rPr>
              <a:t>off-diagonal = basis-dependent coherence</a:t>
            </a:r>
          </a:p>
        </p:txBody>
      </p:sp>
      <p:sp>
        <p:nvSpPr>
          <p:cNvPr id="138" name="">
            <a:extLst xmlns:a="http://schemas.openxmlformats.org/drawingml/2006/main">
              <a:ext uri="{FF2B5EF4-FFF2-40B4-BE49-F238E27FC236}">
                <a16:creationId xmlns:a16="http://schemas.microsoft.com/office/drawing/2014/main" id="{B6DE6CC7-5890-49FB-BCE7-317002E1D56E}"/>
              </a:ext>
            </a:extLst>
          </p:cNvPr>
          <p:cNvSpPr>
            <a:spLocks xmlns:a="http://schemas.openxmlformats.org/drawingml/2006/main" noGrp="1"/>
          </p:cNvSpPr>
          <p:nvPr/>
        </p:nvSpPr>
        <p:spPr>
          <a:xfrm xmlns:a="http://schemas.openxmlformats.org/drawingml/2006/main">
            <a:off x="7524750" y="5095875"/>
            <a:ext cx="371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D24726"/>
                </a:solidFill>
              </a:defRPr>
            </a:pPr>
            <a:r>
              <a:rPr sz="1013" b="1">
                <a:solidFill>
                  <a:srgbClr val="D24726"/>
                </a:solidFill>
              </a:rPr>
              <a:t>The matrix is the model's belief—not a room, not a set of particles, and not a quantum computer.</a:t>
            </a:r>
          </a:p>
        </p:txBody>
      </p:sp>
      <p:sp>
        <p:nvSpPr>
          <p:cNvPr id="139" name="">
            <a:extLst xmlns:a="http://schemas.openxmlformats.org/drawingml/2006/main">
              <a:ext uri="{FF2B5EF4-FFF2-40B4-BE49-F238E27FC236}">
                <a16:creationId xmlns:a16="http://schemas.microsoft.com/office/drawing/2014/main" id="{0F2E8975-54B0-4273-A1B1-B185EC161CA8}"/>
              </a:ext>
            </a:extLst>
          </p:cNvPr>
          <p:cNvSpPr>
            <a:spLocks xmlns:a="http://schemas.openxmlformats.org/drawingml/2006/main" noGrp="1"/>
          </p:cNvSpPr>
          <p:nvPr/>
        </p:nvSpPr>
        <p:spPr>
          <a:xfrm xmlns:a="http://schemas.openxmlformats.org/drawingml/2006/main">
            <a:off x="523875" y="6238875"/>
            <a:ext cx="1109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0">
                <a:solidFill>
                  <a:srgbClr val="767171"/>
                </a:solidFill>
              </a:defRPr>
            </a:pPr>
            <a:r>
              <a:rPr sz="660" b="0">
                <a:solidFill>
                  <a:srgbClr val="767171"/>
                </a:solidFill>
              </a:rPr>
              <a:t>[3] Srinivasan et al., AISTATS 2018.  [4] Adhikary et al., AISTATS 2020.  [5] Bengtsson et al., arXiv:1112.2347.</a:t>
            </a:r>
          </a:p>
        </p:txBody>
      </p:sp>
    </p:spTree>
    <p:extLst>
      <p:ext uri="{BB962C8B-B14F-4D97-AF65-F5344CB8AC3E}">
        <p14:creationId xmlns:p14="http://schemas.microsoft.com/office/powerpoint/2010/main" val="110504612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07" name="Google Shape;107;p10">
            <a:extLst xmlns:a="http://schemas.openxmlformats.org/drawingml/2006/main">
              <a:ext uri="{FF2B5EF4-FFF2-40B4-BE49-F238E27FC236}">
                <a16:creationId xmlns:a16="http://schemas.microsoft.com/office/drawing/2014/main" id="{AE349F37-E09D-C38C-F5C4-55369CD1F136}"/>
              </a:ext>
            </a:extLst>
          </p:cNvPr>
          <p:cNvSpPr>
            <a:spLocks xmlns:a="http://schemas.openxmlformats.org/drawingml/2006/main" noGrp="1"/>
          </p:cNvSpPr>
          <p:nvPr>
            <p:ph type="title" idx="0"/>
          </p:nvPr>
        </p:nvSpPr>
        <p:spPr>
          <a:xfrm xmlns:a="http://schemas.openxmlformats.org/drawingml/2006/main">
            <a:off x="444532" y="430625"/>
            <a:ext cx="11210544" cy="5577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indent="0" algn="l">
              <a:spcBef>
                <a:spcPts val="0"/>
              </a:spcBef>
              <a:spcAft>
                <a:spcPts val="0"/>
              </a:spcAft>
              <a:buNone/>
              <a:defRPr sz="1988" b="0">
                <a:solidFill>
                  <a:srgbClr val="3A3838"/>
                </a:solidFill>
              </a:defRPr>
            </a:pPr>
            <a:r>
              <a:rPr sz="1988" b="0">
                <a:solidFill>
                  <a:srgbClr val="3A3838"/>
                </a:solidFill>
              </a:rPr>
              <a:t>Quantum Latent Core: What ‘Richer’ Means—and What It Does Not Mean</a:t>
            </a:r>
          </a:p>
        </p:txBody>
      </p:sp>
      <p:sp>
        <p:nvSpPr>
          <p:cNvPr id="108" name="">
            <a:extLst xmlns:a="http://schemas.openxmlformats.org/drawingml/2006/main">
              <a:ext uri="{FF2B5EF4-FFF2-40B4-BE49-F238E27FC236}">
                <a16:creationId xmlns:a16="http://schemas.microsoft.com/office/drawing/2014/main" id="{C4DC60BF-9952-4329-8F53-685AB99A77C0}"/>
              </a:ext>
            </a:extLst>
          </p:cNvPr>
          <p:cNvSpPr>
            <a:spLocks xmlns:a="http://schemas.openxmlformats.org/drawingml/2006/main" noGrp="1"/>
          </p:cNvSpPr>
          <p:nvPr/>
        </p:nvSpPr>
        <p:spPr>
          <a:xfrm xmlns:a="http://schemas.openxmlformats.org/drawingml/2006/main">
            <a:off x="444532" y="1097280"/>
            <a:ext cx="11210544" cy="17145"/>
          </a:xfrm>
          <a:prstGeom xmlns:a="http://schemas.openxmlformats.org/drawingml/2006/main" prst="rect">
            <a:avLst/>
          </a:prstGeom>
          <a:solidFill xmlns:a="http://schemas.openxmlformats.org/drawingml/2006/main">
            <a:srgbClr val="D24726"/>
          </a:solidFill>
          <a:ln xmlns:a="http://schemas.openxmlformats.org/drawingml/2006/main" w="0">
            <a:solidFill>
              <a:srgbClr val="D24726"/>
            </a:solidFill>
            <a:prstDash val="solid"/>
          </a:ln>
        </p:spPr>
      </p:sp>
      <p:sp>
        <p:nvSpPr>
          <p:cNvPr id="109" name="">
            <a:extLst xmlns:a="http://schemas.openxmlformats.org/drawingml/2006/main">
              <a:ext uri="{FF2B5EF4-FFF2-40B4-BE49-F238E27FC236}">
                <a16:creationId xmlns:a16="http://schemas.microsoft.com/office/drawing/2014/main" id="{9B0D1A2C-7B1B-4288-9E60-1D05005C8E99}"/>
              </a:ext>
            </a:extLst>
          </p:cNvPr>
          <p:cNvSpPr>
            <a:spLocks xmlns:a="http://schemas.openxmlformats.org/drawingml/2006/main" noGrp="1"/>
          </p:cNvSpPr>
          <p:nvPr/>
        </p:nvSpPr>
        <p:spPr>
          <a:xfrm xmlns:a="http://schemas.openxmlformats.org/drawingml/2006/main">
            <a:off x="457200" y="1381125"/>
            <a:ext cx="723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0">
                <a:solidFill>
                  <a:srgbClr val="3A3838"/>
                </a:solidFill>
              </a:defRPr>
            </a:pPr>
            <a:r>
              <a:rPr sz="1238" b="0">
                <a:solidFill>
                  <a:srgbClr val="3A3838"/>
                </a:solidFill>
              </a:rPr>
              <a:t>For the same nominal basis size d, a full complex density matrix has more free coordinates than a categorical probability list.</a:t>
            </a:r>
          </a:p>
        </p:txBody>
      </p:sp>
      <p:sp>
        <p:nvSpPr>
          <p:cNvPr id="110" name="">
            <a:extLst xmlns:a="http://schemas.openxmlformats.org/drawingml/2006/main">
              <a:ext uri="{FF2B5EF4-FFF2-40B4-BE49-F238E27FC236}">
                <a16:creationId xmlns:a16="http://schemas.microsoft.com/office/drawing/2014/main" id="{07A53CE2-C0F6-4123-B870-8AFED126A3BE}"/>
              </a:ext>
            </a:extLst>
          </p:cNvPr>
          <p:cNvSpPr>
            <a:spLocks xmlns:a="http://schemas.openxmlformats.org/drawingml/2006/main" noGrp="1"/>
          </p:cNvSpPr>
          <p:nvPr/>
        </p:nvSpPr>
        <p:spPr>
          <a:xfrm xmlns:a="http://schemas.openxmlformats.org/drawingml/2006/main">
            <a:off x="495300" y="2095500"/>
            <a:ext cx="11144250" cy="523875"/>
          </a:xfrm>
          <a:prstGeom xmlns:a="http://schemas.openxmlformats.org/drawingml/2006/main" prst="rect">
            <a:avLst/>
          </a:prstGeom>
          <a:solidFill xmlns:a="http://schemas.openxmlformats.org/drawingml/2006/main">
            <a:srgbClr val="FFFFFF"/>
          </a:solidFill>
          <a:ln xmlns:a="http://schemas.openxmlformats.org/drawingml/2006/main" w="7620">
            <a:solidFill>
              <a:srgbClr val="4472C4"/>
            </a:solidFill>
            <a:prstDash val="solid"/>
          </a:ln>
        </p:spPr>
        <p:txBody>
          <a:bodyPr xmlns:a="http://schemas.openxmlformats.org/drawingml/2006/main" anchor="ctr"/>
          <a:lstStyle xmlns:a="http://schemas.openxmlformats.org/drawingml/2006/main"/>
          <a:p xmlns:a="http://schemas.openxmlformats.org/drawingml/2006/main">
            <a:pPr algn="ctr">
              <a:defRPr sz="1350" b="0">
                <a:solidFill>
                  <a:srgbClr val="3A3838"/>
                </a:solidFill>
              </a:defRPr>
            </a:pPr>
            <a:r>
              <a:rPr sz="1350" b="0">
                <a:solidFill>
                  <a:srgbClr val="3A3838"/>
                </a:solidFill>
              </a:rPr>
              <a:t>categorical: d−1     pure state: 2d−2     rank-r ρ: 2dr−r²−1     full ρ: d²−1</a:t>
            </a:r>
          </a:p>
        </p:txBody>
      </p:sp>
      <p:sp>
        <p:nvSpPr>
          <p:cNvPr id="111" name="">
            <a:extLst xmlns:a="http://schemas.openxmlformats.org/drawingml/2006/main">
              <a:ext uri="{FF2B5EF4-FFF2-40B4-BE49-F238E27FC236}">
                <a16:creationId xmlns:a16="http://schemas.microsoft.com/office/drawing/2014/main" id="{B4611936-2D2B-4BC7-BC43-D6208EC36E2C}"/>
              </a:ext>
            </a:extLst>
          </p:cNvPr>
          <p:cNvSpPr>
            <a:spLocks xmlns:a="http://schemas.openxmlformats.org/drawingml/2006/main" noGrp="1"/>
          </p:cNvSpPr>
          <p:nvPr/>
        </p:nvSpPr>
        <p:spPr>
          <a:xfrm xmlns:a="http://schemas.openxmlformats.org/drawingml/2006/main">
            <a:off x="857250" y="3000375"/>
            <a:ext cx="4762500" cy="457200"/>
          </a:xfrm>
          <a:prstGeom xmlns:a="http://schemas.openxmlformats.org/drawingml/2006/main" prst="rect">
            <a:avLst/>
          </a:prstGeom>
          <a:solidFill xmlns:a="http://schemas.openxmlformats.org/drawingml/2006/main">
            <a:srgbClr val="3A3838"/>
          </a:solidFill>
          <a:ln xmlns:a="http://schemas.openxmlformats.org/drawingml/2006/main" w="6668">
            <a:solidFill>
              <a:srgbClr val="B7B7B7"/>
            </a:solidFill>
            <a:prstDash val="solid"/>
          </a:ln>
        </p:spPr>
      </p:sp>
      <p:sp>
        <p:nvSpPr>
          <p:cNvPr id="112" name="">
            <a:extLst xmlns:a="http://schemas.openxmlformats.org/drawingml/2006/main">
              <a:ext uri="{FF2B5EF4-FFF2-40B4-BE49-F238E27FC236}">
                <a16:creationId xmlns:a16="http://schemas.microsoft.com/office/drawing/2014/main" id="{A9D0F403-4D0E-4F9D-A6A7-6F8BBC73FCEB}"/>
              </a:ext>
            </a:extLst>
          </p:cNvPr>
          <p:cNvSpPr>
            <a:spLocks xmlns:a="http://schemas.openxmlformats.org/drawingml/2006/main" noGrp="1"/>
          </p:cNvSpPr>
          <p:nvPr/>
        </p:nvSpPr>
        <p:spPr>
          <a:xfrm xmlns:a="http://schemas.openxmlformats.org/drawingml/2006/main">
            <a:off x="1000125" y="3095625"/>
            <a:ext cx="3095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defRPr>
            </a:pPr>
            <a:r>
              <a:rPr sz="975" b="1">
                <a:solidFill>
                  <a:srgbClr val="FFFFFF"/>
                </a:solidFill>
              </a:rPr>
              <a:t>d = 64 family</a:t>
            </a:r>
          </a:p>
        </p:txBody>
      </p:sp>
      <p:sp>
        <p:nvSpPr>
          <p:cNvPr id="113" name="">
            <a:extLst xmlns:a="http://schemas.openxmlformats.org/drawingml/2006/main">
              <a:ext uri="{FF2B5EF4-FFF2-40B4-BE49-F238E27FC236}">
                <a16:creationId xmlns:a16="http://schemas.microsoft.com/office/drawing/2014/main" id="{DCB10771-B9D7-4930-BB8B-B39F5E6A73B6}"/>
              </a:ext>
            </a:extLst>
          </p:cNvPr>
          <p:cNvSpPr>
            <a:spLocks xmlns:a="http://schemas.openxmlformats.org/drawingml/2006/main" noGrp="1"/>
          </p:cNvSpPr>
          <p:nvPr/>
        </p:nvSpPr>
        <p:spPr>
          <a:xfrm xmlns:a="http://schemas.openxmlformats.org/drawingml/2006/main">
            <a:off x="4238625" y="3095625"/>
            <a:ext cx="114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FFFFFF"/>
                </a:solidFill>
              </a:defRPr>
            </a:pPr>
            <a:r>
              <a:rPr sz="975" b="1">
                <a:solidFill>
                  <a:srgbClr val="FFFFFF"/>
                </a:solidFill>
              </a:rPr>
              <a:t>free real degrees</a:t>
            </a:r>
          </a:p>
        </p:txBody>
      </p:sp>
      <p:sp>
        <p:nvSpPr>
          <p:cNvPr id="114" name="">
            <a:extLst xmlns:a="http://schemas.openxmlformats.org/drawingml/2006/main">
              <a:ext uri="{FF2B5EF4-FFF2-40B4-BE49-F238E27FC236}">
                <a16:creationId xmlns:a16="http://schemas.microsoft.com/office/drawing/2014/main" id="{083F5093-6E45-458C-A63F-D63960F9C638}"/>
              </a:ext>
            </a:extLst>
          </p:cNvPr>
          <p:cNvSpPr>
            <a:spLocks xmlns:a="http://schemas.openxmlformats.org/drawingml/2006/main" noGrp="1"/>
          </p:cNvSpPr>
          <p:nvPr/>
        </p:nvSpPr>
        <p:spPr>
          <a:xfrm xmlns:a="http://schemas.openxmlformats.org/drawingml/2006/main">
            <a:off x="857250" y="3457575"/>
            <a:ext cx="4762500" cy="457200"/>
          </a:xfrm>
          <a:prstGeom xmlns:a="http://schemas.openxmlformats.org/drawingml/2006/main" prst="rect">
            <a:avLst/>
          </a:prstGeom>
          <a:solidFill xmlns:a="http://schemas.openxmlformats.org/drawingml/2006/main">
            <a:srgbClr val="FFFFFF"/>
          </a:solidFill>
          <a:ln xmlns:a="http://schemas.openxmlformats.org/drawingml/2006/main" w="6668">
            <a:solidFill>
              <a:srgbClr val="B7B7B7"/>
            </a:solidFill>
            <a:prstDash val="solid"/>
          </a:ln>
        </p:spPr>
      </p:sp>
      <p:sp>
        <p:nvSpPr>
          <p:cNvPr id="115" name="">
            <a:extLst xmlns:a="http://schemas.openxmlformats.org/drawingml/2006/main">
              <a:ext uri="{FF2B5EF4-FFF2-40B4-BE49-F238E27FC236}">
                <a16:creationId xmlns:a16="http://schemas.microsoft.com/office/drawing/2014/main" id="{7E39479F-5985-4E72-92C5-669D66C980BC}"/>
              </a:ext>
            </a:extLst>
          </p:cNvPr>
          <p:cNvSpPr>
            <a:spLocks xmlns:a="http://schemas.openxmlformats.org/drawingml/2006/main" noGrp="1"/>
          </p:cNvSpPr>
          <p:nvPr/>
        </p:nvSpPr>
        <p:spPr>
          <a:xfrm xmlns:a="http://schemas.openxmlformats.org/drawingml/2006/main">
            <a:off x="1000125" y="3552825"/>
            <a:ext cx="3095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53" b="0">
                <a:solidFill>
                  <a:srgbClr val="3A3838"/>
                </a:solidFill>
              </a:defRPr>
            </a:pPr>
            <a:r>
              <a:rPr sz="953" b="0">
                <a:solidFill>
                  <a:srgbClr val="3A3838"/>
                </a:solidFill>
              </a:rPr>
              <a:t>categorical</a:t>
            </a:r>
          </a:p>
        </p:txBody>
      </p:sp>
      <p:sp>
        <p:nvSpPr>
          <p:cNvPr id="116" name="">
            <a:extLst xmlns:a="http://schemas.openxmlformats.org/drawingml/2006/main">
              <a:ext uri="{FF2B5EF4-FFF2-40B4-BE49-F238E27FC236}">
                <a16:creationId xmlns:a16="http://schemas.microsoft.com/office/drawing/2014/main" id="{974FE27F-6A8A-46E2-9177-C77C0F927906}"/>
              </a:ext>
            </a:extLst>
          </p:cNvPr>
          <p:cNvSpPr>
            <a:spLocks xmlns:a="http://schemas.openxmlformats.org/drawingml/2006/main" noGrp="1"/>
          </p:cNvSpPr>
          <p:nvPr/>
        </p:nvSpPr>
        <p:spPr>
          <a:xfrm xmlns:a="http://schemas.openxmlformats.org/drawingml/2006/main">
            <a:off x="4238625" y="3552825"/>
            <a:ext cx="114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90" b="1">
                <a:solidFill>
                  <a:srgbClr val="4472C4"/>
                </a:solidFill>
              </a:defRPr>
            </a:pPr>
            <a:r>
              <a:rPr sz="990" b="1">
                <a:solidFill>
                  <a:srgbClr val="4472C4"/>
                </a:solidFill>
              </a:rPr>
              <a:t>63</a:t>
            </a:r>
          </a:p>
        </p:txBody>
      </p:sp>
      <p:sp>
        <p:nvSpPr>
          <p:cNvPr id="117" name="">
            <a:extLst xmlns:a="http://schemas.openxmlformats.org/drawingml/2006/main">
              <a:ext uri="{FF2B5EF4-FFF2-40B4-BE49-F238E27FC236}">
                <a16:creationId xmlns:a16="http://schemas.microsoft.com/office/drawing/2014/main" id="{D9D5684A-B518-407A-9DB4-579DA66D444A}"/>
              </a:ext>
            </a:extLst>
          </p:cNvPr>
          <p:cNvSpPr>
            <a:spLocks xmlns:a="http://schemas.openxmlformats.org/drawingml/2006/main" noGrp="1"/>
          </p:cNvSpPr>
          <p:nvPr/>
        </p:nvSpPr>
        <p:spPr>
          <a:xfrm xmlns:a="http://schemas.openxmlformats.org/drawingml/2006/main">
            <a:off x="857250" y="3914775"/>
            <a:ext cx="4762500" cy="457200"/>
          </a:xfrm>
          <a:prstGeom xmlns:a="http://schemas.openxmlformats.org/drawingml/2006/main" prst="rect">
            <a:avLst/>
          </a:prstGeom>
          <a:solidFill xmlns:a="http://schemas.openxmlformats.org/drawingml/2006/main">
            <a:srgbClr val="F2F2F2"/>
          </a:solidFill>
          <a:ln xmlns:a="http://schemas.openxmlformats.org/drawingml/2006/main" w="6668">
            <a:solidFill>
              <a:srgbClr val="B7B7B7"/>
            </a:solidFill>
            <a:prstDash val="solid"/>
          </a:ln>
        </p:spPr>
      </p:sp>
      <p:sp>
        <p:nvSpPr>
          <p:cNvPr id="118" name="">
            <a:extLst xmlns:a="http://schemas.openxmlformats.org/drawingml/2006/main">
              <a:ext uri="{FF2B5EF4-FFF2-40B4-BE49-F238E27FC236}">
                <a16:creationId xmlns:a16="http://schemas.microsoft.com/office/drawing/2014/main" id="{5F2599E9-560E-41CE-921B-CD458EE319F2}"/>
              </a:ext>
            </a:extLst>
          </p:cNvPr>
          <p:cNvSpPr>
            <a:spLocks xmlns:a="http://schemas.openxmlformats.org/drawingml/2006/main" noGrp="1"/>
          </p:cNvSpPr>
          <p:nvPr/>
        </p:nvSpPr>
        <p:spPr>
          <a:xfrm xmlns:a="http://schemas.openxmlformats.org/drawingml/2006/main">
            <a:off x="1000125" y="4010025"/>
            <a:ext cx="3095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53" b="0">
                <a:solidFill>
                  <a:srgbClr val="3A3838"/>
                </a:solidFill>
              </a:defRPr>
            </a:pPr>
            <a:r>
              <a:rPr sz="953" b="0">
                <a:solidFill>
                  <a:srgbClr val="3A3838"/>
                </a:solidFill>
              </a:rPr>
              <a:t>pure state</a:t>
            </a:r>
          </a:p>
        </p:txBody>
      </p:sp>
      <p:sp>
        <p:nvSpPr>
          <p:cNvPr id="119" name="">
            <a:extLst xmlns:a="http://schemas.openxmlformats.org/drawingml/2006/main">
              <a:ext uri="{FF2B5EF4-FFF2-40B4-BE49-F238E27FC236}">
                <a16:creationId xmlns:a16="http://schemas.microsoft.com/office/drawing/2014/main" id="{30E87E4B-211D-4B0B-8207-71E095B61450}"/>
              </a:ext>
            </a:extLst>
          </p:cNvPr>
          <p:cNvSpPr>
            <a:spLocks xmlns:a="http://schemas.openxmlformats.org/drawingml/2006/main" noGrp="1"/>
          </p:cNvSpPr>
          <p:nvPr/>
        </p:nvSpPr>
        <p:spPr>
          <a:xfrm xmlns:a="http://schemas.openxmlformats.org/drawingml/2006/main">
            <a:off x="4238625" y="4010025"/>
            <a:ext cx="114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90" b="1">
                <a:solidFill>
                  <a:srgbClr val="4472C4"/>
                </a:solidFill>
              </a:defRPr>
            </a:pPr>
            <a:r>
              <a:rPr sz="990" b="1">
                <a:solidFill>
                  <a:srgbClr val="4472C4"/>
                </a:solidFill>
              </a:rPr>
              <a:t>126</a:t>
            </a:r>
          </a:p>
        </p:txBody>
      </p:sp>
      <p:sp>
        <p:nvSpPr>
          <p:cNvPr id="120" name="">
            <a:extLst xmlns:a="http://schemas.openxmlformats.org/drawingml/2006/main">
              <a:ext uri="{FF2B5EF4-FFF2-40B4-BE49-F238E27FC236}">
                <a16:creationId xmlns:a16="http://schemas.microsoft.com/office/drawing/2014/main" id="{5EE4E0ED-CB06-4D99-856B-C5C4C669900E}"/>
              </a:ext>
            </a:extLst>
          </p:cNvPr>
          <p:cNvSpPr>
            <a:spLocks xmlns:a="http://schemas.openxmlformats.org/drawingml/2006/main" noGrp="1"/>
          </p:cNvSpPr>
          <p:nvPr/>
        </p:nvSpPr>
        <p:spPr>
          <a:xfrm xmlns:a="http://schemas.openxmlformats.org/drawingml/2006/main">
            <a:off x="857250" y="4371975"/>
            <a:ext cx="4762500" cy="457200"/>
          </a:xfrm>
          <a:prstGeom xmlns:a="http://schemas.openxmlformats.org/drawingml/2006/main" prst="rect">
            <a:avLst/>
          </a:prstGeom>
          <a:solidFill xmlns:a="http://schemas.openxmlformats.org/drawingml/2006/main">
            <a:srgbClr val="FFFFFF"/>
          </a:solidFill>
          <a:ln xmlns:a="http://schemas.openxmlformats.org/drawingml/2006/main" w="6668">
            <a:solidFill>
              <a:srgbClr val="B7B7B7"/>
            </a:solidFill>
            <a:prstDash val="solid"/>
          </a:ln>
        </p:spPr>
      </p:sp>
      <p:sp>
        <p:nvSpPr>
          <p:cNvPr id="121" name="">
            <a:extLst xmlns:a="http://schemas.openxmlformats.org/drawingml/2006/main">
              <a:ext uri="{FF2B5EF4-FFF2-40B4-BE49-F238E27FC236}">
                <a16:creationId xmlns:a16="http://schemas.microsoft.com/office/drawing/2014/main" id="{7CFA3C11-F12B-451A-B42B-02F1407F1644}"/>
              </a:ext>
            </a:extLst>
          </p:cNvPr>
          <p:cNvSpPr>
            <a:spLocks xmlns:a="http://schemas.openxmlformats.org/drawingml/2006/main" noGrp="1"/>
          </p:cNvSpPr>
          <p:nvPr/>
        </p:nvSpPr>
        <p:spPr>
          <a:xfrm xmlns:a="http://schemas.openxmlformats.org/drawingml/2006/main">
            <a:off x="1000125" y="4467225"/>
            <a:ext cx="3095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53" b="0">
                <a:solidFill>
                  <a:srgbClr val="3A3838"/>
                </a:solidFill>
              </a:defRPr>
            </a:pPr>
            <a:r>
              <a:rPr sz="953" b="0">
                <a:solidFill>
                  <a:srgbClr val="3A3838"/>
                </a:solidFill>
              </a:rPr>
              <a:t>rank-8 density state</a:t>
            </a:r>
          </a:p>
        </p:txBody>
      </p:sp>
      <p:sp>
        <p:nvSpPr>
          <p:cNvPr id="122" name="">
            <a:extLst xmlns:a="http://schemas.openxmlformats.org/drawingml/2006/main">
              <a:ext uri="{FF2B5EF4-FFF2-40B4-BE49-F238E27FC236}">
                <a16:creationId xmlns:a16="http://schemas.microsoft.com/office/drawing/2014/main" id="{B730DF2B-B9F2-4213-9A78-D7FB1327B688}"/>
              </a:ext>
            </a:extLst>
          </p:cNvPr>
          <p:cNvSpPr>
            <a:spLocks xmlns:a="http://schemas.openxmlformats.org/drawingml/2006/main" noGrp="1"/>
          </p:cNvSpPr>
          <p:nvPr/>
        </p:nvSpPr>
        <p:spPr>
          <a:xfrm xmlns:a="http://schemas.openxmlformats.org/drawingml/2006/main">
            <a:off x="4238625" y="4467225"/>
            <a:ext cx="114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90" b="1">
                <a:solidFill>
                  <a:srgbClr val="4472C4"/>
                </a:solidFill>
              </a:defRPr>
            </a:pPr>
            <a:r>
              <a:rPr sz="990" b="1">
                <a:solidFill>
                  <a:srgbClr val="4472C4"/>
                </a:solidFill>
              </a:rPr>
              <a:t>959</a:t>
            </a:r>
          </a:p>
        </p:txBody>
      </p:sp>
      <p:sp>
        <p:nvSpPr>
          <p:cNvPr id="123" name="">
            <a:extLst xmlns:a="http://schemas.openxmlformats.org/drawingml/2006/main">
              <a:ext uri="{FF2B5EF4-FFF2-40B4-BE49-F238E27FC236}">
                <a16:creationId xmlns:a16="http://schemas.microsoft.com/office/drawing/2014/main" id="{0F51717D-7DAF-46E4-912E-0D9A7E4A076A}"/>
              </a:ext>
            </a:extLst>
          </p:cNvPr>
          <p:cNvSpPr>
            <a:spLocks xmlns:a="http://schemas.openxmlformats.org/drawingml/2006/main" noGrp="1"/>
          </p:cNvSpPr>
          <p:nvPr/>
        </p:nvSpPr>
        <p:spPr>
          <a:xfrm xmlns:a="http://schemas.openxmlformats.org/drawingml/2006/main">
            <a:off x="857250" y="4829175"/>
            <a:ext cx="4762500" cy="457200"/>
          </a:xfrm>
          <a:prstGeom xmlns:a="http://schemas.openxmlformats.org/drawingml/2006/main" prst="rect">
            <a:avLst/>
          </a:prstGeom>
          <a:solidFill xmlns:a="http://schemas.openxmlformats.org/drawingml/2006/main">
            <a:srgbClr val="F2F2F2"/>
          </a:solidFill>
          <a:ln xmlns:a="http://schemas.openxmlformats.org/drawingml/2006/main" w="6668">
            <a:solidFill>
              <a:srgbClr val="B7B7B7"/>
            </a:solidFill>
            <a:prstDash val="solid"/>
          </a:ln>
        </p:spPr>
      </p:sp>
      <p:sp>
        <p:nvSpPr>
          <p:cNvPr id="124" name="">
            <a:extLst xmlns:a="http://schemas.openxmlformats.org/drawingml/2006/main">
              <a:ext uri="{FF2B5EF4-FFF2-40B4-BE49-F238E27FC236}">
                <a16:creationId xmlns:a16="http://schemas.microsoft.com/office/drawing/2014/main" id="{B59898F7-E7B9-468C-ADC0-8884408AB3B3}"/>
              </a:ext>
            </a:extLst>
          </p:cNvPr>
          <p:cNvSpPr>
            <a:spLocks xmlns:a="http://schemas.openxmlformats.org/drawingml/2006/main" noGrp="1"/>
          </p:cNvSpPr>
          <p:nvPr/>
        </p:nvSpPr>
        <p:spPr>
          <a:xfrm xmlns:a="http://schemas.openxmlformats.org/drawingml/2006/main">
            <a:off x="1000125" y="4924425"/>
            <a:ext cx="3095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53" b="0">
                <a:solidFill>
                  <a:srgbClr val="3A3838"/>
                </a:solidFill>
              </a:defRPr>
            </a:pPr>
            <a:r>
              <a:rPr sz="953" b="0">
                <a:solidFill>
                  <a:srgbClr val="3A3838"/>
                </a:solidFill>
              </a:rPr>
              <a:t>full density state</a:t>
            </a:r>
          </a:p>
        </p:txBody>
      </p:sp>
      <p:sp>
        <p:nvSpPr>
          <p:cNvPr id="125" name="">
            <a:extLst xmlns:a="http://schemas.openxmlformats.org/drawingml/2006/main">
              <a:ext uri="{FF2B5EF4-FFF2-40B4-BE49-F238E27FC236}">
                <a16:creationId xmlns:a16="http://schemas.microsoft.com/office/drawing/2014/main" id="{0CA6B9E2-DCAF-463A-B613-A678F354C308}"/>
              </a:ext>
            </a:extLst>
          </p:cNvPr>
          <p:cNvSpPr>
            <a:spLocks xmlns:a="http://schemas.openxmlformats.org/drawingml/2006/main" noGrp="1"/>
          </p:cNvSpPr>
          <p:nvPr/>
        </p:nvSpPr>
        <p:spPr>
          <a:xfrm xmlns:a="http://schemas.openxmlformats.org/drawingml/2006/main">
            <a:off x="4238625" y="4924425"/>
            <a:ext cx="114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90" b="1">
                <a:solidFill>
                  <a:srgbClr val="4472C4"/>
                </a:solidFill>
              </a:defRPr>
            </a:pPr>
            <a:r>
              <a:rPr sz="990" b="1">
                <a:solidFill>
                  <a:srgbClr val="4472C4"/>
                </a:solidFill>
              </a:rPr>
              <a:t>4,095</a:t>
            </a:r>
          </a:p>
        </p:txBody>
      </p:sp>
      <p:sp>
        <p:nvSpPr>
          <p:cNvPr id="126" name="">
            <a:extLst xmlns:a="http://schemas.openxmlformats.org/drawingml/2006/main">
              <a:ext uri="{FF2B5EF4-FFF2-40B4-BE49-F238E27FC236}">
                <a16:creationId xmlns:a16="http://schemas.microsoft.com/office/drawing/2014/main" id="{80FFB5CB-4948-424A-84A4-DAA3BFF81A38}"/>
              </a:ext>
            </a:extLst>
          </p:cNvPr>
          <p:cNvSpPr>
            <a:spLocks xmlns:a="http://schemas.openxmlformats.org/drawingml/2006/main" noGrp="1"/>
          </p:cNvSpPr>
          <p:nvPr/>
        </p:nvSpPr>
        <p:spPr>
          <a:xfrm xmlns:a="http://schemas.openxmlformats.org/drawingml/2006/main">
            <a:off x="6286500" y="2952750"/>
            <a:ext cx="4953000" cy="2714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65" b="0">
                <a:solidFill>
                  <a:srgbClr val="3A3838"/>
                </a:solidFill>
              </a:defRPr>
            </a:pPr>
            <a:r>
              <a:rPr sz="1065" b="0">
                <a:solidFill>
                  <a:srgbClr val="3A3838"/>
                </a:solidFill>
              </a:rPr>
              <a:t>Honest interpretation</a:t>
            </a:r>
          </a:p>
          <a:p xmlns:a="http://schemas.openxmlformats.org/drawingml/2006/main">
            <a:r>
              <a:t/>
            </a:r>
          </a:p>
          <a:p xmlns:a="http://schemas.openxmlformats.org/drawingml/2006/main">
            <a:pPr algn="l">
              <a:defRPr sz="1065" b="0">
                <a:solidFill>
                  <a:srgbClr val="3A3838"/>
                </a:solidFill>
              </a:defRPr>
            </a:pPr>
            <a:r>
              <a:rPr sz="1065" b="0">
                <a:solidFill>
                  <a:srgbClr val="3A3838"/>
                </a:solidFill>
              </a:rPr>
              <a:t>• More coordinates are not automatically more useful information.</a:t>
            </a:r>
          </a:p>
          <a:p xmlns:a="http://schemas.openxmlformats.org/drawingml/2006/main">
            <a:r>
              <a:t/>
            </a:r>
          </a:p>
          <a:p xmlns:a="http://schemas.openxmlformats.org/drawingml/2006/main">
            <a:pPr algn="l">
              <a:defRPr sz="1065" b="0">
                <a:solidFill>
                  <a:srgbClr val="3A3838"/>
                </a:solidFill>
              </a:defRPr>
            </a:pPr>
            <a:r>
              <a:rPr sz="1065" b="0">
                <a:solidFill>
                  <a:srgbClr val="3A3838"/>
                </a:solidFill>
              </a:rPr>
              <a:t>• An equally wide classical vector can use the same parameter budget.</a:t>
            </a:r>
          </a:p>
          <a:p xmlns:a="http://schemas.openxmlformats.org/drawingml/2006/main">
            <a:r>
              <a:t/>
            </a:r>
          </a:p>
          <a:p xmlns:a="http://schemas.openxmlformats.org/drawingml/2006/main">
            <a:pPr algn="l">
              <a:defRPr sz="1065" b="0">
                <a:solidFill>
                  <a:srgbClr val="3A3838"/>
                </a:solidFill>
              </a:defRPr>
            </a:pPr>
            <a:r>
              <a:rPr sz="1065" b="0">
                <a:solidFill>
                  <a:srgbClr val="3A3838"/>
                </a:solidFill>
              </a:rPr>
              <a:t>• Off-diagonals matter only if learned dynamics or readouts use them.</a:t>
            </a:r>
          </a:p>
          <a:p xmlns:a="http://schemas.openxmlformats.org/drawingml/2006/main">
            <a:r>
              <a:t/>
            </a:r>
          </a:p>
          <a:p xmlns:a="http://schemas.openxmlformats.org/drawingml/2006/main">
            <a:pPr algn="l">
              <a:defRPr sz="1065" b="0">
                <a:solidFill>
                  <a:srgbClr val="3A3838"/>
                </a:solidFill>
              </a:defRPr>
            </a:pPr>
            <a:r>
              <a:rPr sz="1065" b="0">
                <a:solidFill>
                  <a:srgbClr val="3A3838"/>
                </a:solidFill>
              </a:rPr>
              <a:t>• d=2 has an exact Bloch ball; d&gt;2 is a constrained convex body, not a sphere.</a:t>
            </a:r>
          </a:p>
          <a:p xmlns:a="http://schemas.openxmlformats.org/drawingml/2006/main">
            <a:r>
              <a:t/>
            </a:r>
          </a:p>
          <a:p xmlns:a="http://schemas.openxmlformats.org/drawingml/2006/main">
            <a:pPr algn="l">
              <a:defRPr sz="1065" b="0">
                <a:solidFill>
                  <a:srgbClr val="3A3838"/>
                </a:solidFill>
              </a:defRPr>
            </a:pPr>
            <a:r>
              <a:rPr sz="1065" b="0">
                <a:solidFill>
                  <a:srgbClr val="3A3838"/>
                </a:solidFill>
              </a:rPr>
              <a:t>• Benefit must appear in prediction, calibration, or action quality.</a:t>
            </a:r>
          </a:p>
        </p:txBody>
      </p:sp>
      <p:sp>
        <p:nvSpPr>
          <p:cNvPr id="127" name="">
            <a:extLst xmlns:a="http://schemas.openxmlformats.org/drawingml/2006/main">
              <a:ext uri="{FF2B5EF4-FFF2-40B4-BE49-F238E27FC236}">
                <a16:creationId xmlns:a16="http://schemas.microsoft.com/office/drawing/2014/main" id="{A93FC635-EC05-436D-81AE-8D270709E7A0}"/>
              </a:ext>
            </a:extLst>
          </p:cNvPr>
          <p:cNvSpPr>
            <a:spLocks xmlns:a="http://schemas.openxmlformats.org/drawingml/2006/main" noGrp="1"/>
          </p:cNvSpPr>
          <p:nvPr/>
        </p:nvSpPr>
        <p:spPr>
          <a:xfrm xmlns:a="http://schemas.openxmlformats.org/drawingml/2006/main">
            <a:off x="523875" y="6238875"/>
            <a:ext cx="1109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0">
                <a:solidFill>
                  <a:srgbClr val="767171"/>
                </a:solidFill>
              </a:defRPr>
            </a:pPr>
            <a:r>
              <a:rPr sz="660" b="0">
                <a:solidFill>
                  <a:srgbClr val="767171"/>
                </a:solidFill>
              </a:rPr>
              <a:t>Rank-r complex density-state dimension: 2dr−r²−1. Geometry source: Bengtsson, Weis &amp; Życzkowski, 2011.</a:t>
            </a:r>
          </a:p>
        </p:txBody>
      </p:sp>
    </p:spTree>
    <p:extLst>
      <p:ext uri="{BB962C8B-B14F-4D97-AF65-F5344CB8AC3E}">
        <p14:creationId xmlns:p14="http://schemas.microsoft.com/office/powerpoint/2010/main" val="249787143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25" name="Google Shape;125;p12">
            <a:extLst xmlns:a="http://schemas.openxmlformats.org/drawingml/2006/main">
              <a:ext uri="{FF2B5EF4-FFF2-40B4-BE49-F238E27FC236}">
                <a16:creationId xmlns:a16="http://schemas.microsoft.com/office/drawing/2014/main" id="{3CB1D25F-52DB-46DD-B9B1-E1DACF0EC7F7}"/>
              </a:ext>
            </a:extLst>
          </p:cNvPr>
          <p:cNvSpPr>
            <a:spLocks xmlns:a="http://schemas.openxmlformats.org/drawingml/2006/main" noGrp="1"/>
          </p:cNvSpPr>
          <p:nvPr>
            <p:ph type="title" idx="0"/>
          </p:nvPr>
        </p:nvSpPr>
        <p:spPr>
          <a:xfrm xmlns:a="http://schemas.openxmlformats.org/drawingml/2006/main">
            <a:off x="444532" y="430625"/>
            <a:ext cx="11210544" cy="5577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indent="0" algn="l">
              <a:spcBef>
                <a:spcPts val="0"/>
              </a:spcBef>
              <a:spcAft>
                <a:spcPts val="0"/>
              </a:spcAft>
              <a:buNone/>
              <a:defRPr sz="1988" b="0">
                <a:solidFill>
                  <a:srgbClr val="3A3838"/>
                </a:solidFill>
              </a:defRPr>
            </a:pPr>
            <a:r>
              <a:rPr sz="1988" b="0">
                <a:solidFill>
                  <a:srgbClr val="3A3838"/>
                </a:solidFill>
              </a:rPr>
              <a:t>Approach 2 — Purified Slot Core: Structure the Room into Linked Slots</a:t>
            </a:r>
          </a:p>
        </p:txBody>
      </p:sp>
      <p:sp>
        <p:nvSpPr>
          <p:cNvPr id="126" name="">
            <a:extLst xmlns:a="http://schemas.openxmlformats.org/drawingml/2006/main">
              <a:ext uri="{FF2B5EF4-FFF2-40B4-BE49-F238E27FC236}">
                <a16:creationId xmlns:a16="http://schemas.microsoft.com/office/drawing/2014/main" id="{1852FE13-942D-43DA-898D-D95C5E6B3F0E}"/>
              </a:ext>
            </a:extLst>
          </p:cNvPr>
          <p:cNvSpPr>
            <a:spLocks xmlns:a="http://schemas.openxmlformats.org/drawingml/2006/main" noGrp="1"/>
          </p:cNvSpPr>
          <p:nvPr/>
        </p:nvSpPr>
        <p:spPr>
          <a:xfrm xmlns:a="http://schemas.openxmlformats.org/drawingml/2006/main">
            <a:off x="444532" y="1097280"/>
            <a:ext cx="11210544" cy="17145"/>
          </a:xfrm>
          <a:prstGeom xmlns:a="http://schemas.openxmlformats.org/drawingml/2006/main" prst="rect">
            <a:avLst/>
          </a:prstGeom>
          <a:solidFill xmlns:a="http://schemas.openxmlformats.org/drawingml/2006/main">
            <a:srgbClr val="D24726"/>
          </a:solidFill>
          <a:ln xmlns:a="http://schemas.openxmlformats.org/drawingml/2006/main" w="0">
            <a:solidFill>
              <a:srgbClr val="D24726"/>
            </a:solidFill>
            <a:prstDash val="solid"/>
          </a:ln>
        </p:spPr>
      </p:sp>
      <p:sp>
        <p:nvSpPr>
          <p:cNvPr id="127" name="">
            <a:extLst xmlns:a="http://schemas.openxmlformats.org/drawingml/2006/main">
              <a:ext uri="{FF2B5EF4-FFF2-40B4-BE49-F238E27FC236}">
                <a16:creationId xmlns:a16="http://schemas.microsoft.com/office/drawing/2014/main" id="{7D93D5FE-433A-434D-BC50-8E40D2F3DD3D}"/>
              </a:ext>
            </a:extLst>
          </p:cNvPr>
          <p:cNvSpPr>
            <a:spLocks xmlns:a="http://schemas.openxmlformats.org/drawingml/2006/main" noGrp="1"/>
          </p:cNvSpPr>
          <p:nvPr/>
        </p:nvSpPr>
        <p:spPr>
          <a:xfrm xmlns:a="http://schemas.openxmlformats.org/drawingml/2006/main">
            <a:off x="457200" y="1381125"/>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0">
                <a:solidFill>
                  <a:srgbClr val="3A3838"/>
                </a:solidFill>
              </a:defRPr>
            </a:pPr>
            <a:r>
              <a:rPr sz="1238" b="0">
                <a:solidFill>
                  <a:srgbClr val="3A3838"/>
                </a:solidFill>
              </a:rPr>
              <a:t>Instead of one dense matrix over the whole scene, PSC assigns local states to a fixed set of room/object slots and joins them with tensor-network bonds.</a:t>
            </a:r>
          </a:p>
        </p:txBody>
      </p:sp>
      <p:sp>
        <p:nvSpPr>
          <p:cNvPr id="128" name="">
            <a:extLst xmlns:a="http://schemas.openxmlformats.org/drawingml/2006/main">
              <a:ext uri="{FF2B5EF4-FFF2-40B4-BE49-F238E27FC236}">
                <a16:creationId xmlns:a16="http://schemas.microsoft.com/office/drawing/2014/main" id="{6E56AD0A-778C-4402-AFA8-6D049D0A3B88}"/>
              </a:ext>
            </a:extLst>
          </p:cNvPr>
          <p:cNvSpPr>
            <a:spLocks xmlns:a="http://schemas.openxmlformats.org/drawingml/2006/main" noGrp="1"/>
          </p:cNvSpPr>
          <p:nvPr/>
        </p:nvSpPr>
        <p:spPr>
          <a:xfrm xmlns:a="http://schemas.openxmlformats.org/drawingml/2006/main">
            <a:off x="2514600" y="3028950"/>
            <a:ext cx="647700" cy="0"/>
          </a:xfrm>
          <a:prstGeom xmlns:a="http://schemas.openxmlformats.org/drawingml/2006/main" prst="line">
            <a:avLst/>
          </a:prstGeom>
          <a:noFill xmlns:a="http://schemas.openxmlformats.org/drawingml/2006/main"/>
          <a:ln xmlns:a="http://schemas.openxmlformats.org/drawingml/2006/main" w="23336">
            <a:solidFill>
              <a:srgbClr val="D24726"/>
            </a:solidFill>
            <a:prstDash val="solid"/>
          </a:ln>
        </p:spPr>
      </p:sp>
      <p:sp>
        <p:nvSpPr>
          <p:cNvPr id="129" name="">
            <a:extLst xmlns:a="http://schemas.openxmlformats.org/drawingml/2006/main">
              <a:ext uri="{FF2B5EF4-FFF2-40B4-BE49-F238E27FC236}">
                <a16:creationId xmlns:a16="http://schemas.microsoft.com/office/drawing/2014/main" id="{F31D1337-5353-4F31-B0DE-E6C722A8D3BF}"/>
              </a:ext>
            </a:extLst>
          </p:cNvPr>
          <p:cNvSpPr>
            <a:spLocks xmlns:a="http://schemas.openxmlformats.org/drawingml/2006/main" noGrp="1"/>
          </p:cNvSpPr>
          <p:nvPr/>
        </p:nvSpPr>
        <p:spPr>
          <a:xfrm xmlns:a="http://schemas.openxmlformats.org/drawingml/2006/main">
            <a:off x="2571750" y="2800350"/>
            <a:ext cx="523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13" b="1">
                <a:solidFill>
                  <a:srgbClr val="D24726"/>
                </a:solidFill>
              </a:defRPr>
            </a:pPr>
            <a:r>
              <a:rPr sz="713" b="1">
                <a:solidFill>
                  <a:srgbClr val="D24726"/>
                </a:solidFill>
              </a:rPr>
              <a:t>χ=3</a:t>
            </a:r>
          </a:p>
        </p:txBody>
      </p:sp>
      <p:sp>
        <p:nvSpPr>
          <p:cNvPr id="130" name="">
            <a:extLst xmlns:a="http://schemas.openxmlformats.org/drawingml/2006/main">
              <a:ext uri="{FF2B5EF4-FFF2-40B4-BE49-F238E27FC236}">
                <a16:creationId xmlns:a16="http://schemas.microsoft.com/office/drawing/2014/main" id="{9D86A970-2A70-419A-9BDC-71E213F2B2D9}"/>
              </a:ext>
            </a:extLst>
          </p:cNvPr>
          <p:cNvSpPr>
            <a:spLocks xmlns:a="http://schemas.openxmlformats.org/drawingml/2006/main" noGrp="1"/>
          </p:cNvSpPr>
          <p:nvPr/>
        </p:nvSpPr>
        <p:spPr>
          <a:xfrm xmlns:a="http://schemas.openxmlformats.org/drawingml/2006/main">
            <a:off x="4800600" y="3028950"/>
            <a:ext cx="647700" cy="0"/>
          </a:xfrm>
          <a:prstGeom xmlns:a="http://schemas.openxmlformats.org/drawingml/2006/main" prst="line">
            <a:avLst/>
          </a:prstGeom>
          <a:noFill xmlns:a="http://schemas.openxmlformats.org/drawingml/2006/main"/>
          <a:ln xmlns:a="http://schemas.openxmlformats.org/drawingml/2006/main" w="23336">
            <a:solidFill>
              <a:srgbClr val="D24726"/>
            </a:solidFill>
            <a:prstDash val="solid"/>
          </a:ln>
        </p:spPr>
      </p:sp>
      <p:sp>
        <p:nvSpPr>
          <p:cNvPr id="131" name="">
            <a:extLst xmlns:a="http://schemas.openxmlformats.org/drawingml/2006/main">
              <a:ext uri="{FF2B5EF4-FFF2-40B4-BE49-F238E27FC236}">
                <a16:creationId xmlns:a16="http://schemas.microsoft.com/office/drawing/2014/main" id="{0BC68DFE-B446-4789-8E61-3F47B632CAF1}"/>
              </a:ext>
            </a:extLst>
          </p:cNvPr>
          <p:cNvSpPr>
            <a:spLocks xmlns:a="http://schemas.openxmlformats.org/drawingml/2006/main" noGrp="1"/>
          </p:cNvSpPr>
          <p:nvPr/>
        </p:nvSpPr>
        <p:spPr>
          <a:xfrm xmlns:a="http://schemas.openxmlformats.org/drawingml/2006/main">
            <a:off x="4857750" y="2800350"/>
            <a:ext cx="523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13" b="1">
                <a:solidFill>
                  <a:srgbClr val="D24726"/>
                </a:solidFill>
              </a:defRPr>
            </a:pPr>
            <a:r>
              <a:rPr sz="713" b="1">
                <a:solidFill>
                  <a:srgbClr val="D24726"/>
                </a:solidFill>
              </a:rPr>
              <a:t>χ=3</a:t>
            </a:r>
          </a:p>
        </p:txBody>
      </p:sp>
      <p:sp>
        <p:nvSpPr>
          <p:cNvPr id="132" name="">
            <a:extLst xmlns:a="http://schemas.openxmlformats.org/drawingml/2006/main">
              <a:ext uri="{FF2B5EF4-FFF2-40B4-BE49-F238E27FC236}">
                <a16:creationId xmlns:a16="http://schemas.microsoft.com/office/drawing/2014/main" id="{D11B1344-3B44-4391-AAA4-A50B209D1767}"/>
              </a:ext>
            </a:extLst>
          </p:cNvPr>
          <p:cNvSpPr>
            <a:spLocks xmlns:a="http://schemas.openxmlformats.org/drawingml/2006/main" noGrp="1"/>
          </p:cNvSpPr>
          <p:nvPr/>
        </p:nvSpPr>
        <p:spPr>
          <a:xfrm xmlns:a="http://schemas.openxmlformats.org/drawingml/2006/main">
            <a:off x="7086600" y="3028950"/>
            <a:ext cx="647700" cy="0"/>
          </a:xfrm>
          <a:prstGeom xmlns:a="http://schemas.openxmlformats.org/drawingml/2006/main" prst="line">
            <a:avLst/>
          </a:prstGeom>
          <a:noFill xmlns:a="http://schemas.openxmlformats.org/drawingml/2006/main"/>
          <a:ln xmlns:a="http://schemas.openxmlformats.org/drawingml/2006/main" w="23336">
            <a:solidFill>
              <a:srgbClr val="D24726"/>
            </a:solidFill>
            <a:prstDash val="solid"/>
          </a:ln>
        </p:spPr>
      </p:sp>
      <p:sp>
        <p:nvSpPr>
          <p:cNvPr id="133" name="">
            <a:extLst xmlns:a="http://schemas.openxmlformats.org/drawingml/2006/main">
              <a:ext uri="{FF2B5EF4-FFF2-40B4-BE49-F238E27FC236}">
                <a16:creationId xmlns:a16="http://schemas.microsoft.com/office/drawing/2014/main" id="{19A53460-7BD6-473E-8FFB-07F6898C5CBB}"/>
              </a:ext>
            </a:extLst>
          </p:cNvPr>
          <p:cNvSpPr>
            <a:spLocks xmlns:a="http://schemas.openxmlformats.org/drawingml/2006/main" noGrp="1"/>
          </p:cNvSpPr>
          <p:nvPr/>
        </p:nvSpPr>
        <p:spPr>
          <a:xfrm xmlns:a="http://schemas.openxmlformats.org/drawingml/2006/main">
            <a:off x="7143750" y="2800350"/>
            <a:ext cx="523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13" b="1">
                <a:solidFill>
                  <a:srgbClr val="D24726"/>
                </a:solidFill>
              </a:defRPr>
            </a:pPr>
            <a:r>
              <a:rPr sz="713" b="1">
                <a:solidFill>
                  <a:srgbClr val="D24726"/>
                </a:solidFill>
              </a:rPr>
              <a:t>χ=3</a:t>
            </a:r>
          </a:p>
        </p:txBody>
      </p:sp>
      <p:sp>
        <p:nvSpPr>
          <p:cNvPr id="134" name="">
            <a:extLst xmlns:a="http://schemas.openxmlformats.org/drawingml/2006/main">
              <a:ext uri="{FF2B5EF4-FFF2-40B4-BE49-F238E27FC236}">
                <a16:creationId xmlns:a16="http://schemas.microsoft.com/office/drawing/2014/main" id="{B824DA72-F0DF-4E5C-916F-CB3F5D570DC0}"/>
              </a:ext>
            </a:extLst>
          </p:cNvPr>
          <p:cNvSpPr>
            <a:spLocks xmlns:a="http://schemas.openxmlformats.org/drawingml/2006/main" noGrp="1"/>
          </p:cNvSpPr>
          <p:nvPr/>
        </p:nvSpPr>
        <p:spPr>
          <a:xfrm xmlns:a="http://schemas.openxmlformats.org/drawingml/2006/main">
            <a:off x="876300" y="2571750"/>
            <a:ext cx="1638300" cy="914400"/>
          </a:xfrm>
          <a:prstGeom xmlns:a="http://schemas.openxmlformats.org/drawingml/2006/main" prst="rect">
            <a:avLst/>
          </a:prstGeom>
          <a:solidFill xmlns:a="http://schemas.openxmlformats.org/drawingml/2006/main">
            <a:srgbClr val="DDEBF7"/>
          </a:solidFill>
          <a:ln xmlns:a="http://schemas.openxmlformats.org/drawingml/2006/main" w="11430">
            <a:solidFill>
              <a:srgbClr val="4472C4"/>
            </a:solidFill>
            <a:prstDash val="solid"/>
          </a:ln>
        </p:spPr>
      </p:sp>
      <p:sp>
        <p:nvSpPr>
          <p:cNvPr id="135" name="">
            <a:extLst xmlns:a="http://schemas.openxmlformats.org/drawingml/2006/main">
              <a:ext uri="{FF2B5EF4-FFF2-40B4-BE49-F238E27FC236}">
                <a16:creationId xmlns:a16="http://schemas.microsoft.com/office/drawing/2014/main" id="{E073634F-62DA-4695-9584-5BC50CFFC49E}"/>
              </a:ext>
            </a:extLst>
          </p:cNvPr>
          <p:cNvSpPr>
            <a:spLocks xmlns:a="http://schemas.openxmlformats.org/drawingml/2006/main" noGrp="1"/>
          </p:cNvSpPr>
          <p:nvPr/>
        </p:nvSpPr>
        <p:spPr>
          <a:xfrm xmlns:a="http://schemas.openxmlformats.org/drawingml/2006/main">
            <a:off x="952500" y="2733675"/>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88" b="1">
                <a:solidFill>
                  <a:srgbClr val="4472C4"/>
                </a:solidFill>
              </a:defRPr>
            </a:pPr>
            <a:r>
              <a:rPr sz="1088" b="1">
                <a:solidFill>
                  <a:srgbClr val="4472C4"/>
                </a:solidFill>
              </a:rPr>
              <a:t>room</a:t>
            </a:r>
          </a:p>
        </p:txBody>
      </p:sp>
      <p:sp>
        <p:nvSpPr>
          <p:cNvPr id="136" name="">
            <a:extLst xmlns:a="http://schemas.openxmlformats.org/drawingml/2006/main">
              <a:ext uri="{FF2B5EF4-FFF2-40B4-BE49-F238E27FC236}">
                <a16:creationId xmlns:a16="http://schemas.microsoft.com/office/drawing/2014/main" id="{64FB7660-BC28-4DC4-A0E5-18F9CA05FEBC}"/>
              </a:ext>
            </a:extLst>
          </p:cNvPr>
          <p:cNvSpPr>
            <a:spLocks xmlns:a="http://schemas.openxmlformats.org/drawingml/2006/main" noGrp="1"/>
          </p:cNvSpPr>
          <p:nvPr/>
        </p:nvSpPr>
        <p:spPr>
          <a:xfrm xmlns:a="http://schemas.openxmlformats.org/drawingml/2006/main">
            <a:off x="952500" y="3067050"/>
            <a:ext cx="14859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b="0">
                <a:solidFill>
                  <a:srgbClr val="3A3838"/>
                </a:solidFill>
              </a:defRPr>
            </a:pPr>
            <a:r>
              <a:rPr sz="788" b="0">
                <a:solidFill>
                  <a:srgbClr val="3A3838"/>
                </a:solidFill>
              </a:rPr>
              <a:t>layout + divider</a:t>
            </a:r>
          </a:p>
        </p:txBody>
      </p:sp>
      <p:sp>
        <p:nvSpPr>
          <p:cNvPr id="137" name="">
            <a:extLst xmlns:a="http://schemas.openxmlformats.org/drawingml/2006/main">
              <a:ext uri="{FF2B5EF4-FFF2-40B4-BE49-F238E27FC236}">
                <a16:creationId xmlns:a16="http://schemas.microsoft.com/office/drawing/2014/main" id="{CD9C249A-83C5-467D-823E-11D58FB66E06}"/>
              </a:ext>
            </a:extLst>
          </p:cNvPr>
          <p:cNvSpPr>
            <a:spLocks xmlns:a="http://schemas.openxmlformats.org/drawingml/2006/main" noGrp="1"/>
          </p:cNvSpPr>
          <p:nvPr/>
        </p:nvSpPr>
        <p:spPr>
          <a:xfrm xmlns:a="http://schemas.openxmlformats.org/drawingml/2006/main">
            <a:off x="3162300" y="2571750"/>
            <a:ext cx="1638300" cy="914400"/>
          </a:xfrm>
          <a:prstGeom xmlns:a="http://schemas.openxmlformats.org/drawingml/2006/main" prst="rect">
            <a:avLst/>
          </a:prstGeom>
          <a:solidFill xmlns:a="http://schemas.openxmlformats.org/drawingml/2006/main">
            <a:srgbClr val="E2F0D9"/>
          </a:solidFill>
          <a:ln xmlns:a="http://schemas.openxmlformats.org/drawingml/2006/main" w="11430">
            <a:solidFill>
              <a:srgbClr val="70AD47"/>
            </a:solidFill>
            <a:prstDash val="solid"/>
          </a:ln>
        </p:spPr>
      </p:sp>
      <p:sp>
        <p:nvSpPr>
          <p:cNvPr id="138" name="">
            <a:extLst xmlns:a="http://schemas.openxmlformats.org/drawingml/2006/main">
              <a:ext uri="{FF2B5EF4-FFF2-40B4-BE49-F238E27FC236}">
                <a16:creationId xmlns:a16="http://schemas.microsoft.com/office/drawing/2014/main" id="{EDC6E7E8-6D4D-430B-BECA-F6E29D42FD0C}"/>
              </a:ext>
            </a:extLst>
          </p:cNvPr>
          <p:cNvSpPr>
            <a:spLocks xmlns:a="http://schemas.openxmlformats.org/drawingml/2006/main" noGrp="1"/>
          </p:cNvSpPr>
          <p:nvPr/>
        </p:nvSpPr>
        <p:spPr>
          <a:xfrm xmlns:a="http://schemas.openxmlformats.org/drawingml/2006/main">
            <a:off x="3238500" y="2733675"/>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88" b="1">
                <a:solidFill>
                  <a:srgbClr val="70AD47"/>
                </a:solidFill>
              </a:defRPr>
            </a:pPr>
            <a:r>
              <a:rPr sz="1088" b="1">
                <a:solidFill>
                  <a:srgbClr val="70AD47"/>
                </a:solidFill>
              </a:rPr>
              <a:t>technician</a:t>
            </a:r>
          </a:p>
        </p:txBody>
      </p:sp>
      <p:sp>
        <p:nvSpPr>
          <p:cNvPr id="139" name="">
            <a:extLst xmlns:a="http://schemas.openxmlformats.org/drawingml/2006/main">
              <a:ext uri="{FF2B5EF4-FFF2-40B4-BE49-F238E27FC236}">
                <a16:creationId xmlns:a16="http://schemas.microsoft.com/office/drawing/2014/main" id="{022C7C94-27E7-4401-A73A-312787CABA01}"/>
              </a:ext>
            </a:extLst>
          </p:cNvPr>
          <p:cNvSpPr>
            <a:spLocks xmlns:a="http://schemas.openxmlformats.org/drawingml/2006/main" noGrp="1"/>
          </p:cNvSpPr>
          <p:nvPr/>
        </p:nvSpPr>
        <p:spPr>
          <a:xfrm xmlns:a="http://schemas.openxmlformats.org/drawingml/2006/main">
            <a:off x="3238500" y="3067050"/>
            <a:ext cx="14859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b="0">
                <a:solidFill>
                  <a:srgbClr val="3A3838"/>
                </a:solidFill>
              </a:defRPr>
            </a:pPr>
            <a:r>
              <a:rPr sz="788" b="0">
                <a:solidFill>
                  <a:srgbClr val="3A3838"/>
                </a:solidFill>
              </a:rPr>
              <a:t>pose + intent</a:t>
            </a:r>
          </a:p>
        </p:txBody>
      </p:sp>
      <p:sp>
        <p:nvSpPr>
          <p:cNvPr id="140" name="">
            <a:extLst xmlns:a="http://schemas.openxmlformats.org/drawingml/2006/main">
              <a:ext uri="{FF2B5EF4-FFF2-40B4-BE49-F238E27FC236}">
                <a16:creationId xmlns:a16="http://schemas.microsoft.com/office/drawing/2014/main" id="{29635098-9D65-4CAC-A03E-E6F98658EF75}"/>
              </a:ext>
            </a:extLst>
          </p:cNvPr>
          <p:cNvSpPr>
            <a:spLocks xmlns:a="http://schemas.openxmlformats.org/drawingml/2006/main" noGrp="1"/>
          </p:cNvSpPr>
          <p:nvPr/>
        </p:nvSpPr>
        <p:spPr>
          <a:xfrm xmlns:a="http://schemas.openxmlformats.org/drawingml/2006/main">
            <a:off x="5448300" y="2571750"/>
            <a:ext cx="1638300" cy="914400"/>
          </a:xfrm>
          <a:prstGeom xmlns:a="http://schemas.openxmlformats.org/drawingml/2006/main" prst="rect">
            <a:avLst/>
          </a:prstGeom>
          <a:solidFill xmlns:a="http://schemas.openxmlformats.org/drawingml/2006/main">
            <a:srgbClr val="FCE4D6"/>
          </a:solidFill>
          <a:ln xmlns:a="http://schemas.openxmlformats.org/drawingml/2006/main" w="11430">
            <a:solidFill>
              <a:srgbClr val="ED7D31"/>
            </a:solidFill>
            <a:prstDash val="solid"/>
          </a:ln>
        </p:spPr>
      </p:sp>
      <p:sp>
        <p:nvSpPr>
          <p:cNvPr id="141" name="">
            <a:extLst xmlns:a="http://schemas.openxmlformats.org/drawingml/2006/main">
              <a:ext uri="{FF2B5EF4-FFF2-40B4-BE49-F238E27FC236}">
                <a16:creationId xmlns:a16="http://schemas.microsoft.com/office/drawing/2014/main" id="{3E01047A-CC30-4515-8130-D74023270BB7}"/>
              </a:ext>
            </a:extLst>
          </p:cNvPr>
          <p:cNvSpPr>
            <a:spLocks xmlns:a="http://schemas.openxmlformats.org/drawingml/2006/main" noGrp="1"/>
          </p:cNvSpPr>
          <p:nvPr/>
        </p:nvSpPr>
        <p:spPr>
          <a:xfrm xmlns:a="http://schemas.openxmlformats.org/drawingml/2006/main">
            <a:off x="5524500" y="2733675"/>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88" b="1">
                <a:solidFill>
                  <a:srgbClr val="ED7D31"/>
                </a:solidFill>
              </a:defRPr>
            </a:pPr>
            <a:r>
              <a:rPr sz="1088" b="1">
                <a:solidFill>
                  <a:srgbClr val="ED7D31"/>
                </a:solidFill>
              </a:rPr>
              <a:t>cart</a:t>
            </a:r>
          </a:p>
        </p:txBody>
      </p:sp>
      <p:sp>
        <p:nvSpPr>
          <p:cNvPr id="142" name="">
            <a:extLst xmlns:a="http://schemas.openxmlformats.org/drawingml/2006/main">
              <a:ext uri="{FF2B5EF4-FFF2-40B4-BE49-F238E27FC236}">
                <a16:creationId xmlns:a16="http://schemas.microsoft.com/office/drawing/2014/main" id="{881C5A14-C056-483A-A2C0-112793DD97B8}"/>
              </a:ext>
            </a:extLst>
          </p:cNvPr>
          <p:cNvSpPr>
            <a:spLocks xmlns:a="http://schemas.openxmlformats.org/drawingml/2006/main" noGrp="1"/>
          </p:cNvSpPr>
          <p:nvPr/>
        </p:nvSpPr>
        <p:spPr>
          <a:xfrm xmlns:a="http://schemas.openxmlformats.org/drawingml/2006/main">
            <a:off x="5524500" y="3067050"/>
            <a:ext cx="14859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b="0">
                <a:solidFill>
                  <a:srgbClr val="3A3838"/>
                </a:solidFill>
              </a:defRPr>
            </a:pPr>
            <a:r>
              <a:rPr sz="788" b="0">
                <a:solidFill>
                  <a:srgbClr val="3A3838"/>
                </a:solidFill>
              </a:rPr>
              <a:t>position + velocity</a:t>
            </a:r>
          </a:p>
        </p:txBody>
      </p:sp>
      <p:sp>
        <p:nvSpPr>
          <p:cNvPr id="143" name="">
            <a:extLst xmlns:a="http://schemas.openxmlformats.org/drawingml/2006/main">
              <a:ext uri="{FF2B5EF4-FFF2-40B4-BE49-F238E27FC236}">
                <a16:creationId xmlns:a16="http://schemas.microsoft.com/office/drawing/2014/main" id="{3172718B-D1CB-448C-90FC-536A810BCF24}"/>
              </a:ext>
            </a:extLst>
          </p:cNvPr>
          <p:cNvSpPr>
            <a:spLocks xmlns:a="http://schemas.openxmlformats.org/drawingml/2006/main" noGrp="1"/>
          </p:cNvSpPr>
          <p:nvPr/>
        </p:nvSpPr>
        <p:spPr>
          <a:xfrm xmlns:a="http://schemas.openxmlformats.org/drawingml/2006/main">
            <a:off x="7734300" y="2571750"/>
            <a:ext cx="1638300" cy="914400"/>
          </a:xfrm>
          <a:prstGeom xmlns:a="http://schemas.openxmlformats.org/drawingml/2006/main" prst="rect">
            <a:avLst/>
          </a:prstGeom>
          <a:solidFill xmlns:a="http://schemas.openxmlformats.org/drawingml/2006/main">
            <a:srgbClr val="E4DFEC"/>
          </a:solidFill>
          <a:ln xmlns:a="http://schemas.openxmlformats.org/drawingml/2006/main" w="11430">
            <a:solidFill>
              <a:srgbClr val="8064A2"/>
            </a:solidFill>
            <a:prstDash val="solid"/>
          </a:ln>
        </p:spPr>
      </p:sp>
      <p:sp>
        <p:nvSpPr>
          <p:cNvPr id="144" name="">
            <a:extLst xmlns:a="http://schemas.openxmlformats.org/drawingml/2006/main">
              <a:ext uri="{FF2B5EF4-FFF2-40B4-BE49-F238E27FC236}">
                <a16:creationId xmlns:a16="http://schemas.microsoft.com/office/drawing/2014/main" id="{B8DB3A00-6CEA-4E86-BB50-BA4B7C108973}"/>
              </a:ext>
            </a:extLst>
          </p:cNvPr>
          <p:cNvSpPr>
            <a:spLocks xmlns:a="http://schemas.openxmlformats.org/drawingml/2006/main" noGrp="1"/>
          </p:cNvSpPr>
          <p:nvPr/>
        </p:nvSpPr>
        <p:spPr>
          <a:xfrm xmlns:a="http://schemas.openxmlformats.org/drawingml/2006/main">
            <a:off x="7810500" y="2733675"/>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88" b="1">
                <a:solidFill>
                  <a:srgbClr val="8064A2"/>
                </a:solidFill>
              </a:defRPr>
            </a:pPr>
            <a:r>
              <a:rPr sz="1088" b="1">
                <a:solidFill>
                  <a:srgbClr val="8064A2"/>
                </a:solidFill>
              </a:rPr>
              <a:t>door</a:t>
            </a:r>
          </a:p>
        </p:txBody>
      </p:sp>
      <p:sp>
        <p:nvSpPr>
          <p:cNvPr id="145" name="">
            <a:extLst xmlns:a="http://schemas.openxmlformats.org/drawingml/2006/main">
              <a:ext uri="{FF2B5EF4-FFF2-40B4-BE49-F238E27FC236}">
                <a16:creationId xmlns:a16="http://schemas.microsoft.com/office/drawing/2014/main" id="{0A22CD67-37BD-43D6-A655-CB8687FF22B3}"/>
              </a:ext>
            </a:extLst>
          </p:cNvPr>
          <p:cNvSpPr>
            <a:spLocks xmlns:a="http://schemas.openxmlformats.org/drawingml/2006/main" noGrp="1"/>
          </p:cNvSpPr>
          <p:nvPr/>
        </p:nvSpPr>
        <p:spPr>
          <a:xfrm xmlns:a="http://schemas.openxmlformats.org/drawingml/2006/main">
            <a:off x="7810500" y="3067050"/>
            <a:ext cx="14859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b="0">
                <a:solidFill>
                  <a:srgbClr val="3A3838"/>
                </a:solidFill>
              </a:defRPr>
            </a:pPr>
            <a:r>
              <a:rPr sz="788" b="0">
                <a:solidFill>
                  <a:srgbClr val="3A3838"/>
                </a:solidFill>
              </a:rPr>
              <a:t>open + visibility</a:t>
            </a:r>
          </a:p>
        </p:txBody>
      </p:sp>
      <p:sp>
        <p:nvSpPr>
          <p:cNvPr id="146" name="">
            <a:extLst xmlns:a="http://schemas.openxmlformats.org/drawingml/2006/main">
              <a:ext uri="{FF2B5EF4-FFF2-40B4-BE49-F238E27FC236}">
                <a16:creationId xmlns:a16="http://schemas.microsoft.com/office/drawing/2014/main" id="{ED43771F-CB72-4A85-8B9D-D7DCA621D9B7}"/>
              </a:ext>
            </a:extLst>
          </p:cNvPr>
          <p:cNvSpPr>
            <a:spLocks xmlns:a="http://schemas.openxmlformats.org/drawingml/2006/main" noGrp="1"/>
          </p:cNvSpPr>
          <p:nvPr/>
        </p:nvSpPr>
        <p:spPr>
          <a:xfrm xmlns:a="http://schemas.openxmlformats.org/drawingml/2006/main">
            <a:off x="1428750" y="4000500"/>
            <a:ext cx="9334500" cy="552450"/>
          </a:xfrm>
          <a:prstGeom xmlns:a="http://schemas.openxmlformats.org/drawingml/2006/main" prst="rect">
            <a:avLst/>
          </a:prstGeom>
          <a:solidFill xmlns:a="http://schemas.openxmlformats.org/drawingml/2006/main">
            <a:srgbClr val="FFFFFF"/>
          </a:solidFill>
          <a:ln xmlns:a="http://schemas.openxmlformats.org/drawingml/2006/main" w="7620">
            <a:solidFill>
              <a:srgbClr val="70AD47"/>
            </a:solid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3A3838"/>
                </a:solidFill>
              </a:defRPr>
            </a:pPr>
            <a:r>
              <a:rPr sz="1425" b="0">
                <a:solidFill>
                  <a:srgbClr val="3A3838"/>
                </a:solidFill>
              </a:rPr>
              <a:t>ρ = X X† / Tr(X X†)     X = contraction of local tensors A[1] … A[L]</a:t>
            </a:r>
          </a:p>
        </p:txBody>
      </p:sp>
      <p:sp>
        <p:nvSpPr>
          <p:cNvPr id="147" name="">
            <a:extLst xmlns:a="http://schemas.openxmlformats.org/drawingml/2006/main">
              <a:ext uri="{FF2B5EF4-FFF2-40B4-BE49-F238E27FC236}">
                <a16:creationId xmlns:a16="http://schemas.microsoft.com/office/drawing/2014/main" id="{7917896E-9E4E-4DE5-BCB2-DE6B59397F38}"/>
              </a:ext>
            </a:extLst>
          </p:cNvPr>
          <p:cNvSpPr>
            <a:spLocks xmlns:a="http://schemas.openxmlformats.org/drawingml/2006/main" noGrp="1"/>
          </p:cNvSpPr>
          <p:nvPr/>
        </p:nvSpPr>
        <p:spPr>
          <a:xfrm xmlns:a="http://schemas.openxmlformats.org/drawingml/2006/main">
            <a:off x="1619250" y="4857750"/>
            <a:ext cx="895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88" b="0">
                <a:solidFill>
                  <a:srgbClr val="3A3838"/>
                </a:solidFill>
              </a:defRPr>
            </a:pPr>
            <a:r>
              <a:rPr sz="1088" b="0">
                <a:solidFill>
                  <a:srgbClr val="3A3838"/>
                </a:solidFill>
              </a:rPr>
              <a:t>Purification guarantees ρ ⪰ 0. The bond dimension χ controls the represented correlation family across a chosen cut.</a:t>
            </a:r>
          </a:p>
        </p:txBody>
      </p:sp>
      <p:sp>
        <p:nvSpPr>
          <p:cNvPr id="148" name="">
            <a:extLst xmlns:a="http://schemas.openxmlformats.org/drawingml/2006/main">
              <a:ext uri="{FF2B5EF4-FFF2-40B4-BE49-F238E27FC236}">
                <a16:creationId xmlns:a16="http://schemas.microsoft.com/office/drawing/2014/main" id="{F2910A95-17EE-4992-9849-E2F6C53681F5}"/>
              </a:ext>
            </a:extLst>
          </p:cNvPr>
          <p:cNvSpPr>
            <a:spLocks xmlns:a="http://schemas.openxmlformats.org/drawingml/2006/main" noGrp="1"/>
          </p:cNvSpPr>
          <p:nvPr/>
        </p:nvSpPr>
        <p:spPr>
          <a:xfrm xmlns:a="http://schemas.openxmlformats.org/drawingml/2006/main">
            <a:off x="1381125" y="5553075"/>
            <a:ext cx="942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90" b="1">
                <a:solidFill>
                  <a:srgbClr val="70AD47"/>
                </a:solidFill>
              </a:defRPr>
            </a:pPr>
            <a:r>
              <a:rPr sz="990" b="1">
                <a:solidFill>
                  <a:srgbClr val="70AD47"/>
                </a:solidFill>
              </a:rPr>
              <a:t>χ=1: factorized slots     larger χ: richer cross-slot dependence     finite χ: compressed subset</a:t>
            </a:r>
          </a:p>
        </p:txBody>
      </p:sp>
      <p:sp>
        <p:nvSpPr>
          <p:cNvPr id="149" name="">
            <a:extLst xmlns:a="http://schemas.openxmlformats.org/drawingml/2006/main">
              <a:ext uri="{FF2B5EF4-FFF2-40B4-BE49-F238E27FC236}">
                <a16:creationId xmlns:a16="http://schemas.microsoft.com/office/drawing/2014/main" id="{E9D8701D-4E42-4765-AAEC-11C8B31EB4B7}"/>
              </a:ext>
            </a:extLst>
          </p:cNvPr>
          <p:cNvSpPr>
            <a:spLocks xmlns:a="http://schemas.openxmlformats.org/drawingml/2006/main" noGrp="1"/>
          </p:cNvSpPr>
          <p:nvPr/>
        </p:nvSpPr>
        <p:spPr>
          <a:xfrm xmlns:a="http://schemas.openxmlformats.org/drawingml/2006/main">
            <a:off x="523875" y="6238875"/>
            <a:ext cx="1109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0">
                <a:solidFill>
                  <a:srgbClr val="767171"/>
                </a:solidFill>
              </a:defRPr>
            </a:pPr>
            <a:r>
              <a:rPr sz="660" b="0">
                <a:solidFill>
                  <a:srgbClr val="767171"/>
                </a:solidFill>
              </a:rPr>
              <a:t>[6] Werner et al., PRL 116, 237201 (2016), arXiv:1412.5746.  [7] Schollwöck, Ann. Phys. 326 (2011).</a:t>
            </a:r>
          </a:p>
        </p:txBody>
      </p:sp>
    </p:spTree>
    <p:extLst>
      <p:ext uri="{BB962C8B-B14F-4D97-AF65-F5344CB8AC3E}">
        <p14:creationId xmlns:p14="http://schemas.microsoft.com/office/powerpoint/2010/main" val="54065942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07" name="Google Shape;107;p10">
            <a:extLst xmlns:a="http://schemas.openxmlformats.org/drawingml/2006/main">
              <a:ext uri="{FF2B5EF4-FFF2-40B4-BE49-F238E27FC236}">
                <a16:creationId xmlns:a16="http://schemas.microsoft.com/office/drawing/2014/main" id="{2B62FE48-EF66-E1D8-2B14-FA2720BA85A9}"/>
              </a:ext>
            </a:extLst>
          </p:cNvPr>
          <p:cNvSpPr>
            <a:spLocks xmlns:a="http://schemas.openxmlformats.org/drawingml/2006/main" noGrp="1"/>
          </p:cNvSpPr>
          <p:nvPr>
            <p:ph type="title" idx="0"/>
          </p:nvPr>
        </p:nvSpPr>
        <p:spPr>
          <a:xfrm xmlns:a="http://schemas.openxmlformats.org/drawingml/2006/main">
            <a:off x="444532" y="430625"/>
            <a:ext cx="11210544" cy="5577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indent="0" algn="l">
              <a:spcBef>
                <a:spcPts val="0"/>
              </a:spcBef>
              <a:spcAft>
                <a:spcPts val="0"/>
              </a:spcAft>
              <a:buNone/>
              <a:defRPr sz="2100" b="0">
                <a:solidFill>
                  <a:srgbClr val="3A3838"/>
                </a:solidFill>
              </a:defRPr>
            </a:pPr>
            <a:r>
              <a:rPr sz="2100" b="0">
                <a:solidFill>
                  <a:srgbClr val="3A3838"/>
                </a:solidFill>
              </a:rPr>
              <a:t>Purified Slot Core: How Evidence and Interactions Flow</a:t>
            </a:r>
          </a:p>
        </p:txBody>
      </p:sp>
      <p:sp>
        <p:nvSpPr>
          <p:cNvPr id="108" name="">
            <a:extLst xmlns:a="http://schemas.openxmlformats.org/drawingml/2006/main">
              <a:ext uri="{FF2B5EF4-FFF2-40B4-BE49-F238E27FC236}">
                <a16:creationId xmlns:a16="http://schemas.microsoft.com/office/drawing/2014/main" id="{430989A6-0404-40EE-A1F7-F74F7D4B0E3D}"/>
              </a:ext>
            </a:extLst>
          </p:cNvPr>
          <p:cNvSpPr>
            <a:spLocks xmlns:a="http://schemas.openxmlformats.org/drawingml/2006/main" noGrp="1"/>
          </p:cNvSpPr>
          <p:nvPr/>
        </p:nvSpPr>
        <p:spPr>
          <a:xfrm xmlns:a="http://schemas.openxmlformats.org/drawingml/2006/main">
            <a:off x="444532" y="1097280"/>
            <a:ext cx="11210544" cy="17145"/>
          </a:xfrm>
          <a:prstGeom xmlns:a="http://schemas.openxmlformats.org/drawingml/2006/main" prst="rect">
            <a:avLst/>
          </a:prstGeom>
          <a:solidFill xmlns:a="http://schemas.openxmlformats.org/drawingml/2006/main">
            <a:srgbClr val="D24726"/>
          </a:solidFill>
          <a:ln xmlns:a="http://schemas.openxmlformats.org/drawingml/2006/main" w="0">
            <a:solidFill>
              <a:srgbClr val="D24726"/>
            </a:solidFill>
            <a:prstDash val="solid"/>
          </a:ln>
        </p:spPr>
      </p:sp>
      <p:sp>
        <p:nvSpPr>
          <p:cNvPr id="109" name="">
            <a:extLst xmlns:a="http://schemas.openxmlformats.org/drawingml/2006/main">
              <a:ext uri="{FF2B5EF4-FFF2-40B4-BE49-F238E27FC236}">
                <a16:creationId xmlns:a16="http://schemas.microsoft.com/office/drawing/2014/main" id="{A5D657C0-A800-4968-82A3-9DAD401A83D1}"/>
              </a:ext>
            </a:extLst>
          </p:cNvPr>
          <p:cNvSpPr>
            <a:spLocks xmlns:a="http://schemas.openxmlformats.org/drawingml/2006/main" noGrp="1"/>
          </p:cNvSpPr>
          <p:nvPr/>
        </p:nvSpPr>
        <p:spPr>
          <a:xfrm xmlns:a="http://schemas.openxmlformats.org/drawingml/2006/main">
            <a:off x="457200" y="1381125"/>
            <a:ext cx="11144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0">
                <a:solidFill>
                  <a:srgbClr val="3A3838"/>
                </a:solidFill>
              </a:defRPr>
            </a:pPr>
            <a:r>
              <a:rPr sz="1238" b="0">
                <a:solidFill>
                  <a:srgbClr val="3A3838"/>
                </a:solidFill>
              </a:rPr>
              <a:t>Room example: a microphone update enters the cart slot. Learned local gates and bond messages propagate only the dependencies the model has represented.</a:t>
            </a:r>
          </a:p>
        </p:txBody>
      </p:sp>
      <p:sp>
        <p:nvSpPr>
          <p:cNvPr id="110" name="">
            <a:extLst xmlns:a="http://schemas.openxmlformats.org/drawingml/2006/main">
              <a:ext uri="{FF2B5EF4-FFF2-40B4-BE49-F238E27FC236}">
                <a16:creationId xmlns:a16="http://schemas.microsoft.com/office/drawing/2014/main" id="{0EFF2CEA-3FE9-43FC-A632-05E00808BA32}"/>
              </a:ext>
            </a:extLst>
          </p:cNvPr>
          <p:cNvSpPr>
            <a:spLocks xmlns:a="http://schemas.openxmlformats.org/drawingml/2006/main" noGrp="1"/>
          </p:cNvSpPr>
          <p:nvPr/>
        </p:nvSpPr>
        <p:spPr>
          <a:xfrm xmlns:a="http://schemas.openxmlformats.org/drawingml/2006/main">
            <a:off x="2514600" y="2790825"/>
            <a:ext cx="647700" cy="0"/>
          </a:xfrm>
          <a:prstGeom xmlns:a="http://schemas.openxmlformats.org/drawingml/2006/main" prst="line">
            <a:avLst/>
          </a:prstGeom>
          <a:noFill xmlns:a="http://schemas.openxmlformats.org/drawingml/2006/main"/>
          <a:ln xmlns:a="http://schemas.openxmlformats.org/drawingml/2006/main" w="33814">
            <a:solidFill>
              <a:srgbClr val="D24726"/>
            </a:solidFill>
            <a:prstDash val="solid"/>
          </a:ln>
        </p:spPr>
      </p:sp>
      <p:sp>
        <p:nvSpPr>
          <p:cNvPr id="111" name="">
            <a:extLst xmlns:a="http://schemas.openxmlformats.org/drawingml/2006/main">
              <a:ext uri="{FF2B5EF4-FFF2-40B4-BE49-F238E27FC236}">
                <a16:creationId xmlns:a16="http://schemas.microsoft.com/office/drawing/2014/main" id="{B271F27A-8DE0-4BED-A3FC-588476646A59}"/>
              </a:ext>
            </a:extLst>
          </p:cNvPr>
          <p:cNvSpPr>
            <a:spLocks xmlns:a="http://schemas.openxmlformats.org/drawingml/2006/main" noGrp="1"/>
          </p:cNvSpPr>
          <p:nvPr/>
        </p:nvSpPr>
        <p:spPr>
          <a:xfrm xmlns:a="http://schemas.openxmlformats.org/drawingml/2006/main">
            <a:off x="2571750" y="2562225"/>
            <a:ext cx="523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13" b="1">
                <a:solidFill>
                  <a:srgbClr val="D24726"/>
                </a:solidFill>
              </a:defRPr>
            </a:pPr>
            <a:r>
              <a:rPr sz="713" b="1">
                <a:solidFill>
                  <a:srgbClr val="D24726"/>
                </a:solidFill>
              </a:rPr>
              <a:t>χ=5</a:t>
            </a:r>
          </a:p>
        </p:txBody>
      </p:sp>
      <p:sp>
        <p:nvSpPr>
          <p:cNvPr id="112" name="">
            <a:extLst xmlns:a="http://schemas.openxmlformats.org/drawingml/2006/main">
              <a:ext uri="{FF2B5EF4-FFF2-40B4-BE49-F238E27FC236}">
                <a16:creationId xmlns:a16="http://schemas.microsoft.com/office/drawing/2014/main" id="{84683DBE-BCB5-4E56-8105-884BE352F619}"/>
              </a:ext>
            </a:extLst>
          </p:cNvPr>
          <p:cNvSpPr>
            <a:spLocks xmlns:a="http://schemas.openxmlformats.org/drawingml/2006/main" noGrp="1"/>
          </p:cNvSpPr>
          <p:nvPr/>
        </p:nvSpPr>
        <p:spPr>
          <a:xfrm xmlns:a="http://schemas.openxmlformats.org/drawingml/2006/main">
            <a:off x="4800600" y="2790825"/>
            <a:ext cx="647700" cy="0"/>
          </a:xfrm>
          <a:prstGeom xmlns:a="http://schemas.openxmlformats.org/drawingml/2006/main" prst="line">
            <a:avLst/>
          </a:prstGeom>
          <a:noFill xmlns:a="http://schemas.openxmlformats.org/drawingml/2006/main"/>
          <a:ln xmlns:a="http://schemas.openxmlformats.org/drawingml/2006/main" w="33814">
            <a:solidFill>
              <a:srgbClr val="D24726"/>
            </a:solidFill>
            <a:prstDash val="solid"/>
          </a:ln>
        </p:spPr>
      </p:sp>
      <p:sp>
        <p:nvSpPr>
          <p:cNvPr id="113" name="">
            <a:extLst xmlns:a="http://schemas.openxmlformats.org/drawingml/2006/main">
              <a:ext uri="{FF2B5EF4-FFF2-40B4-BE49-F238E27FC236}">
                <a16:creationId xmlns:a16="http://schemas.microsoft.com/office/drawing/2014/main" id="{3FAD54DC-367D-44B8-9C6A-3702E1C26C5A}"/>
              </a:ext>
            </a:extLst>
          </p:cNvPr>
          <p:cNvSpPr>
            <a:spLocks xmlns:a="http://schemas.openxmlformats.org/drawingml/2006/main" noGrp="1"/>
          </p:cNvSpPr>
          <p:nvPr/>
        </p:nvSpPr>
        <p:spPr>
          <a:xfrm xmlns:a="http://schemas.openxmlformats.org/drawingml/2006/main">
            <a:off x="4857750" y="2562225"/>
            <a:ext cx="523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13" b="1">
                <a:solidFill>
                  <a:srgbClr val="D24726"/>
                </a:solidFill>
              </a:defRPr>
            </a:pPr>
            <a:r>
              <a:rPr sz="713" b="1">
                <a:solidFill>
                  <a:srgbClr val="D24726"/>
                </a:solidFill>
              </a:rPr>
              <a:t>χ=5</a:t>
            </a:r>
          </a:p>
        </p:txBody>
      </p:sp>
      <p:sp>
        <p:nvSpPr>
          <p:cNvPr id="114" name="">
            <a:extLst xmlns:a="http://schemas.openxmlformats.org/drawingml/2006/main">
              <a:ext uri="{FF2B5EF4-FFF2-40B4-BE49-F238E27FC236}">
                <a16:creationId xmlns:a16="http://schemas.microsoft.com/office/drawing/2014/main" id="{E72F43E9-B639-4B89-8EB2-4A187E708D58}"/>
              </a:ext>
            </a:extLst>
          </p:cNvPr>
          <p:cNvSpPr>
            <a:spLocks xmlns:a="http://schemas.openxmlformats.org/drawingml/2006/main" noGrp="1"/>
          </p:cNvSpPr>
          <p:nvPr/>
        </p:nvSpPr>
        <p:spPr>
          <a:xfrm xmlns:a="http://schemas.openxmlformats.org/drawingml/2006/main">
            <a:off x="7086600" y="2790825"/>
            <a:ext cx="647700" cy="0"/>
          </a:xfrm>
          <a:prstGeom xmlns:a="http://schemas.openxmlformats.org/drawingml/2006/main" prst="line">
            <a:avLst/>
          </a:prstGeom>
          <a:noFill xmlns:a="http://schemas.openxmlformats.org/drawingml/2006/main"/>
          <a:ln xmlns:a="http://schemas.openxmlformats.org/drawingml/2006/main" w="33814">
            <a:solidFill>
              <a:srgbClr val="D24726"/>
            </a:solidFill>
            <a:prstDash val="solid"/>
          </a:ln>
        </p:spPr>
      </p:sp>
      <p:sp>
        <p:nvSpPr>
          <p:cNvPr id="115" name="">
            <a:extLst xmlns:a="http://schemas.openxmlformats.org/drawingml/2006/main">
              <a:ext uri="{FF2B5EF4-FFF2-40B4-BE49-F238E27FC236}">
                <a16:creationId xmlns:a16="http://schemas.microsoft.com/office/drawing/2014/main" id="{6D407DA0-D723-46B8-BA41-ECD959C5D448}"/>
              </a:ext>
            </a:extLst>
          </p:cNvPr>
          <p:cNvSpPr>
            <a:spLocks xmlns:a="http://schemas.openxmlformats.org/drawingml/2006/main" noGrp="1"/>
          </p:cNvSpPr>
          <p:nvPr/>
        </p:nvSpPr>
        <p:spPr>
          <a:xfrm xmlns:a="http://schemas.openxmlformats.org/drawingml/2006/main">
            <a:off x="7143750" y="2562225"/>
            <a:ext cx="523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13" b="1">
                <a:solidFill>
                  <a:srgbClr val="D24726"/>
                </a:solidFill>
              </a:defRPr>
            </a:pPr>
            <a:r>
              <a:rPr sz="713" b="1">
                <a:solidFill>
                  <a:srgbClr val="D24726"/>
                </a:solidFill>
              </a:rPr>
              <a:t>χ=5</a:t>
            </a:r>
          </a:p>
        </p:txBody>
      </p:sp>
      <p:sp>
        <p:nvSpPr>
          <p:cNvPr id="116" name="">
            <a:extLst xmlns:a="http://schemas.openxmlformats.org/drawingml/2006/main">
              <a:ext uri="{FF2B5EF4-FFF2-40B4-BE49-F238E27FC236}">
                <a16:creationId xmlns:a16="http://schemas.microsoft.com/office/drawing/2014/main" id="{D505CDC4-A375-4EB8-A80B-4C0C67226DC4}"/>
              </a:ext>
            </a:extLst>
          </p:cNvPr>
          <p:cNvSpPr>
            <a:spLocks xmlns:a="http://schemas.openxmlformats.org/drawingml/2006/main" noGrp="1"/>
          </p:cNvSpPr>
          <p:nvPr/>
        </p:nvSpPr>
        <p:spPr>
          <a:xfrm xmlns:a="http://schemas.openxmlformats.org/drawingml/2006/main">
            <a:off x="876300" y="2333625"/>
            <a:ext cx="1638300" cy="914400"/>
          </a:xfrm>
          <a:prstGeom xmlns:a="http://schemas.openxmlformats.org/drawingml/2006/main" prst="rect">
            <a:avLst/>
          </a:prstGeom>
          <a:solidFill xmlns:a="http://schemas.openxmlformats.org/drawingml/2006/main">
            <a:srgbClr val="DDEBF7"/>
          </a:solidFill>
          <a:ln xmlns:a="http://schemas.openxmlformats.org/drawingml/2006/main" w="11430">
            <a:solidFill>
              <a:srgbClr val="4472C4"/>
            </a:solidFill>
            <a:prstDash val="solid"/>
          </a:ln>
        </p:spPr>
      </p:sp>
      <p:sp>
        <p:nvSpPr>
          <p:cNvPr id="117" name="">
            <a:extLst xmlns:a="http://schemas.openxmlformats.org/drawingml/2006/main">
              <a:ext uri="{FF2B5EF4-FFF2-40B4-BE49-F238E27FC236}">
                <a16:creationId xmlns:a16="http://schemas.microsoft.com/office/drawing/2014/main" id="{418881BF-900C-40EF-A2F9-A86690D49339}"/>
              </a:ext>
            </a:extLst>
          </p:cNvPr>
          <p:cNvSpPr>
            <a:spLocks xmlns:a="http://schemas.openxmlformats.org/drawingml/2006/main" noGrp="1"/>
          </p:cNvSpPr>
          <p:nvPr/>
        </p:nvSpPr>
        <p:spPr>
          <a:xfrm xmlns:a="http://schemas.openxmlformats.org/drawingml/2006/main">
            <a:off x="952500" y="249555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88" b="1">
                <a:solidFill>
                  <a:srgbClr val="4472C4"/>
                </a:solidFill>
              </a:defRPr>
            </a:pPr>
            <a:r>
              <a:rPr sz="1088" b="1">
                <a:solidFill>
                  <a:srgbClr val="4472C4"/>
                </a:solidFill>
              </a:rPr>
              <a:t>room</a:t>
            </a:r>
          </a:p>
        </p:txBody>
      </p:sp>
      <p:sp>
        <p:nvSpPr>
          <p:cNvPr id="118" name="">
            <a:extLst xmlns:a="http://schemas.openxmlformats.org/drawingml/2006/main">
              <a:ext uri="{FF2B5EF4-FFF2-40B4-BE49-F238E27FC236}">
                <a16:creationId xmlns:a16="http://schemas.microsoft.com/office/drawing/2014/main" id="{791D1E6E-0897-4352-93F8-03FC95E05E23}"/>
              </a:ext>
            </a:extLst>
          </p:cNvPr>
          <p:cNvSpPr>
            <a:spLocks xmlns:a="http://schemas.openxmlformats.org/drawingml/2006/main" noGrp="1"/>
          </p:cNvSpPr>
          <p:nvPr/>
        </p:nvSpPr>
        <p:spPr>
          <a:xfrm xmlns:a="http://schemas.openxmlformats.org/drawingml/2006/main">
            <a:off x="952500" y="2828925"/>
            <a:ext cx="14859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b="0">
                <a:solidFill>
                  <a:srgbClr val="3A3838"/>
                </a:solidFill>
              </a:defRPr>
            </a:pPr>
            <a:r>
              <a:rPr sz="788" b="0">
                <a:solidFill>
                  <a:srgbClr val="3A3838"/>
                </a:solidFill>
              </a:rPr>
              <a:t>layout + divider</a:t>
            </a:r>
          </a:p>
        </p:txBody>
      </p:sp>
      <p:sp>
        <p:nvSpPr>
          <p:cNvPr id="119" name="">
            <a:extLst xmlns:a="http://schemas.openxmlformats.org/drawingml/2006/main">
              <a:ext uri="{FF2B5EF4-FFF2-40B4-BE49-F238E27FC236}">
                <a16:creationId xmlns:a16="http://schemas.microsoft.com/office/drawing/2014/main" id="{09F23336-F988-4AAC-B033-4EC6D542918E}"/>
              </a:ext>
            </a:extLst>
          </p:cNvPr>
          <p:cNvSpPr>
            <a:spLocks xmlns:a="http://schemas.openxmlformats.org/drawingml/2006/main" noGrp="1"/>
          </p:cNvSpPr>
          <p:nvPr/>
        </p:nvSpPr>
        <p:spPr>
          <a:xfrm xmlns:a="http://schemas.openxmlformats.org/drawingml/2006/main">
            <a:off x="3162300" y="2333625"/>
            <a:ext cx="1638300" cy="914400"/>
          </a:xfrm>
          <a:prstGeom xmlns:a="http://schemas.openxmlformats.org/drawingml/2006/main" prst="rect">
            <a:avLst/>
          </a:prstGeom>
          <a:solidFill xmlns:a="http://schemas.openxmlformats.org/drawingml/2006/main">
            <a:srgbClr val="E2F0D9"/>
          </a:solidFill>
          <a:ln xmlns:a="http://schemas.openxmlformats.org/drawingml/2006/main" w="11430">
            <a:solidFill>
              <a:srgbClr val="70AD47"/>
            </a:solidFill>
            <a:prstDash val="solid"/>
          </a:ln>
        </p:spPr>
      </p:sp>
      <p:sp>
        <p:nvSpPr>
          <p:cNvPr id="120" name="">
            <a:extLst xmlns:a="http://schemas.openxmlformats.org/drawingml/2006/main">
              <a:ext uri="{FF2B5EF4-FFF2-40B4-BE49-F238E27FC236}">
                <a16:creationId xmlns:a16="http://schemas.microsoft.com/office/drawing/2014/main" id="{C165075D-8A67-4ECC-A193-A8B5A5E59BD7}"/>
              </a:ext>
            </a:extLst>
          </p:cNvPr>
          <p:cNvSpPr>
            <a:spLocks xmlns:a="http://schemas.openxmlformats.org/drawingml/2006/main" noGrp="1"/>
          </p:cNvSpPr>
          <p:nvPr/>
        </p:nvSpPr>
        <p:spPr>
          <a:xfrm xmlns:a="http://schemas.openxmlformats.org/drawingml/2006/main">
            <a:off x="3238500" y="249555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88" b="1">
                <a:solidFill>
                  <a:srgbClr val="70AD47"/>
                </a:solidFill>
              </a:defRPr>
            </a:pPr>
            <a:r>
              <a:rPr sz="1088" b="1">
                <a:solidFill>
                  <a:srgbClr val="70AD47"/>
                </a:solidFill>
              </a:rPr>
              <a:t>technician</a:t>
            </a:r>
          </a:p>
        </p:txBody>
      </p:sp>
      <p:sp>
        <p:nvSpPr>
          <p:cNvPr id="121" name="">
            <a:extLst xmlns:a="http://schemas.openxmlformats.org/drawingml/2006/main">
              <a:ext uri="{FF2B5EF4-FFF2-40B4-BE49-F238E27FC236}">
                <a16:creationId xmlns:a16="http://schemas.microsoft.com/office/drawing/2014/main" id="{31EC8293-1D5E-4686-AB47-D3BADC7EAA22}"/>
              </a:ext>
            </a:extLst>
          </p:cNvPr>
          <p:cNvSpPr>
            <a:spLocks xmlns:a="http://schemas.openxmlformats.org/drawingml/2006/main" noGrp="1"/>
          </p:cNvSpPr>
          <p:nvPr/>
        </p:nvSpPr>
        <p:spPr>
          <a:xfrm xmlns:a="http://schemas.openxmlformats.org/drawingml/2006/main">
            <a:off x="3238500" y="2828925"/>
            <a:ext cx="14859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b="0">
                <a:solidFill>
                  <a:srgbClr val="3A3838"/>
                </a:solidFill>
              </a:defRPr>
            </a:pPr>
            <a:r>
              <a:rPr sz="788" b="0">
                <a:solidFill>
                  <a:srgbClr val="3A3838"/>
                </a:solidFill>
              </a:rPr>
              <a:t>pose + intent</a:t>
            </a:r>
          </a:p>
        </p:txBody>
      </p:sp>
      <p:sp>
        <p:nvSpPr>
          <p:cNvPr id="122" name="">
            <a:extLst xmlns:a="http://schemas.openxmlformats.org/drawingml/2006/main">
              <a:ext uri="{FF2B5EF4-FFF2-40B4-BE49-F238E27FC236}">
                <a16:creationId xmlns:a16="http://schemas.microsoft.com/office/drawing/2014/main" id="{5EC2FBCB-4660-452F-B779-8CC99970CD2C}"/>
              </a:ext>
            </a:extLst>
          </p:cNvPr>
          <p:cNvSpPr>
            <a:spLocks xmlns:a="http://schemas.openxmlformats.org/drawingml/2006/main" noGrp="1"/>
          </p:cNvSpPr>
          <p:nvPr/>
        </p:nvSpPr>
        <p:spPr>
          <a:xfrm xmlns:a="http://schemas.openxmlformats.org/drawingml/2006/main">
            <a:off x="5448300" y="2333625"/>
            <a:ext cx="1638300" cy="914400"/>
          </a:xfrm>
          <a:prstGeom xmlns:a="http://schemas.openxmlformats.org/drawingml/2006/main" prst="rect">
            <a:avLst/>
          </a:prstGeom>
          <a:solidFill xmlns:a="http://schemas.openxmlformats.org/drawingml/2006/main">
            <a:srgbClr val="FCE4D6"/>
          </a:solidFill>
          <a:ln xmlns:a="http://schemas.openxmlformats.org/drawingml/2006/main" w="11430">
            <a:solidFill>
              <a:srgbClr val="ED7D31"/>
            </a:solidFill>
            <a:prstDash val="solid"/>
          </a:ln>
        </p:spPr>
      </p:sp>
      <p:sp>
        <p:nvSpPr>
          <p:cNvPr id="123" name="">
            <a:extLst xmlns:a="http://schemas.openxmlformats.org/drawingml/2006/main">
              <a:ext uri="{FF2B5EF4-FFF2-40B4-BE49-F238E27FC236}">
                <a16:creationId xmlns:a16="http://schemas.microsoft.com/office/drawing/2014/main" id="{DF6D672F-7DDB-4F7F-8276-D071321DE672}"/>
              </a:ext>
            </a:extLst>
          </p:cNvPr>
          <p:cNvSpPr>
            <a:spLocks xmlns:a="http://schemas.openxmlformats.org/drawingml/2006/main" noGrp="1"/>
          </p:cNvSpPr>
          <p:nvPr/>
        </p:nvSpPr>
        <p:spPr>
          <a:xfrm xmlns:a="http://schemas.openxmlformats.org/drawingml/2006/main">
            <a:off x="5524500" y="249555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88" b="1">
                <a:solidFill>
                  <a:srgbClr val="ED7D31"/>
                </a:solidFill>
              </a:defRPr>
            </a:pPr>
            <a:r>
              <a:rPr sz="1088" b="1">
                <a:solidFill>
                  <a:srgbClr val="ED7D31"/>
                </a:solidFill>
              </a:rPr>
              <a:t>cart</a:t>
            </a:r>
          </a:p>
        </p:txBody>
      </p:sp>
      <p:sp>
        <p:nvSpPr>
          <p:cNvPr id="124" name="">
            <a:extLst xmlns:a="http://schemas.openxmlformats.org/drawingml/2006/main">
              <a:ext uri="{FF2B5EF4-FFF2-40B4-BE49-F238E27FC236}">
                <a16:creationId xmlns:a16="http://schemas.microsoft.com/office/drawing/2014/main" id="{CBA4D788-34DA-4201-B699-01858B82E1DC}"/>
              </a:ext>
            </a:extLst>
          </p:cNvPr>
          <p:cNvSpPr>
            <a:spLocks xmlns:a="http://schemas.openxmlformats.org/drawingml/2006/main" noGrp="1"/>
          </p:cNvSpPr>
          <p:nvPr/>
        </p:nvSpPr>
        <p:spPr>
          <a:xfrm xmlns:a="http://schemas.openxmlformats.org/drawingml/2006/main">
            <a:off x="5524500" y="2828925"/>
            <a:ext cx="14859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b="0">
                <a:solidFill>
                  <a:srgbClr val="3A3838"/>
                </a:solidFill>
              </a:defRPr>
            </a:pPr>
            <a:r>
              <a:rPr sz="788" b="0">
                <a:solidFill>
                  <a:srgbClr val="3A3838"/>
                </a:solidFill>
              </a:rPr>
              <a:t>position + velocity</a:t>
            </a:r>
          </a:p>
        </p:txBody>
      </p:sp>
      <p:sp>
        <p:nvSpPr>
          <p:cNvPr id="125" name="">
            <a:extLst xmlns:a="http://schemas.openxmlformats.org/drawingml/2006/main">
              <a:ext uri="{FF2B5EF4-FFF2-40B4-BE49-F238E27FC236}">
                <a16:creationId xmlns:a16="http://schemas.microsoft.com/office/drawing/2014/main" id="{6F348DAB-E263-4FEE-8DFF-6145AE2171CD}"/>
              </a:ext>
            </a:extLst>
          </p:cNvPr>
          <p:cNvSpPr>
            <a:spLocks xmlns:a="http://schemas.openxmlformats.org/drawingml/2006/main" noGrp="1"/>
          </p:cNvSpPr>
          <p:nvPr/>
        </p:nvSpPr>
        <p:spPr>
          <a:xfrm xmlns:a="http://schemas.openxmlformats.org/drawingml/2006/main">
            <a:off x="7734300" y="2333625"/>
            <a:ext cx="1638300" cy="914400"/>
          </a:xfrm>
          <a:prstGeom xmlns:a="http://schemas.openxmlformats.org/drawingml/2006/main" prst="rect">
            <a:avLst/>
          </a:prstGeom>
          <a:solidFill xmlns:a="http://schemas.openxmlformats.org/drawingml/2006/main">
            <a:srgbClr val="E4DFEC"/>
          </a:solidFill>
          <a:ln xmlns:a="http://schemas.openxmlformats.org/drawingml/2006/main" w="11430">
            <a:solidFill>
              <a:srgbClr val="8064A2"/>
            </a:solidFill>
            <a:prstDash val="solid"/>
          </a:ln>
        </p:spPr>
      </p:sp>
      <p:sp>
        <p:nvSpPr>
          <p:cNvPr id="126" name="">
            <a:extLst xmlns:a="http://schemas.openxmlformats.org/drawingml/2006/main">
              <a:ext uri="{FF2B5EF4-FFF2-40B4-BE49-F238E27FC236}">
                <a16:creationId xmlns:a16="http://schemas.microsoft.com/office/drawing/2014/main" id="{F9F8438B-02D5-49E3-919B-8E4148D85DE0}"/>
              </a:ext>
            </a:extLst>
          </p:cNvPr>
          <p:cNvSpPr>
            <a:spLocks xmlns:a="http://schemas.openxmlformats.org/drawingml/2006/main" noGrp="1"/>
          </p:cNvSpPr>
          <p:nvPr/>
        </p:nvSpPr>
        <p:spPr>
          <a:xfrm xmlns:a="http://schemas.openxmlformats.org/drawingml/2006/main">
            <a:off x="7810500" y="249555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88" b="1">
                <a:solidFill>
                  <a:srgbClr val="8064A2"/>
                </a:solidFill>
              </a:defRPr>
            </a:pPr>
            <a:r>
              <a:rPr sz="1088" b="1">
                <a:solidFill>
                  <a:srgbClr val="8064A2"/>
                </a:solidFill>
              </a:rPr>
              <a:t>door</a:t>
            </a:r>
          </a:p>
        </p:txBody>
      </p:sp>
      <p:sp>
        <p:nvSpPr>
          <p:cNvPr id="127" name="">
            <a:extLst xmlns:a="http://schemas.openxmlformats.org/drawingml/2006/main">
              <a:ext uri="{FF2B5EF4-FFF2-40B4-BE49-F238E27FC236}">
                <a16:creationId xmlns:a16="http://schemas.microsoft.com/office/drawing/2014/main" id="{9262A4A2-AADA-45F4-81CA-BC1D6584FC7F}"/>
              </a:ext>
            </a:extLst>
          </p:cNvPr>
          <p:cNvSpPr>
            <a:spLocks xmlns:a="http://schemas.openxmlformats.org/drawingml/2006/main" noGrp="1"/>
          </p:cNvSpPr>
          <p:nvPr/>
        </p:nvSpPr>
        <p:spPr>
          <a:xfrm xmlns:a="http://schemas.openxmlformats.org/drawingml/2006/main">
            <a:off x="7810500" y="2828925"/>
            <a:ext cx="14859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b="0">
                <a:solidFill>
                  <a:srgbClr val="3A3838"/>
                </a:solidFill>
              </a:defRPr>
            </a:pPr>
            <a:r>
              <a:rPr sz="788" b="0">
                <a:solidFill>
                  <a:srgbClr val="3A3838"/>
                </a:solidFill>
              </a:rPr>
              <a:t>open + visibility</a:t>
            </a:r>
          </a:p>
        </p:txBody>
      </p:sp>
      <p:sp>
        <p:nvSpPr>
          <p:cNvPr id="128" name="">
            <a:extLst xmlns:a="http://schemas.openxmlformats.org/drawingml/2006/main">
              <a:ext uri="{FF2B5EF4-FFF2-40B4-BE49-F238E27FC236}">
                <a16:creationId xmlns:a16="http://schemas.microsoft.com/office/drawing/2014/main" id="{41E329AE-7BC8-40DA-ABFA-8EBD62F05025}"/>
              </a:ext>
            </a:extLst>
          </p:cNvPr>
          <p:cNvSpPr>
            <a:spLocks xmlns:a="http://schemas.openxmlformats.org/drawingml/2006/main" noGrp="1"/>
          </p:cNvSpPr>
          <p:nvPr/>
        </p:nvSpPr>
        <p:spPr>
          <a:xfrm xmlns:a="http://schemas.openxmlformats.org/drawingml/2006/main">
            <a:off x="5286375" y="19050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38" b="1">
                <a:solidFill>
                  <a:srgbClr val="D24726"/>
                </a:solidFill>
              </a:defRPr>
            </a:pPr>
            <a:r>
              <a:rPr sz="938" b="1">
                <a:solidFill>
                  <a:srgbClr val="D24726"/>
                </a:solidFill>
              </a:rPr>
              <a:t>audio evidence</a:t>
            </a:r>
          </a:p>
        </p:txBody>
      </p:sp>
      <p:sp>
        <p:nvSpPr>
          <p:cNvPr id="129" name="">
            <a:extLst xmlns:a="http://schemas.openxmlformats.org/drawingml/2006/main">
              <a:ext uri="{FF2B5EF4-FFF2-40B4-BE49-F238E27FC236}">
                <a16:creationId xmlns:a16="http://schemas.microsoft.com/office/drawing/2014/main" id="{E4F9F862-8F44-4F19-8B23-986A7ED1D7BD}"/>
              </a:ext>
            </a:extLst>
          </p:cNvPr>
          <p:cNvSpPr>
            <a:spLocks xmlns:a="http://schemas.openxmlformats.org/drawingml/2006/main" noGrp="1"/>
          </p:cNvSpPr>
          <p:nvPr/>
        </p:nvSpPr>
        <p:spPr>
          <a:xfrm xmlns:a="http://schemas.openxmlformats.org/drawingml/2006/main">
            <a:off x="5857875" y="2095500"/>
            <a:ext cx="333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D24726"/>
                </a:solidFill>
              </a:defRPr>
            </a:pPr>
            <a:r>
              <a:rPr sz="1500" b="1">
                <a:solidFill>
                  <a:srgbClr val="D24726"/>
                </a:solidFill>
              </a:rPr>
              <a:t>↓</a:t>
            </a:r>
          </a:p>
        </p:txBody>
      </p:sp>
      <p:sp>
        <p:nvSpPr>
          <p:cNvPr id="130" name="">
            <a:extLst xmlns:a="http://schemas.openxmlformats.org/drawingml/2006/main">
              <a:ext uri="{FF2B5EF4-FFF2-40B4-BE49-F238E27FC236}">
                <a16:creationId xmlns:a16="http://schemas.microsoft.com/office/drawing/2014/main" id="{F371EA8F-10ED-46E9-BC48-BDB0CB23B94E}"/>
              </a:ext>
            </a:extLst>
          </p:cNvPr>
          <p:cNvSpPr>
            <a:spLocks xmlns:a="http://schemas.openxmlformats.org/drawingml/2006/main" noGrp="1"/>
          </p:cNvSpPr>
          <p:nvPr/>
        </p:nvSpPr>
        <p:spPr>
          <a:xfrm xmlns:a="http://schemas.openxmlformats.org/drawingml/2006/main">
            <a:off x="1619250" y="3952875"/>
            <a:ext cx="1988344" cy="647700"/>
          </a:xfrm>
          <a:prstGeom xmlns:a="http://schemas.openxmlformats.org/drawingml/2006/main" prst="rect">
            <a:avLst/>
          </a:prstGeom>
          <a:solidFill xmlns:a="http://schemas.openxmlformats.org/drawingml/2006/main">
            <a:srgbClr val="FCE4D6"/>
          </a:solidFill>
          <a:ln xmlns:a="http://schemas.openxmlformats.org/drawingml/2006/main" w="9525">
            <a:solidFill>
              <a:srgbClr val="B7B7B7"/>
            </a:solidFill>
            <a:prstDash val="solid"/>
          </a:ln>
        </p:spPr>
      </p:sp>
      <p:sp>
        <p:nvSpPr>
          <p:cNvPr id="131" name="">
            <a:extLst xmlns:a="http://schemas.openxmlformats.org/drawingml/2006/main">
              <a:ext uri="{FF2B5EF4-FFF2-40B4-BE49-F238E27FC236}">
                <a16:creationId xmlns:a16="http://schemas.microsoft.com/office/drawing/2014/main" id="{EC3C0154-8B1A-47A2-8091-E6B998935307}"/>
              </a:ext>
            </a:extLst>
          </p:cNvPr>
          <p:cNvSpPr>
            <a:spLocks xmlns:a="http://schemas.openxmlformats.org/drawingml/2006/main" noGrp="1"/>
          </p:cNvSpPr>
          <p:nvPr/>
        </p:nvSpPr>
        <p:spPr>
          <a:xfrm xmlns:a="http://schemas.openxmlformats.org/drawingml/2006/main">
            <a:off x="1695450" y="4048125"/>
            <a:ext cx="1835944"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3A3838"/>
                </a:solidFill>
              </a:defRPr>
            </a:pPr>
            <a:r>
              <a:rPr sz="1050" b="1">
                <a:solidFill>
                  <a:srgbClr val="3A3838"/>
                </a:solidFill>
              </a:rPr>
              <a:t>local update</a:t>
            </a:r>
          </a:p>
        </p:txBody>
      </p:sp>
      <p:sp>
        <p:nvSpPr>
          <p:cNvPr id="132" name="">
            <a:extLst xmlns:a="http://schemas.openxmlformats.org/drawingml/2006/main">
              <a:ext uri="{FF2B5EF4-FFF2-40B4-BE49-F238E27FC236}">
                <a16:creationId xmlns:a16="http://schemas.microsoft.com/office/drawing/2014/main" id="{479AF962-EC5F-433A-BE35-FF03267E6629}"/>
              </a:ext>
            </a:extLst>
          </p:cNvPr>
          <p:cNvSpPr>
            <a:spLocks xmlns:a="http://schemas.openxmlformats.org/drawingml/2006/main" noGrp="1"/>
          </p:cNvSpPr>
          <p:nvPr/>
        </p:nvSpPr>
        <p:spPr>
          <a:xfrm xmlns:a="http://schemas.openxmlformats.org/drawingml/2006/main">
            <a:off x="1695450" y="4295775"/>
            <a:ext cx="1835944"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b="0">
                <a:solidFill>
                  <a:srgbClr val="767171"/>
                </a:solidFill>
              </a:defRPr>
            </a:pPr>
            <a:r>
              <a:rPr sz="788" b="0">
                <a:solidFill>
                  <a:srgbClr val="767171"/>
                </a:solidFill>
              </a:rPr>
              <a:t>sensor/action gate</a:t>
            </a:r>
          </a:p>
        </p:txBody>
      </p:sp>
      <p:sp>
        <p:nvSpPr>
          <p:cNvPr id="133" name="">
            <a:extLst xmlns:a="http://schemas.openxmlformats.org/drawingml/2006/main">
              <a:ext uri="{FF2B5EF4-FFF2-40B4-BE49-F238E27FC236}">
                <a16:creationId xmlns:a16="http://schemas.microsoft.com/office/drawing/2014/main" id="{9C67598E-E420-4C74-B96B-91AEC9E6BD72}"/>
              </a:ext>
            </a:extLst>
          </p:cNvPr>
          <p:cNvSpPr>
            <a:spLocks xmlns:a="http://schemas.openxmlformats.org/drawingml/2006/main" noGrp="1"/>
          </p:cNvSpPr>
          <p:nvPr/>
        </p:nvSpPr>
        <p:spPr>
          <a:xfrm xmlns:a="http://schemas.openxmlformats.org/drawingml/2006/main">
            <a:off x="3617119" y="4124325"/>
            <a:ext cx="3143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D24726"/>
                </a:solidFill>
              </a:defRPr>
            </a:pPr>
            <a:r>
              <a:rPr sz="1500" b="1">
                <a:solidFill>
                  <a:srgbClr val="D24726"/>
                </a:solidFill>
              </a:rPr>
              <a:t>→</a:t>
            </a:r>
          </a:p>
        </p:txBody>
      </p:sp>
      <p:sp>
        <p:nvSpPr>
          <p:cNvPr id="134" name="">
            <a:extLst xmlns:a="http://schemas.openxmlformats.org/drawingml/2006/main">
              <a:ext uri="{FF2B5EF4-FFF2-40B4-BE49-F238E27FC236}">
                <a16:creationId xmlns:a16="http://schemas.microsoft.com/office/drawing/2014/main" id="{2616E003-C2B9-43C0-B060-CA067A20B851}"/>
              </a:ext>
            </a:extLst>
          </p:cNvPr>
          <p:cNvSpPr>
            <a:spLocks xmlns:a="http://schemas.openxmlformats.org/drawingml/2006/main" noGrp="1"/>
          </p:cNvSpPr>
          <p:nvPr/>
        </p:nvSpPr>
        <p:spPr>
          <a:xfrm xmlns:a="http://schemas.openxmlformats.org/drawingml/2006/main">
            <a:off x="3940969" y="3952875"/>
            <a:ext cx="1988344" cy="647700"/>
          </a:xfrm>
          <a:prstGeom xmlns:a="http://schemas.openxmlformats.org/drawingml/2006/main" prst="rect">
            <a:avLst/>
          </a:prstGeom>
          <a:solidFill xmlns:a="http://schemas.openxmlformats.org/drawingml/2006/main">
            <a:srgbClr val="E2F0D9"/>
          </a:solidFill>
          <a:ln xmlns:a="http://schemas.openxmlformats.org/drawingml/2006/main" w="9525">
            <a:solidFill>
              <a:srgbClr val="B7B7B7"/>
            </a:solidFill>
            <a:prstDash val="solid"/>
          </a:ln>
        </p:spPr>
      </p:sp>
      <p:sp>
        <p:nvSpPr>
          <p:cNvPr id="135" name="">
            <a:extLst xmlns:a="http://schemas.openxmlformats.org/drawingml/2006/main">
              <a:ext uri="{FF2B5EF4-FFF2-40B4-BE49-F238E27FC236}">
                <a16:creationId xmlns:a16="http://schemas.microsoft.com/office/drawing/2014/main" id="{F82362E5-7C10-48EB-96E9-AF45F12A5981}"/>
              </a:ext>
            </a:extLst>
          </p:cNvPr>
          <p:cNvSpPr>
            <a:spLocks xmlns:a="http://schemas.openxmlformats.org/drawingml/2006/main" noGrp="1"/>
          </p:cNvSpPr>
          <p:nvPr/>
        </p:nvSpPr>
        <p:spPr>
          <a:xfrm xmlns:a="http://schemas.openxmlformats.org/drawingml/2006/main">
            <a:off x="4017169" y="4048125"/>
            <a:ext cx="1835944"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3A3838"/>
                </a:solidFill>
              </a:defRPr>
            </a:pPr>
            <a:r>
              <a:rPr sz="1050" b="1">
                <a:solidFill>
                  <a:srgbClr val="3A3838"/>
                </a:solidFill>
              </a:rPr>
              <a:t>bond messages</a:t>
            </a:r>
          </a:p>
        </p:txBody>
      </p:sp>
      <p:sp>
        <p:nvSpPr>
          <p:cNvPr id="136" name="">
            <a:extLst xmlns:a="http://schemas.openxmlformats.org/drawingml/2006/main">
              <a:ext uri="{FF2B5EF4-FFF2-40B4-BE49-F238E27FC236}">
                <a16:creationId xmlns:a16="http://schemas.microsoft.com/office/drawing/2014/main" id="{34DCD4FF-0BB1-454F-8011-5069B52DBE78}"/>
              </a:ext>
            </a:extLst>
          </p:cNvPr>
          <p:cNvSpPr>
            <a:spLocks xmlns:a="http://schemas.openxmlformats.org/drawingml/2006/main" noGrp="1"/>
          </p:cNvSpPr>
          <p:nvPr/>
        </p:nvSpPr>
        <p:spPr>
          <a:xfrm xmlns:a="http://schemas.openxmlformats.org/drawingml/2006/main">
            <a:off x="4017169" y="4295775"/>
            <a:ext cx="1835944"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b="0">
                <a:solidFill>
                  <a:srgbClr val="767171"/>
                </a:solidFill>
              </a:defRPr>
            </a:pPr>
            <a:r>
              <a:rPr sz="788" b="0">
                <a:solidFill>
                  <a:srgbClr val="767171"/>
                </a:solidFill>
              </a:rPr>
              <a:t>linked dependencies</a:t>
            </a:r>
          </a:p>
        </p:txBody>
      </p:sp>
      <p:sp>
        <p:nvSpPr>
          <p:cNvPr id="137" name="">
            <a:extLst xmlns:a="http://schemas.openxmlformats.org/drawingml/2006/main">
              <a:ext uri="{FF2B5EF4-FFF2-40B4-BE49-F238E27FC236}">
                <a16:creationId xmlns:a16="http://schemas.microsoft.com/office/drawing/2014/main" id="{E352FB4D-4CEC-458F-866D-CBADBEBB903F}"/>
              </a:ext>
            </a:extLst>
          </p:cNvPr>
          <p:cNvSpPr>
            <a:spLocks xmlns:a="http://schemas.openxmlformats.org/drawingml/2006/main" noGrp="1"/>
          </p:cNvSpPr>
          <p:nvPr/>
        </p:nvSpPr>
        <p:spPr>
          <a:xfrm xmlns:a="http://schemas.openxmlformats.org/drawingml/2006/main">
            <a:off x="5938838" y="4124325"/>
            <a:ext cx="3143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D24726"/>
                </a:solidFill>
              </a:defRPr>
            </a:pPr>
            <a:r>
              <a:rPr sz="1500" b="1">
                <a:solidFill>
                  <a:srgbClr val="D24726"/>
                </a:solidFill>
              </a:rPr>
              <a:t>→</a:t>
            </a:r>
          </a:p>
        </p:txBody>
      </p:sp>
      <p:sp>
        <p:nvSpPr>
          <p:cNvPr id="138" name="">
            <a:extLst xmlns:a="http://schemas.openxmlformats.org/drawingml/2006/main">
              <a:ext uri="{FF2B5EF4-FFF2-40B4-BE49-F238E27FC236}">
                <a16:creationId xmlns:a16="http://schemas.microsoft.com/office/drawing/2014/main" id="{FCDF9B51-C339-4B85-AADC-4ACFA16CC99F}"/>
              </a:ext>
            </a:extLst>
          </p:cNvPr>
          <p:cNvSpPr>
            <a:spLocks xmlns:a="http://schemas.openxmlformats.org/drawingml/2006/main" noGrp="1"/>
          </p:cNvSpPr>
          <p:nvPr/>
        </p:nvSpPr>
        <p:spPr>
          <a:xfrm xmlns:a="http://schemas.openxmlformats.org/drawingml/2006/main">
            <a:off x="6262688" y="3952875"/>
            <a:ext cx="1988344" cy="647700"/>
          </a:xfrm>
          <a:prstGeom xmlns:a="http://schemas.openxmlformats.org/drawingml/2006/main" prst="rect">
            <a:avLst/>
          </a:prstGeom>
          <a:solidFill xmlns:a="http://schemas.openxmlformats.org/drawingml/2006/main">
            <a:srgbClr val="F2F2F2"/>
          </a:solidFill>
          <a:ln xmlns:a="http://schemas.openxmlformats.org/drawingml/2006/main" w="9525">
            <a:solidFill>
              <a:srgbClr val="B7B7B7"/>
            </a:solidFill>
            <a:prstDash val="solid"/>
          </a:ln>
        </p:spPr>
      </p:sp>
      <p:sp>
        <p:nvSpPr>
          <p:cNvPr id="139" name="">
            <a:extLst xmlns:a="http://schemas.openxmlformats.org/drawingml/2006/main">
              <a:ext uri="{FF2B5EF4-FFF2-40B4-BE49-F238E27FC236}">
                <a16:creationId xmlns:a16="http://schemas.microsoft.com/office/drawing/2014/main" id="{C91E5B68-56B6-4461-91CA-EA8E507D753E}"/>
              </a:ext>
            </a:extLst>
          </p:cNvPr>
          <p:cNvSpPr>
            <a:spLocks xmlns:a="http://schemas.openxmlformats.org/drawingml/2006/main" noGrp="1"/>
          </p:cNvSpPr>
          <p:nvPr/>
        </p:nvSpPr>
        <p:spPr>
          <a:xfrm xmlns:a="http://schemas.openxmlformats.org/drawingml/2006/main">
            <a:off x="6338888" y="4048125"/>
            <a:ext cx="1835944"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3A3838"/>
                </a:solidFill>
              </a:defRPr>
            </a:pPr>
            <a:r>
              <a:rPr sz="1050" b="1">
                <a:solidFill>
                  <a:srgbClr val="3A3838"/>
                </a:solidFill>
              </a:rPr>
              <a:t>truncate to χ</a:t>
            </a:r>
          </a:p>
        </p:txBody>
      </p:sp>
      <p:sp>
        <p:nvSpPr>
          <p:cNvPr id="140" name="">
            <a:extLst xmlns:a="http://schemas.openxmlformats.org/drawingml/2006/main">
              <a:ext uri="{FF2B5EF4-FFF2-40B4-BE49-F238E27FC236}">
                <a16:creationId xmlns:a16="http://schemas.microsoft.com/office/drawing/2014/main" id="{67E9BEF1-03C8-4A0F-8C6C-9CBF82930E8D}"/>
              </a:ext>
            </a:extLst>
          </p:cNvPr>
          <p:cNvSpPr>
            <a:spLocks xmlns:a="http://schemas.openxmlformats.org/drawingml/2006/main" noGrp="1"/>
          </p:cNvSpPr>
          <p:nvPr/>
        </p:nvSpPr>
        <p:spPr>
          <a:xfrm xmlns:a="http://schemas.openxmlformats.org/drawingml/2006/main">
            <a:off x="6338888" y="4295775"/>
            <a:ext cx="1835944"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b="0">
                <a:solidFill>
                  <a:srgbClr val="767171"/>
                </a:solidFill>
              </a:defRPr>
            </a:pPr>
            <a:r>
              <a:rPr sz="788" b="0">
                <a:solidFill>
                  <a:srgbClr val="767171"/>
                </a:solidFill>
              </a:rPr>
              <a:t>control compute</a:t>
            </a:r>
          </a:p>
        </p:txBody>
      </p:sp>
      <p:sp>
        <p:nvSpPr>
          <p:cNvPr id="141" name="">
            <a:extLst xmlns:a="http://schemas.openxmlformats.org/drawingml/2006/main">
              <a:ext uri="{FF2B5EF4-FFF2-40B4-BE49-F238E27FC236}">
                <a16:creationId xmlns:a16="http://schemas.microsoft.com/office/drawing/2014/main" id="{0B3BEE83-D06E-47C3-8411-B88ABAF8B4C6}"/>
              </a:ext>
            </a:extLst>
          </p:cNvPr>
          <p:cNvSpPr>
            <a:spLocks xmlns:a="http://schemas.openxmlformats.org/drawingml/2006/main" noGrp="1"/>
          </p:cNvSpPr>
          <p:nvPr/>
        </p:nvSpPr>
        <p:spPr>
          <a:xfrm xmlns:a="http://schemas.openxmlformats.org/drawingml/2006/main">
            <a:off x="8260556" y="4124325"/>
            <a:ext cx="3143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D24726"/>
                </a:solidFill>
              </a:defRPr>
            </a:pPr>
            <a:r>
              <a:rPr sz="1500" b="1">
                <a:solidFill>
                  <a:srgbClr val="D24726"/>
                </a:solidFill>
              </a:rPr>
              <a:t>→</a:t>
            </a:r>
          </a:p>
        </p:txBody>
      </p:sp>
      <p:sp>
        <p:nvSpPr>
          <p:cNvPr id="142" name="">
            <a:extLst xmlns:a="http://schemas.openxmlformats.org/drawingml/2006/main">
              <a:ext uri="{FF2B5EF4-FFF2-40B4-BE49-F238E27FC236}">
                <a16:creationId xmlns:a16="http://schemas.microsoft.com/office/drawing/2014/main" id="{4D296448-2150-42B1-9153-0E922B9D2995}"/>
              </a:ext>
            </a:extLst>
          </p:cNvPr>
          <p:cNvSpPr>
            <a:spLocks xmlns:a="http://schemas.openxmlformats.org/drawingml/2006/main" noGrp="1"/>
          </p:cNvSpPr>
          <p:nvPr/>
        </p:nvSpPr>
        <p:spPr>
          <a:xfrm xmlns:a="http://schemas.openxmlformats.org/drawingml/2006/main">
            <a:off x="8584406" y="3952875"/>
            <a:ext cx="1988344" cy="647700"/>
          </a:xfrm>
          <a:prstGeom xmlns:a="http://schemas.openxmlformats.org/drawingml/2006/main" prst="rect">
            <a:avLst/>
          </a:prstGeom>
          <a:solidFill xmlns:a="http://schemas.openxmlformats.org/drawingml/2006/main">
            <a:srgbClr val="DDEBF7"/>
          </a:solidFill>
          <a:ln xmlns:a="http://schemas.openxmlformats.org/drawingml/2006/main" w="13335">
            <a:solidFill>
              <a:srgbClr val="D24726"/>
            </a:solidFill>
            <a:prstDash val="solid"/>
          </a:ln>
        </p:spPr>
      </p:sp>
      <p:sp>
        <p:nvSpPr>
          <p:cNvPr id="143" name="">
            <a:extLst xmlns:a="http://schemas.openxmlformats.org/drawingml/2006/main">
              <a:ext uri="{FF2B5EF4-FFF2-40B4-BE49-F238E27FC236}">
                <a16:creationId xmlns:a16="http://schemas.microsoft.com/office/drawing/2014/main" id="{1A9F2F4E-FAAD-4DA6-A3A2-ED69051C7BD6}"/>
              </a:ext>
            </a:extLst>
          </p:cNvPr>
          <p:cNvSpPr>
            <a:spLocks xmlns:a="http://schemas.openxmlformats.org/drawingml/2006/main" noGrp="1"/>
          </p:cNvSpPr>
          <p:nvPr/>
        </p:nvSpPr>
        <p:spPr>
          <a:xfrm xmlns:a="http://schemas.openxmlformats.org/drawingml/2006/main">
            <a:off x="8660606" y="4048125"/>
            <a:ext cx="1835944"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3A3838"/>
                </a:solidFill>
              </a:defRPr>
            </a:pPr>
            <a:r>
              <a:rPr sz="1050" b="1">
                <a:solidFill>
                  <a:srgbClr val="3A3838"/>
                </a:solidFill>
              </a:rPr>
              <a:t>decode room</a:t>
            </a:r>
          </a:p>
        </p:txBody>
      </p:sp>
      <p:sp>
        <p:nvSpPr>
          <p:cNvPr id="144" name="">
            <a:extLst xmlns:a="http://schemas.openxmlformats.org/drawingml/2006/main">
              <a:ext uri="{FF2B5EF4-FFF2-40B4-BE49-F238E27FC236}">
                <a16:creationId xmlns:a16="http://schemas.microsoft.com/office/drawing/2014/main" id="{607607F6-08F1-414E-8772-5F10E34553B4}"/>
              </a:ext>
            </a:extLst>
          </p:cNvPr>
          <p:cNvSpPr>
            <a:spLocks xmlns:a="http://schemas.openxmlformats.org/drawingml/2006/main" noGrp="1"/>
          </p:cNvSpPr>
          <p:nvPr/>
        </p:nvSpPr>
        <p:spPr>
          <a:xfrm xmlns:a="http://schemas.openxmlformats.org/drawingml/2006/main">
            <a:off x="8660606" y="4295775"/>
            <a:ext cx="1835944"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b="0">
                <a:solidFill>
                  <a:srgbClr val="767171"/>
                </a:solidFill>
              </a:defRPr>
            </a:pPr>
            <a:r>
              <a:rPr sz="788" b="0">
                <a:solidFill>
                  <a:srgbClr val="767171"/>
                </a:solidFill>
              </a:rPr>
              <a:t>positions + risk</a:t>
            </a:r>
          </a:p>
        </p:txBody>
      </p:sp>
      <p:sp>
        <p:nvSpPr>
          <p:cNvPr id="145" name="">
            <a:extLst xmlns:a="http://schemas.openxmlformats.org/drawingml/2006/main">
              <a:ext uri="{FF2B5EF4-FFF2-40B4-BE49-F238E27FC236}">
                <a16:creationId xmlns:a16="http://schemas.microsoft.com/office/drawing/2014/main" id="{71F62791-FFE0-45D5-A5B2-D6ACCEB7B3F6}"/>
              </a:ext>
            </a:extLst>
          </p:cNvPr>
          <p:cNvSpPr>
            <a:spLocks xmlns:a="http://schemas.openxmlformats.org/drawingml/2006/main" noGrp="1"/>
          </p:cNvSpPr>
          <p:nvPr/>
        </p:nvSpPr>
        <p:spPr>
          <a:xfrm xmlns:a="http://schemas.openxmlformats.org/drawingml/2006/main">
            <a:off x="1524000" y="5143500"/>
            <a:ext cx="914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13" b="1">
                <a:solidFill>
                  <a:srgbClr val="D24726"/>
                </a:solidFill>
              </a:defRPr>
            </a:pPr>
            <a:r>
              <a:rPr sz="1013" b="1">
                <a:solidFill>
                  <a:srgbClr val="D24726"/>
                </a:solidFill>
              </a:rPr>
              <a:t>The orange bonds are learned statistical dependencies—not forces and not quantum entanglement in a physical room.</a:t>
            </a:r>
          </a:p>
        </p:txBody>
      </p:sp>
      <p:sp>
        <p:nvSpPr>
          <p:cNvPr id="146" name="">
            <a:extLst xmlns:a="http://schemas.openxmlformats.org/drawingml/2006/main">
              <a:ext uri="{FF2B5EF4-FFF2-40B4-BE49-F238E27FC236}">
                <a16:creationId xmlns:a16="http://schemas.microsoft.com/office/drawing/2014/main" id="{D6067C44-013A-4B95-B080-5919B61F3977}"/>
              </a:ext>
            </a:extLst>
          </p:cNvPr>
          <p:cNvSpPr>
            <a:spLocks xmlns:a="http://schemas.openxmlformats.org/drawingml/2006/main" noGrp="1"/>
          </p:cNvSpPr>
          <p:nvPr/>
        </p:nvSpPr>
        <p:spPr>
          <a:xfrm xmlns:a="http://schemas.openxmlformats.org/drawingml/2006/main">
            <a:off x="1285875" y="56197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13" b="0">
                <a:solidFill>
                  <a:srgbClr val="3A3838"/>
                </a:solidFill>
              </a:defRPr>
            </a:pPr>
            <a:r>
              <a:rPr sz="1013" b="0">
                <a:solidFill>
                  <a:srgbClr val="3A3838"/>
                </a:solidFill>
              </a:rPr>
              <a:t>Possible benefit: evidence about the divider or cart updates linked person-motion and collision-risk predictions without storing one unrestricted global matrix.</a:t>
            </a:r>
          </a:p>
        </p:txBody>
      </p:sp>
      <p:sp>
        <p:nvSpPr>
          <p:cNvPr id="147" name="">
            <a:extLst xmlns:a="http://schemas.openxmlformats.org/drawingml/2006/main">
              <a:ext uri="{FF2B5EF4-FFF2-40B4-BE49-F238E27FC236}">
                <a16:creationId xmlns:a16="http://schemas.microsoft.com/office/drawing/2014/main" id="{691C540C-37A9-4C26-97C0-0154DCD770EA}"/>
              </a:ext>
            </a:extLst>
          </p:cNvPr>
          <p:cNvSpPr>
            <a:spLocks xmlns:a="http://schemas.openxmlformats.org/drawingml/2006/main" noGrp="1"/>
          </p:cNvSpPr>
          <p:nvPr/>
        </p:nvSpPr>
        <p:spPr>
          <a:xfrm xmlns:a="http://schemas.openxmlformats.org/drawingml/2006/main">
            <a:off x="523875" y="6238875"/>
            <a:ext cx="1109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0">
                <a:solidFill>
                  <a:srgbClr val="767171"/>
                </a:solidFill>
              </a:defRPr>
            </a:pPr>
            <a:r>
              <a:rPr sz="660" b="0">
                <a:solidFill>
                  <a:srgbClr val="767171"/>
                </a:solidFill>
              </a:rPr>
              <a:t>Proposed neural update; tensor-network grounding from Werner et al. and MPS literature.</a:t>
            </a:r>
          </a:p>
        </p:txBody>
      </p:sp>
    </p:spTree>
    <p:extLst>
      <p:ext uri="{BB962C8B-B14F-4D97-AF65-F5344CB8AC3E}">
        <p14:creationId xmlns:p14="http://schemas.microsoft.com/office/powerpoint/2010/main" val="423765654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62" name="Google Shape;162;p17">
            <a:extLst xmlns:a="http://schemas.openxmlformats.org/drawingml/2006/main">
              <a:ext uri="{FF2B5EF4-FFF2-40B4-BE49-F238E27FC236}">
                <a16:creationId xmlns:a16="http://schemas.microsoft.com/office/drawing/2014/main" id="{FA812FFC-34A3-433C-847B-B921C8607C8A}"/>
              </a:ext>
            </a:extLst>
          </p:cNvPr>
          <p:cNvSpPr>
            <a:spLocks xmlns:a="http://schemas.openxmlformats.org/drawingml/2006/main" noGrp="1"/>
          </p:cNvSpPr>
          <p:nvPr>
            <p:ph type="title" idx="0"/>
          </p:nvPr>
        </p:nvSpPr>
        <p:spPr>
          <a:xfrm xmlns:a="http://schemas.openxmlformats.org/drawingml/2006/main">
            <a:off x="444532" y="430625"/>
            <a:ext cx="11210544" cy="5577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indent="0" algn="l">
              <a:spcBef>
                <a:spcPts val="0"/>
              </a:spcBef>
              <a:spcAft>
                <a:spcPts val="0"/>
              </a:spcAft>
              <a:buNone/>
              <a:defRPr sz="2100" b="0">
                <a:solidFill>
                  <a:srgbClr val="3A3838"/>
                </a:solidFill>
              </a:defRPr>
            </a:pPr>
            <a:r>
              <a:rPr sz="2100" b="0">
                <a:solidFill>
                  <a:srgbClr val="3A3838"/>
                </a:solidFill>
              </a:rPr>
              <a:t>Purified Slot Core: Capacity Knobs, Research Basis, and Limits</a:t>
            </a:r>
          </a:p>
        </p:txBody>
      </p:sp>
      <p:sp>
        <p:nvSpPr>
          <p:cNvPr id="163" name="">
            <a:extLst xmlns:a="http://schemas.openxmlformats.org/drawingml/2006/main">
              <a:ext uri="{FF2B5EF4-FFF2-40B4-BE49-F238E27FC236}">
                <a16:creationId xmlns:a16="http://schemas.microsoft.com/office/drawing/2014/main" id="{4DB8CE92-46A6-4CB4-968B-1DB7C453854E}"/>
              </a:ext>
            </a:extLst>
          </p:cNvPr>
          <p:cNvSpPr>
            <a:spLocks xmlns:a="http://schemas.openxmlformats.org/drawingml/2006/main" noGrp="1"/>
          </p:cNvSpPr>
          <p:nvPr/>
        </p:nvSpPr>
        <p:spPr>
          <a:xfrm xmlns:a="http://schemas.openxmlformats.org/drawingml/2006/main">
            <a:off x="444532" y="1097280"/>
            <a:ext cx="11210544" cy="17145"/>
          </a:xfrm>
          <a:prstGeom xmlns:a="http://schemas.openxmlformats.org/drawingml/2006/main" prst="rect">
            <a:avLst/>
          </a:prstGeom>
          <a:solidFill xmlns:a="http://schemas.openxmlformats.org/drawingml/2006/main">
            <a:srgbClr val="D24726"/>
          </a:solidFill>
          <a:ln xmlns:a="http://schemas.openxmlformats.org/drawingml/2006/main" w="0">
            <a:solidFill>
              <a:srgbClr val="D24726"/>
            </a:solidFill>
            <a:prstDash val="solid"/>
          </a:ln>
        </p:spPr>
      </p:sp>
      <p:sp>
        <p:nvSpPr>
          <p:cNvPr id="164" name="">
            <a:extLst xmlns:a="http://schemas.openxmlformats.org/drawingml/2006/main">
              <a:ext uri="{FF2B5EF4-FFF2-40B4-BE49-F238E27FC236}">
                <a16:creationId xmlns:a16="http://schemas.microsoft.com/office/drawing/2014/main" id="{DA25A2DA-4362-439D-BC23-BD17BCADE6DE}"/>
              </a:ext>
            </a:extLst>
          </p:cNvPr>
          <p:cNvSpPr>
            <a:spLocks xmlns:a="http://schemas.openxmlformats.org/drawingml/2006/main" noGrp="1"/>
          </p:cNvSpPr>
          <p:nvPr/>
        </p:nvSpPr>
        <p:spPr>
          <a:xfrm xmlns:a="http://schemas.openxmlformats.org/drawingml/2006/main">
            <a:off x="571500" y="1428750"/>
            <a:ext cx="11049000" cy="571500"/>
          </a:xfrm>
          <a:prstGeom xmlns:a="http://schemas.openxmlformats.org/drawingml/2006/main" prst="rect">
            <a:avLst/>
          </a:prstGeom>
          <a:solidFill xmlns:a="http://schemas.openxmlformats.org/drawingml/2006/main">
            <a:srgbClr val="FFFFFF"/>
          </a:solidFill>
          <a:ln xmlns:a="http://schemas.openxmlformats.org/drawingml/2006/main" w="7620">
            <a:solidFill>
              <a:srgbClr val="70AD47"/>
            </a:solid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3A3838"/>
                </a:solidFill>
              </a:defRPr>
            </a:pPr>
            <a:r>
              <a:rPr sz="1425" b="0">
                <a:solidFill>
                  <a:srgbClr val="3A3838"/>
                </a:solidFill>
              </a:rPr>
              <a:t>raw open-chain storage ≈ 2dκ [ 2χ + (L−2)χ² ] real scalars before gauge</a:t>
            </a:r>
          </a:p>
        </p:txBody>
      </p:sp>
      <p:sp>
        <p:nvSpPr>
          <p:cNvPr id="165" name="">
            <a:extLst xmlns:a="http://schemas.openxmlformats.org/drawingml/2006/main">
              <a:ext uri="{FF2B5EF4-FFF2-40B4-BE49-F238E27FC236}">
                <a16:creationId xmlns:a16="http://schemas.microsoft.com/office/drawing/2014/main" id="{EE6DADFC-157A-4FEC-AAC3-D04A8893CD88}"/>
              </a:ext>
            </a:extLst>
          </p:cNvPr>
          <p:cNvSpPr>
            <a:spLocks xmlns:a="http://schemas.openxmlformats.org/drawingml/2006/main" noGrp="1"/>
          </p:cNvSpPr>
          <p:nvPr/>
        </p:nvSpPr>
        <p:spPr>
          <a:xfrm xmlns:a="http://schemas.openxmlformats.org/drawingml/2006/main">
            <a:off x="762000" y="2428875"/>
            <a:ext cx="40005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3A3838"/>
                </a:solidFill>
              </a:defRPr>
            </a:pPr>
            <a:r>
              <a:rPr sz="1125" b="0">
                <a:solidFill>
                  <a:srgbClr val="3A3838"/>
                </a:solidFill>
              </a:rPr>
              <a:t>L — number of fixed slots</a:t>
            </a:r>
          </a:p>
          <a:p xmlns:a="http://schemas.openxmlformats.org/drawingml/2006/main">
            <a:r>
              <a:t/>
            </a:r>
          </a:p>
          <a:p xmlns:a="http://schemas.openxmlformats.org/drawingml/2006/main">
            <a:pPr algn="l">
              <a:defRPr sz="1125" b="0">
                <a:solidFill>
                  <a:srgbClr val="3A3838"/>
                </a:solidFill>
              </a:defRPr>
            </a:pPr>
            <a:r>
              <a:rPr sz="1125" b="0">
                <a:solidFill>
                  <a:srgbClr val="3A3838"/>
                </a:solidFill>
              </a:rPr>
              <a:t>d — local slot dimension</a:t>
            </a:r>
          </a:p>
          <a:p xmlns:a="http://schemas.openxmlformats.org/drawingml/2006/main">
            <a:r>
              <a:t/>
            </a:r>
          </a:p>
          <a:p xmlns:a="http://schemas.openxmlformats.org/drawingml/2006/main">
            <a:pPr algn="l">
              <a:defRPr sz="1125" b="0">
                <a:solidFill>
                  <a:srgbClr val="3A3838"/>
                </a:solidFill>
              </a:defRPr>
            </a:pPr>
            <a:r>
              <a:rPr sz="1125" b="0">
                <a:solidFill>
                  <a:srgbClr val="3A3838"/>
                </a:solidFill>
              </a:rPr>
              <a:t>χ — bond dimension (correlation-capacity knob)</a:t>
            </a:r>
          </a:p>
          <a:p xmlns:a="http://schemas.openxmlformats.org/drawingml/2006/main">
            <a:r>
              <a:t/>
            </a:r>
          </a:p>
          <a:p xmlns:a="http://schemas.openxmlformats.org/drawingml/2006/main">
            <a:pPr algn="l">
              <a:defRPr sz="1125" b="0">
                <a:solidFill>
                  <a:srgbClr val="3A3838"/>
                </a:solidFill>
              </a:defRPr>
            </a:pPr>
            <a:r>
              <a:rPr sz="1125" b="0">
                <a:solidFill>
                  <a:srgbClr val="3A3838"/>
                </a:solidFill>
              </a:rPr>
              <a:t>κ — purification/Kraus dimension</a:t>
            </a:r>
          </a:p>
        </p:txBody>
      </p:sp>
      <p:sp>
        <p:nvSpPr>
          <p:cNvPr id="166" name="">
            <a:extLst xmlns:a="http://schemas.openxmlformats.org/drawingml/2006/main">
              <a:ext uri="{FF2B5EF4-FFF2-40B4-BE49-F238E27FC236}">
                <a16:creationId xmlns:a16="http://schemas.microsoft.com/office/drawing/2014/main" id="{F394CA74-256A-466D-9DA5-4654C0C2A625}"/>
              </a:ext>
            </a:extLst>
          </p:cNvPr>
          <p:cNvSpPr>
            <a:spLocks xmlns:a="http://schemas.openxmlformats.org/drawingml/2006/main" noGrp="1"/>
          </p:cNvSpPr>
          <p:nvPr/>
        </p:nvSpPr>
        <p:spPr>
          <a:xfrm xmlns:a="http://schemas.openxmlformats.org/drawingml/2006/main">
            <a:off x="5286375" y="2305050"/>
            <a:ext cx="5762625"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8" b="0">
                <a:solidFill>
                  <a:srgbClr val="3A3838"/>
                </a:solidFill>
              </a:defRPr>
            </a:pPr>
            <a:r>
              <a:rPr sz="1058" b="0">
                <a:solidFill>
                  <a:srgbClr val="3A3838"/>
                </a:solidFill>
              </a:rPr>
              <a:t>What existing research provides</a:t>
            </a:r>
          </a:p>
          <a:p xmlns:a="http://schemas.openxmlformats.org/drawingml/2006/main">
            <a:pPr algn="l">
              <a:defRPr sz="1058" b="0">
                <a:solidFill>
                  <a:srgbClr val="3A3838"/>
                </a:solidFill>
              </a:defRPr>
            </a:pPr>
            <a:r>
              <a:rPr sz="1058" b="0">
                <a:solidFill>
                  <a:srgbClr val="3A3838"/>
                </a:solidFill>
              </a:rPr>
              <a:t>• locally purified networks preserve positivity;</a:t>
            </a:r>
          </a:p>
          <a:p xmlns:a="http://schemas.openxmlformats.org/drawingml/2006/main">
            <a:pPr algn="l">
              <a:defRPr sz="1058" b="0">
                <a:solidFill>
                  <a:srgbClr val="3A3838"/>
                </a:solidFill>
              </a:defRPr>
            </a:pPr>
            <a:r>
              <a:rPr sz="1058" b="0">
                <a:solidFill>
                  <a:srgbClr val="3A3838"/>
                </a:solidFill>
              </a:rPr>
              <a:t>• MPS/MPDO methods provide controlled low-rank structure;</a:t>
            </a:r>
          </a:p>
          <a:p xmlns:a="http://schemas.openxmlformats.org/drawingml/2006/main">
            <a:pPr algn="l">
              <a:defRPr sz="1058" b="0">
                <a:solidFill>
                  <a:srgbClr val="3A3838"/>
                </a:solidFill>
              </a:defRPr>
            </a:pPr>
            <a:r>
              <a:rPr sz="1058" b="0">
                <a:solidFill>
                  <a:srgbClr val="3A3838"/>
                </a:solidFill>
              </a:rPr>
              <a:t>• slot-based world models motivate object-centered dynamics.</a:t>
            </a:r>
          </a:p>
          <a:p xmlns:a="http://schemas.openxmlformats.org/drawingml/2006/main">
            <a:r>
              <a:t/>
            </a:r>
          </a:p>
          <a:p xmlns:a="http://schemas.openxmlformats.org/drawingml/2006/main">
            <a:pPr algn="l">
              <a:defRPr sz="1058" b="0">
                <a:solidFill>
                  <a:srgbClr val="3A3838"/>
                </a:solidFill>
              </a:defRPr>
            </a:pPr>
            <a:r>
              <a:rPr sz="1058" b="0">
                <a:solidFill>
                  <a:srgbClr val="3A3838"/>
                </a:solidFill>
              </a:rPr>
              <a:t>What remains proposed</a:t>
            </a:r>
          </a:p>
          <a:p xmlns:a="http://schemas.openxmlformats.org/drawingml/2006/main">
            <a:pPr algn="l">
              <a:defRPr sz="1058" b="0">
                <a:solidFill>
                  <a:srgbClr val="3A3838"/>
                </a:solidFill>
              </a:defRPr>
            </a:pPr>
            <a:r>
              <a:rPr sz="1058" b="0">
                <a:solidFill>
                  <a:srgbClr val="3A3838"/>
                </a:solidFill>
              </a:rPr>
              <a:t>• slot semantics for rooms;</a:t>
            </a:r>
          </a:p>
          <a:p xmlns:a="http://schemas.openxmlformats.org/drawingml/2006/main">
            <a:pPr algn="l">
              <a:defRPr sz="1058" b="0">
                <a:solidFill>
                  <a:srgbClr val="3A3838"/>
                </a:solidFill>
              </a:defRPr>
            </a:pPr>
            <a:r>
              <a:rPr sz="1058" b="0">
                <a:solidFill>
                  <a:srgbClr val="3A3838"/>
                </a:solidFill>
              </a:rPr>
              <a:t>• learned action/sensor gates;</a:t>
            </a:r>
          </a:p>
          <a:p xmlns:a="http://schemas.openxmlformats.org/drawingml/2006/main">
            <a:pPr algn="l">
              <a:defRPr sz="1058" b="0">
                <a:solidFill>
                  <a:srgbClr val="3A3838"/>
                </a:solidFill>
              </a:defRPr>
            </a:pPr>
            <a:r>
              <a:rPr sz="1058" b="0">
                <a:solidFill>
                  <a:srgbClr val="3A3838"/>
                </a:solidFill>
              </a:rPr>
              <a:t>• planning gains from χ-controlled dependence.</a:t>
            </a:r>
          </a:p>
        </p:txBody>
      </p:sp>
      <p:sp>
        <p:nvSpPr>
          <p:cNvPr id="167" name="">
            <a:extLst xmlns:a="http://schemas.openxmlformats.org/drawingml/2006/main">
              <a:ext uri="{FF2B5EF4-FFF2-40B4-BE49-F238E27FC236}">
                <a16:creationId xmlns:a16="http://schemas.microsoft.com/office/drawing/2014/main" id="{546F2BAE-E259-4CD8-9B34-1BB32F7AB579}"/>
              </a:ext>
            </a:extLst>
          </p:cNvPr>
          <p:cNvSpPr>
            <a:spLocks xmlns:a="http://schemas.openxmlformats.org/drawingml/2006/main" noGrp="1"/>
          </p:cNvSpPr>
          <p:nvPr/>
        </p:nvSpPr>
        <p:spPr>
          <a:xfrm xmlns:a="http://schemas.openxmlformats.org/drawingml/2006/main">
            <a:off x="762000" y="4762500"/>
            <a:ext cx="10287000" cy="1000125"/>
          </a:xfrm>
          <a:prstGeom xmlns:a="http://schemas.openxmlformats.org/drawingml/2006/main" prst="rect">
            <a:avLst/>
          </a:prstGeom>
          <a:solidFill xmlns:a="http://schemas.openxmlformats.org/drawingml/2006/main">
            <a:srgbClr val="F2F2F2"/>
          </a:solidFill>
          <a:ln xmlns:a="http://schemas.openxmlformats.org/drawingml/2006/main" w="7620">
            <a:solidFill>
              <a:srgbClr val="B7B7B7"/>
            </a:solidFill>
            <a:prstDash val="solid"/>
          </a:ln>
        </p:spPr>
      </p:sp>
      <p:sp>
        <p:nvSpPr>
          <p:cNvPr id="168" name="">
            <a:extLst xmlns:a="http://schemas.openxmlformats.org/drawingml/2006/main">
              <a:ext uri="{FF2B5EF4-FFF2-40B4-BE49-F238E27FC236}">
                <a16:creationId xmlns:a16="http://schemas.microsoft.com/office/drawing/2014/main" id="{CBA06271-20BE-4070-BA69-4A0BD201C35F}"/>
              </a:ext>
            </a:extLst>
          </p:cNvPr>
          <p:cNvSpPr>
            <a:spLocks xmlns:a="http://schemas.openxmlformats.org/drawingml/2006/main" noGrp="1"/>
          </p:cNvSpPr>
          <p:nvPr/>
        </p:nvSpPr>
        <p:spPr>
          <a:xfrm xmlns:a="http://schemas.openxmlformats.org/drawingml/2006/main">
            <a:off x="952500" y="49149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D24726"/>
                </a:solidFill>
              </a:defRPr>
            </a:pPr>
            <a:r>
              <a:rPr sz="1125" b="1">
                <a:solidFill>
                  <a:srgbClr val="D24726"/>
                </a:solidFill>
              </a:rPr>
              <a:t>Limits</a:t>
            </a:r>
          </a:p>
        </p:txBody>
      </p:sp>
      <p:sp>
        <p:nvSpPr>
          <p:cNvPr id="169" name="">
            <a:extLst xmlns:a="http://schemas.openxmlformats.org/drawingml/2006/main">
              <a:ext uri="{FF2B5EF4-FFF2-40B4-BE49-F238E27FC236}">
                <a16:creationId xmlns:a16="http://schemas.microsoft.com/office/drawing/2014/main" id="{6A78CF0D-84C7-42C0-AF78-CF9969288D1A}"/>
              </a:ext>
            </a:extLst>
          </p:cNvPr>
          <p:cNvSpPr>
            <a:spLocks xmlns:a="http://schemas.openxmlformats.org/drawingml/2006/main" noGrp="1"/>
          </p:cNvSpPr>
          <p:nvPr/>
        </p:nvSpPr>
        <p:spPr>
          <a:xfrm xmlns:a="http://schemas.openxmlformats.org/drawingml/2006/main">
            <a:off x="2047875" y="4876800"/>
            <a:ext cx="88106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90" b="0">
                <a:solidFill>
                  <a:srgbClr val="3A3838"/>
                </a:solidFill>
              </a:defRPr>
            </a:pPr>
            <a:r>
              <a:rPr sz="990" b="0">
                <a:solidFill>
                  <a:srgbClr val="3A3838"/>
                </a:solidFill>
              </a:rPr>
              <a:t>Fixed L needs an EMPTY state or another mechanism for changing object count. Large χ and κ raise contraction cost; finite χ may discard exactly the dependency needed for planning. For a pure MPS, S_cut ≤ log χ—do not treat this as a universal mixed-state correlation count.</a:t>
            </a:r>
          </a:p>
        </p:txBody>
      </p:sp>
      <p:sp>
        <p:nvSpPr>
          <p:cNvPr id="170" name="">
            <a:extLst xmlns:a="http://schemas.openxmlformats.org/drawingml/2006/main">
              <a:ext uri="{FF2B5EF4-FFF2-40B4-BE49-F238E27FC236}">
                <a16:creationId xmlns:a16="http://schemas.microsoft.com/office/drawing/2014/main" id="{C496DD51-A5AD-4DFD-9E95-AFF406C25593}"/>
              </a:ext>
            </a:extLst>
          </p:cNvPr>
          <p:cNvSpPr>
            <a:spLocks xmlns:a="http://schemas.openxmlformats.org/drawingml/2006/main" noGrp="1"/>
          </p:cNvSpPr>
          <p:nvPr/>
        </p:nvSpPr>
        <p:spPr>
          <a:xfrm xmlns:a="http://schemas.openxmlformats.org/drawingml/2006/main">
            <a:off x="523875" y="6238875"/>
            <a:ext cx="1109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0">
                <a:solidFill>
                  <a:srgbClr val="767171"/>
                </a:solidFill>
              </a:defRPr>
            </a:pPr>
            <a:r>
              <a:rPr sz="660" b="0">
                <a:solidFill>
                  <a:srgbClr val="767171"/>
                </a:solidFill>
              </a:rPr>
              <a:t>[6] Werner et al., 2016.  [7] Schollwöck, 2011.  [8] SlotFormer, NeurIPS 2022 (object-centric comparator).</a:t>
            </a:r>
          </a:p>
        </p:txBody>
      </p:sp>
    </p:spTree>
    <p:extLst>
      <p:ext uri="{BB962C8B-B14F-4D97-AF65-F5344CB8AC3E}">
        <p14:creationId xmlns:p14="http://schemas.microsoft.com/office/powerpoint/2010/main" val="111428359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54" name="Google Shape;154;p16">
            <a:extLst xmlns:a="http://schemas.openxmlformats.org/drawingml/2006/main">
              <a:ext uri="{FF2B5EF4-FFF2-40B4-BE49-F238E27FC236}">
                <a16:creationId xmlns:a16="http://schemas.microsoft.com/office/drawing/2014/main" id="{F89EE63A-4C96-4CED-BEF8-E39AF54E01CD}"/>
              </a:ext>
            </a:extLst>
          </p:cNvPr>
          <p:cNvSpPr>
            <a:spLocks xmlns:a="http://schemas.openxmlformats.org/drawingml/2006/main" noGrp="1"/>
          </p:cNvSpPr>
          <p:nvPr>
            <p:ph type="title" idx="0"/>
          </p:nvPr>
        </p:nvSpPr>
        <p:spPr>
          <a:xfrm xmlns:a="http://schemas.openxmlformats.org/drawingml/2006/main">
            <a:off x="444532" y="430625"/>
            <a:ext cx="11210544" cy="5577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indent="0" algn="l">
              <a:spcBef>
                <a:spcPts val="0"/>
              </a:spcBef>
              <a:spcAft>
                <a:spcPts val="0"/>
              </a:spcAft>
              <a:buNone/>
              <a:defRPr sz="1988" b="0">
                <a:solidFill>
                  <a:srgbClr val="3A3838"/>
                </a:solidFill>
              </a:defRPr>
            </a:pPr>
            <a:r>
              <a:rPr sz="1988" b="0">
                <a:solidFill>
                  <a:srgbClr val="3A3838"/>
                </a:solidFill>
              </a:rPr>
              <a:t>Approach 3 — Trajectory Ensemble Core: Keep Complete Futures Explicit</a:t>
            </a:r>
          </a:p>
        </p:txBody>
      </p:sp>
      <p:sp>
        <p:nvSpPr>
          <p:cNvPr id="155" name="">
            <a:extLst xmlns:a="http://schemas.openxmlformats.org/drawingml/2006/main">
              <a:ext uri="{FF2B5EF4-FFF2-40B4-BE49-F238E27FC236}">
                <a16:creationId xmlns:a16="http://schemas.microsoft.com/office/drawing/2014/main" id="{7B7C7EB4-7FCF-476C-9E4B-97D197716A9A}"/>
              </a:ext>
            </a:extLst>
          </p:cNvPr>
          <p:cNvSpPr>
            <a:spLocks xmlns:a="http://schemas.openxmlformats.org/drawingml/2006/main" noGrp="1"/>
          </p:cNvSpPr>
          <p:nvPr/>
        </p:nvSpPr>
        <p:spPr>
          <a:xfrm xmlns:a="http://schemas.openxmlformats.org/drawingml/2006/main">
            <a:off x="444532" y="1097280"/>
            <a:ext cx="11210544" cy="17145"/>
          </a:xfrm>
          <a:prstGeom xmlns:a="http://schemas.openxmlformats.org/drawingml/2006/main" prst="rect">
            <a:avLst/>
          </a:prstGeom>
          <a:solidFill xmlns:a="http://schemas.openxmlformats.org/drawingml/2006/main">
            <a:srgbClr val="D24726"/>
          </a:solidFill>
          <a:ln xmlns:a="http://schemas.openxmlformats.org/drawingml/2006/main" w="0">
            <a:solidFill>
              <a:srgbClr val="D24726"/>
            </a:solidFill>
            <a:prstDash val="solid"/>
          </a:ln>
        </p:spPr>
      </p:sp>
      <p:sp>
        <p:nvSpPr>
          <p:cNvPr id="156" name="">
            <a:extLst xmlns:a="http://schemas.openxmlformats.org/drawingml/2006/main">
              <a:ext uri="{FF2B5EF4-FFF2-40B4-BE49-F238E27FC236}">
                <a16:creationId xmlns:a16="http://schemas.microsoft.com/office/drawing/2014/main" id="{90FE1FB0-94C1-4BE2-BF68-C7265506D0CF}"/>
              </a:ext>
            </a:extLst>
          </p:cNvPr>
          <p:cNvSpPr>
            <a:spLocks xmlns:a="http://schemas.openxmlformats.org/drawingml/2006/main" noGrp="1"/>
          </p:cNvSpPr>
          <p:nvPr/>
        </p:nvSpPr>
        <p:spPr>
          <a:xfrm xmlns:a="http://schemas.openxmlformats.org/drawingml/2006/main">
            <a:off x="457200" y="1381125"/>
            <a:ext cx="11144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0">
                <a:solidFill>
                  <a:srgbClr val="3A3838"/>
                </a:solidFill>
              </a:defRPr>
            </a:pPr>
            <a:r>
              <a:rPr sz="1238" b="0">
                <a:solidFill>
                  <a:srgbClr val="3A3838"/>
                </a:solidFill>
              </a:rPr>
              <a:t>TEC retains several weighted pure-state branches. Each branch is decoded as one internally consistent future of the entire room.</a:t>
            </a:r>
          </a:p>
        </p:txBody>
      </p:sp>
      <p:sp>
        <p:nvSpPr>
          <p:cNvPr id="157" name="">
            <a:extLst xmlns:a="http://schemas.openxmlformats.org/drawingml/2006/main">
              <a:ext uri="{FF2B5EF4-FFF2-40B4-BE49-F238E27FC236}">
                <a16:creationId xmlns:a16="http://schemas.microsoft.com/office/drawing/2014/main" id="{B9218075-F80E-4579-94A1-E4E192843BD0}"/>
              </a:ext>
            </a:extLst>
          </p:cNvPr>
          <p:cNvSpPr>
            <a:spLocks xmlns:a="http://schemas.openxmlformats.org/drawingml/2006/main" noGrp="1"/>
          </p:cNvSpPr>
          <p:nvPr/>
        </p:nvSpPr>
        <p:spPr>
          <a:xfrm xmlns:a="http://schemas.openxmlformats.org/drawingml/2006/main">
            <a:off x="809625" y="2047875"/>
            <a:ext cx="10572750" cy="571500"/>
          </a:xfrm>
          <a:prstGeom xmlns:a="http://schemas.openxmlformats.org/drawingml/2006/main" prst="rect">
            <a:avLst/>
          </a:prstGeom>
          <a:solidFill xmlns:a="http://schemas.openxmlformats.org/drawingml/2006/main">
            <a:srgbClr val="FFFFFF"/>
          </a:solidFill>
          <a:ln xmlns:a="http://schemas.openxmlformats.org/drawingml/2006/main" w="7620">
            <a:solidFill>
              <a:srgbClr val="8064A2"/>
            </a:solid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3A3838"/>
                </a:solidFill>
              </a:defRPr>
            </a:pPr>
            <a:r>
              <a:rPr sz="1425" b="0">
                <a:solidFill>
                  <a:srgbClr val="3A3838"/>
                </a:solidFill>
              </a:rPr>
              <a:t>μₜ = Σₘ wₘ δ_[ψₘ]     ||ψₘ||=1     Σₘwₘ=1     ρₜ = Σₘwₘ |ψₘ⟩⟨ψₘ|</a:t>
            </a:r>
          </a:p>
        </p:txBody>
      </p:sp>
      <p:sp>
        <p:nvSpPr>
          <p:cNvPr id="158" name="">
            <a:extLst xmlns:a="http://schemas.openxmlformats.org/drawingml/2006/main">
              <a:ext uri="{FF2B5EF4-FFF2-40B4-BE49-F238E27FC236}">
                <a16:creationId xmlns:a16="http://schemas.microsoft.com/office/drawing/2014/main" id="{4B1AD246-BF5B-462D-99B7-66B269F43036}"/>
              </a:ext>
            </a:extLst>
          </p:cNvPr>
          <p:cNvSpPr>
            <a:spLocks xmlns:a="http://schemas.openxmlformats.org/drawingml/2006/main" noGrp="1"/>
          </p:cNvSpPr>
          <p:nvPr/>
        </p:nvSpPr>
        <p:spPr>
          <a:xfrm xmlns:a="http://schemas.openxmlformats.org/drawingml/2006/main">
            <a:off x="714375" y="3190875"/>
            <a:ext cx="3143250" cy="2190750"/>
          </a:xfrm>
          <a:prstGeom xmlns:a="http://schemas.openxmlformats.org/drawingml/2006/main" prst="rect">
            <a:avLst/>
          </a:prstGeom>
          <a:solidFill xmlns:a="http://schemas.openxmlformats.org/drawingml/2006/main">
            <a:srgbClr val="FFFFFF"/>
          </a:solidFill>
          <a:ln xmlns:a="http://schemas.openxmlformats.org/drawingml/2006/main" w="10478">
            <a:solidFill>
              <a:srgbClr val="3A3838"/>
            </a:solidFill>
            <a:prstDash val="solid"/>
          </a:ln>
        </p:spPr>
      </p:sp>
      <p:sp>
        <p:nvSpPr>
          <p:cNvPr id="159" name="">
            <a:extLst xmlns:a="http://schemas.openxmlformats.org/drawingml/2006/main">
              <a:ext uri="{FF2B5EF4-FFF2-40B4-BE49-F238E27FC236}">
                <a16:creationId xmlns:a16="http://schemas.microsoft.com/office/drawing/2014/main" id="{20D4C754-D784-4593-8D40-1E883D50A6E7}"/>
              </a:ext>
            </a:extLst>
          </p:cNvPr>
          <p:cNvSpPr>
            <a:spLocks xmlns:a="http://schemas.openxmlformats.org/drawingml/2006/main" noGrp="1"/>
          </p:cNvSpPr>
          <p:nvPr/>
        </p:nvSpPr>
        <p:spPr>
          <a:xfrm xmlns:a="http://schemas.openxmlformats.org/drawingml/2006/main">
            <a:off x="1028700" y="3585210"/>
            <a:ext cx="2263140" cy="0"/>
          </a:xfrm>
          <a:prstGeom xmlns:a="http://schemas.openxmlformats.org/drawingml/2006/main" prst="line">
            <a:avLst/>
          </a:prstGeom>
          <a:noFill xmlns:a="http://schemas.openxmlformats.org/drawingml/2006/main"/>
          <a:ln xmlns:a="http://schemas.openxmlformats.org/drawingml/2006/main" w="9525">
            <a:solidFill>
              <a:srgbClr val="B7B7B7"/>
            </a:solidFill>
            <a:prstDash val="solid"/>
          </a:ln>
        </p:spPr>
      </p:sp>
      <p:sp>
        <p:nvSpPr>
          <p:cNvPr id="160" name="">
            <a:extLst xmlns:a="http://schemas.openxmlformats.org/drawingml/2006/main">
              <a:ext uri="{FF2B5EF4-FFF2-40B4-BE49-F238E27FC236}">
                <a16:creationId xmlns:a16="http://schemas.microsoft.com/office/drawing/2014/main" id="{7BB20802-9399-4121-A9EF-49E8C36028D8}"/>
              </a:ext>
            </a:extLst>
          </p:cNvPr>
          <p:cNvSpPr>
            <a:spLocks xmlns:a="http://schemas.openxmlformats.org/drawingml/2006/main" noGrp="1"/>
          </p:cNvSpPr>
          <p:nvPr/>
        </p:nvSpPr>
        <p:spPr>
          <a:xfrm xmlns:a="http://schemas.openxmlformats.org/drawingml/2006/main">
            <a:off x="3103245" y="3234690"/>
            <a:ext cx="440055" cy="372428"/>
          </a:xfrm>
          <a:prstGeom xmlns:a="http://schemas.openxmlformats.org/drawingml/2006/main" prst="rect">
            <a:avLst/>
          </a:prstGeom>
          <a:solidFill xmlns:a="http://schemas.openxmlformats.org/drawingml/2006/main">
            <a:srgbClr val="DDEBF7"/>
          </a:solidFill>
          <a:ln xmlns:a="http://schemas.openxmlformats.org/drawingml/2006/main" w="7620">
            <a:solidFill>
              <a:srgbClr val="4472C4"/>
            </a:solidFill>
            <a:prstDash val="solid"/>
          </a:ln>
        </p:spPr>
      </p:sp>
      <p:sp>
        <p:nvSpPr>
          <p:cNvPr id="161" name="">
            <a:extLst xmlns:a="http://schemas.openxmlformats.org/drawingml/2006/main">
              <a:ext uri="{FF2B5EF4-FFF2-40B4-BE49-F238E27FC236}">
                <a16:creationId xmlns:a16="http://schemas.microsoft.com/office/drawing/2014/main" id="{825F08D1-37F7-4709-AD4A-8AAD1E3984BD}"/>
              </a:ext>
            </a:extLst>
          </p:cNvPr>
          <p:cNvSpPr>
            <a:spLocks xmlns:a="http://schemas.openxmlformats.org/drawingml/2006/main" noGrp="1"/>
          </p:cNvSpPr>
          <p:nvPr/>
        </p:nvSpPr>
        <p:spPr>
          <a:xfrm xmlns:a="http://schemas.openxmlformats.org/drawingml/2006/main">
            <a:off x="2065973" y="3804285"/>
            <a:ext cx="220028" cy="1095375"/>
          </a:xfrm>
          <a:prstGeom xmlns:a="http://schemas.openxmlformats.org/drawingml/2006/main" prst="rect">
            <a:avLst/>
          </a:prstGeom>
          <a:solidFill xmlns:a="http://schemas.openxmlformats.org/drawingml/2006/main">
            <a:srgbClr val="D9D9D9"/>
          </a:solidFill>
          <a:ln xmlns:a="http://schemas.openxmlformats.org/drawingml/2006/main" w="7620">
            <a:solidFill>
              <a:srgbClr val="767171"/>
            </a:solidFill>
            <a:prstDash val="solid"/>
          </a:ln>
        </p:spPr>
      </p:sp>
      <p:sp>
        <p:nvSpPr>
          <p:cNvPr id="162" name="">
            <a:extLst xmlns:a="http://schemas.openxmlformats.org/drawingml/2006/main">
              <a:ext uri="{FF2B5EF4-FFF2-40B4-BE49-F238E27FC236}">
                <a16:creationId xmlns:a16="http://schemas.microsoft.com/office/drawing/2014/main" id="{BDE563CE-F1C2-4B72-B6B2-ACD1BE8CAC62}"/>
              </a:ext>
            </a:extLst>
          </p:cNvPr>
          <p:cNvSpPr>
            <a:spLocks xmlns:a="http://schemas.openxmlformats.org/drawingml/2006/main" noGrp="1"/>
          </p:cNvSpPr>
          <p:nvPr/>
        </p:nvSpPr>
        <p:spPr>
          <a:xfrm xmlns:a="http://schemas.openxmlformats.org/drawingml/2006/main">
            <a:off x="1028700" y="4724400"/>
            <a:ext cx="408623" cy="262890"/>
          </a:xfrm>
          <a:prstGeom xmlns:a="http://schemas.openxmlformats.org/drawingml/2006/main" prst="rect">
            <a:avLst/>
          </a:prstGeom>
          <a:solidFill xmlns:a="http://schemas.openxmlformats.org/drawingml/2006/main">
            <a:srgbClr val="DDEBF7"/>
          </a:solidFill>
          <a:ln xmlns:a="http://schemas.openxmlformats.org/drawingml/2006/main" w="9525">
            <a:solidFill>
              <a:srgbClr val="4472C4"/>
            </a:solidFill>
            <a:prstDash val="solid"/>
          </a:ln>
        </p:spPr>
      </p:sp>
      <p:sp>
        <p:nvSpPr>
          <p:cNvPr id="163" name="">
            <a:extLst xmlns:a="http://schemas.openxmlformats.org/drawingml/2006/main">
              <a:ext uri="{FF2B5EF4-FFF2-40B4-BE49-F238E27FC236}">
                <a16:creationId xmlns:a16="http://schemas.microsoft.com/office/drawing/2014/main" id="{A1079C4B-D67B-4715-8F7F-F4D6F327FE05}"/>
              </a:ext>
            </a:extLst>
          </p:cNvPr>
          <p:cNvSpPr>
            <a:spLocks xmlns:a="http://schemas.openxmlformats.org/drawingml/2006/main" noGrp="1"/>
          </p:cNvSpPr>
          <p:nvPr/>
        </p:nvSpPr>
        <p:spPr>
          <a:xfrm xmlns:a="http://schemas.openxmlformats.org/drawingml/2006/main">
            <a:off x="1012984" y="4801076"/>
            <a:ext cx="44005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638" b="1">
                <a:solidFill>
                  <a:srgbClr val="4472C4"/>
                </a:solidFill>
              </a:defRPr>
            </a:pPr>
            <a:r>
              <a:rPr sz="638" b="1">
                <a:solidFill>
                  <a:srgbClr val="4472C4"/>
                </a:solidFill>
              </a:rPr>
              <a:t>robot</a:t>
            </a:r>
          </a:p>
        </p:txBody>
      </p:sp>
      <p:sp>
        <p:nvSpPr>
          <p:cNvPr id="164" name="">
            <a:extLst xmlns:a="http://schemas.openxmlformats.org/drawingml/2006/main">
              <a:ext uri="{FF2B5EF4-FFF2-40B4-BE49-F238E27FC236}">
                <a16:creationId xmlns:a16="http://schemas.microsoft.com/office/drawing/2014/main" id="{7C01A302-F8C9-4718-AC8F-341F1B8B4852}"/>
              </a:ext>
            </a:extLst>
          </p:cNvPr>
          <p:cNvSpPr>
            <a:spLocks xmlns:a="http://schemas.openxmlformats.org/drawingml/2006/main" noGrp="1"/>
          </p:cNvSpPr>
          <p:nvPr/>
        </p:nvSpPr>
        <p:spPr>
          <a:xfrm xmlns:a="http://schemas.openxmlformats.org/drawingml/2006/main">
            <a:off x="1405890" y="4768215"/>
            <a:ext cx="660083" cy="-416243"/>
          </a:xfrm>
          <a:prstGeom xmlns:a="http://schemas.openxmlformats.org/drawingml/2006/main" prst="line">
            <a:avLst/>
          </a:prstGeom>
          <a:noFill xmlns:a="http://schemas.openxmlformats.org/drawingml/2006/main"/>
          <a:ln xmlns:a="http://schemas.openxmlformats.org/drawingml/2006/main" w="7620">
            <a:solidFill>
              <a:srgbClr val="4472C4"/>
            </a:solidFill>
            <a:prstDash val="solid"/>
          </a:ln>
        </p:spPr>
      </p:sp>
      <p:sp>
        <p:nvSpPr>
          <p:cNvPr id="165" name="">
            <a:extLst xmlns:a="http://schemas.openxmlformats.org/drawingml/2006/main">
              <a:ext uri="{FF2B5EF4-FFF2-40B4-BE49-F238E27FC236}">
                <a16:creationId xmlns:a16="http://schemas.microsoft.com/office/drawing/2014/main" id="{68DC8DFF-0B9E-4BF3-AB0D-2585FDBD4223}"/>
              </a:ext>
            </a:extLst>
          </p:cNvPr>
          <p:cNvSpPr>
            <a:spLocks xmlns:a="http://schemas.openxmlformats.org/drawingml/2006/main" noGrp="1"/>
          </p:cNvSpPr>
          <p:nvPr/>
        </p:nvSpPr>
        <p:spPr>
          <a:xfrm xmlns:a="http://schemas.openxmlformats.org/drawingml/2006/main">
            <a:off x="1405890" y="4899660"/>
            <a:ext cx="660083" cy="-438150"/>
          </a:xfrm>
          <a:prstGeom xmlns:a="http://schemas.openxmlformats.org/drawingml/2006/main" prst="line">
            <a:avLst/>
          </a:prstGeom>
          <a:noFill xmlns:a="http://schemas.openxmlformats.org/drawingml/2006/main"/>
          <a:ln xmlns:a="http://schemas.openxmlformats.org/drawingml/2006/main" w="7620">
            <a:solidFill>
              <a:srgbClr val="4472C4"/>
            </a:solidFill>
            <a:prstDash val="solid"/>
          </a:ln>
        </p:spPr>
      </p:sp>
      <p:sp>
        <p:nvSpPr>
          <p:cNvPr id="166" name="">
            <a:extLst xmlns:a="http://schemas.openxmlformats.org/drawingml/2006/main">
              <a:ext uri="{FF2B5EF4-FFF2-40B4-BE49-F238E27FC236}">
                <a16:creationId xmlns:a16="http://schemas.microsoft.com/office/drawing/2014/main" id="{49985A01-D386-45F6-80C2-B44640F5CE3C}"/>
              </a:ext>
            </a:extLst>
          </p:cNvPr>
          <p:cNvSpPr>
            <a:spLocks xmlns:a="http://schemas.openxmlformats.org/drawingml/2006/main" noGrp="1"/>
          </p:cNvSpPr>
          <p:nvPr/>
        </p:nvSpPr>
        <p:spPr>
          <a:xfrm xmlns:a="http://schemas.openxmlformats.org/drawingml/2006/main">
            <a:off x="1625918" y="4089083"/>
            <a:ext cx="125730" cy="125730"/>
          </a:xfrm>
          <a:prstGeom xmlns:a="http://schemas.openxmlformats.org/drawingml/2006/main" prst="ellipse">
            <a:avLst/>
          </a:prstGeom>
          <a:solidFill xmlns:a="http://schemas.openxmlformats.org/drawingml/2006/main">
            <a:srgbClr val="E2F0D9"/>
          </a:solidFill>
          <a:ln xmlns:a="http://schemas.openxmlformats.org/drawingml/2006/main" w="8573">
            <a:solidFill>
              <a:srgbClr val="70AD47"/>
            </a:solidFill>
            <a:prstDash val="solid"/>
          </a:ln>
        </p:spPr>
      </p:sp>
      <p:sp>
        <p:nvSpPr>
          <p:cNvPr id="167" name="">
            <a:extLst xmlns:a="http://schemas.openxmlformats.org/drawingml/2006/main">
              <a:ext uri="{FF2B5EF4-FFF2-40B4-BE49-F238E27FC236}">
                <a16:creationId xmlns:a16="http://schemas.microsoft.com/office/drawing/2014/main" id="{E54E10E4-B393-43D5-A1BB-ABDC8912A224}"/>
              </a:ext>
            </a:extLst>
          </p:cNvPr>
          <p:cNvSpPr>
            <a:spLocks xmlns:a="http://schemas.openxmlformats.org/drawingml/2006/main" noGrp="1"/>
          </p:cNvSpPr>
          <p:nvPr/>
        </p:nvSpPr>
        <p:spPr>
          <a:xfrm xmlns:a="http://schemas.openxmlformats.org/drawingml/2006/main">
            <a:off x="1688783" y="4220528"/>
            <a:ext cx="0" cy="328613"/>
          </a:xfrm>
          <a:prstGeom xmlns:a="http://schemas.openxmlformats.org/drawingml/2006/main" prst="line">
            <a:avLst/>
          </a:prstGeom>
          <a:noFill xmlns:a="http://schemas.openxmlformats.org/drawingml/2006/main"/>
          <a:ln xmlns:a="http://schemas.openxmlformats.org/drawingml/2006/main" w="13335">
            <a:solidFill>
              <a:srgbClr val="70AD47"/>
            </a:solidFill>
            <a:prstDash val="solid"/>
          </a:ln>
        </p:spPr>
      </p:sp>
      <p:sp>
        <p:nvSpPr>
          <p:cNvPr id="168" name="">
            <a:extLst xmlns:a="http://schemas.openxmlformats.org/drawingml/2006/main">
              <a:ext uri="{FF2B5EF4-FFF2-40B4-BE49-F238E27FC236}">
                <a16:creationId xmlns:a16="http://schemas.microsoft.com/office/drawing/2014/main" id="{ABB34351-AD5C-4C81-81C7-6A2104E3DD24}"/>
              </a:ext>
            </a:extLst>
          </p:cNvPr>
          <p:cNvSpPr>
            <a:spLocks xmlns:a="http://schemas.openxmlformats.org/drawingml/2006/main" noGrp="1"/>
          </p:cNvSpPr>
          <p:nvPr/>
        </p:nvSpPr>
        <p:spPr>
          <a:xfrm xmlns:a="http://schemas.openxmlformats.org/drawingml/2006/main">
            <a:off x="1688783" y="4330065"/>
            <a:ext cx="188595" cy="87630"/>
          </a:xfrm>
          <a:prstGeom xmlns:a="http://schemas.openxmlformats.org/drawingml/2006/main" prst="line">
            <a:avLst/>
          </a:prstGeom>
          <a:noFill xmlns:a="http://schemas.openxmlformats.org/drawingml/2006/main"/>
          <a:ln xmlns:a="http://schemas.openxmlformats.org/drawingml/2006/main" w="11430">
            <a:solidFill>
              <a:srgbClr val="70AD47"/>
            </a:solidFill>
            <a:prstDash val="solid"/>
          </a:ln>
        </p:spPr>
      </p:sp>
      <p:sp>
        <p:nvSpPr>
          <p:cNvPr id="169" name="">
            <a:extLst xmlns:a="http://schemas.openxmlformats.org/drawingml/2006/main">
              <a:ext uri="{FF2B5EF4-FFF2-40B4-BE49-F238E27FC236}">
                <a16:creationId xmlns:a16="http://schemas.microsoft.com/office/drawing/2014/main" id="{05B4281A-96BF-4F7E-B803-8F3093800933}"/>
              </a:ext>
            </a:extLst>
          </p:cNvPr>
          <p:cNvSpPr>
            <a:spLocks xmlns:a="http://schemas.openxmlformats.org/drawingml/2006/main" noGrp="1"/>
          </p:cNvSpPr>
          <p:nvPr/>
        </p:nvSpPr>
        <p:spPr>
          <a:xfrm xmlns:a="http://schemas.openxmlformats.org/drawingml/2006/main">
            <a:off x="2851785" y="4242435"/>
            <a:ext cx="440055" cy="197168"/>
          </a:xfrm>
          <a:prstGeom xmlns:a="http://schemas.openxmlformats.org/drawingml/2006/main" prst="rect">
            <a:avLst/>
          </a:prstGeom>
          <a:solidFill xmlns:a="http://schemas.openxmlformats.org/drawingml/2006/main">
            <a:srgbClr val="FFFFFF"/>
          </a:solidFill>
          <a:ln xmlns:a="http://schemas.openxmlformats.org/drawingml/2006/main" w="10478">
            <a:solidFill>
              <a:srgbClr val="ED7D31"/>
            </a:solidFill>
            <a:prstDash val="solid"/>
          </a:ln>
        </p:spPr>
      </p:sp>
      <p:sp>
        <p:nvSpPr>
          <p:cNvPr id="170" name="">
            <a:extLst xmlns:a="http://schemas.openxmlformats.org/drawingml/2006/main">
              <a:ext uri="{FF2B5EF4-FFF2-40B4-BE49-F238E27FC236}">
                <a16:creationId xmlns:a16="http://schemas.microsoft.com/office/drawing/2014/main" id="{966DE5F2-D1BF-45CB-9796-C960F02685F1}"/>
              </a:ext>
            </a:extLst>
          </p:cNvPr>
          <p:cNvSpPr>
            <a:spLocks xmlns:a="http://schemas.openxmlformats.org/drawingml/2006/main" noGrp="1"/>
          </p:cNvSpPr>
          <p:nvPr/>
        </p:nvSpPr>
        <p:spPr>
          <a:xfrm xmlns:a="http://schemas.openxmlformats.org/drawingml/2006/main">
            <a:off x="2914650" y="4417695"/>
            <a:ext cx="78581" cy="78581"/>
          </a:xfrm>
          <a:prstGeom xmlns:a="http://schemas.openxmlformats.org/drawingml/2006/main" prst="ellipse">
            <a:avLst/>
          </a:prstGeom>
          <a:solidFill xmlns:a="http://schemas.openxmlformats.org/drawingml/2006/main">
            <a:srgbClr val="3A3838"/>
          </a:solidFill>
          <a:ln xmlns:a="http://schemas.openxmlformats.org/drawingml/2006/main" w="4763">
            <a:solidFill>
              <a:srgbClr val="3A3838"/>
            </a:solidFill>
            <a:prstDash val="solid"/>
          </a:ln>
        </p:spPr>
      </p:sp>
      <p:sp>
        <p:nvSpPr>
          <p:cNvPr id="171" name="">
            <a:extLst xmlns:a="http://schemas.openxmlformats.org/drawingml/2006/main">
              <a:ext uri="{FF2B5EF4-FFF2-40B4-BE49-F238E27FC236}">
                <a16:creationId xmlns:a16="http://schemas.microsoft.com/office/drawing/2014/main" id="{C731AF50-FCAD-4EA9-9CEA-DAA0494C5775}"/>
              </a:ext>
            </a:extLst>
          </p:cNvPr>
          <p:cNvSpPr>
            <a:spLocks xmlns:a="http://schemas.openxmlformats.org/drawingml/2006/main" noGrp="1"/>
          </p:cNvSpPr>
          <p:nvPr/>
        </p:nvSpPr>
        <p:spPr>
          <a:xfrm xmlns:a="http://schemas.openxmlformats.org/drawingml/2006/main">
            <a:off x="3166110" y="4417695"/>
            <a:ext cx="78581" cy="78581"/>
          </a:xfrm>
          <a:prstGeom xmlns:a="http://schemas.openxmlformats.org/drawingml/2006/main" prst="ellipse">
            <a:avLst/>
          </a:prstGeom>
          <a:solidFill xmlns:a="http://schemas.openxmlformats.org/drawingml/2006/main">
            <a:srgbClr val="3A3838"/>
          </a:solidFill>
          <a:ln xmlns:a="http://schemas.openxmlformats.org/drawingml/2006/main" w="4763">
            <a:solidFill>
              <a:srgbClr val="3A3838"/>
            </a:solidFill>
            <a:prstDash val="solid"/>
          </a:ln>
        </p:spPr>
      </p:sp>
      <p:sp>
        <p:nvSpPr>
          <p:cNvPr id="172" name="">
            <a:extLst xmlns:a="http://schemas.openxmlformats.org/drawingml/2006/main">
              <a:ext uri="{FF2B5EF4-FFF2-40B4-BE49-F238E27FC236}">
                <a16:creationId xmlns:a16="http://schemas.microsoft.com/office/drawing/2014/main" id="{6CBCBE94-99D2-4F2C-B0D6-BD7A5DE39430}"/>
              </a:ext>
            </a:extLst>
          </p:cNvPr>
          <p:cNvSpPr>
            <a:spLocks xmlns:a="http://schemas.openxmlformats.org/drawingml/2006/main" noGrp="1"/>
          </p:cNvSpPr>
          <p:nvPr/>
        </p:nvSpPr>
        <p:spPr>
          <a:xfrm xmlns:a="http://schemas.openxmlformats.org/drawingml/2006/main">
            <a:off x="3291840" y="422338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ED7D31"/>
                </a:solidFill>
              </a:defRPr>
            </a:pPr>
            <a:r>
              <a:rPr sz="1500" b="1">
                <a:solidFill>
                  <a:srgbClr val="ED7D31"/>
                </a:solidFill>
              </a:rPr>
              <a:t>→</a:t>
            </a:r>
          </a:p>
        </p:txBody>
      </p:sp>
      <p:sp>
        <p:nvSpPr>
          <p:cNvPr id="173" name="">
            <a:extLst xmlns:a="http://schemas.openxmlformats.org/drawingml/2006/main">
              <a:ext uri="{FF2B5EF4-FFF2-40B4-BE49-F238E27FC236}">
                <a16:creationId xmlns:a16="http://schemas.microsoft.com/office/drawing/2014/main" id="{7820511D-CD63-44D8-84F2-BF099B47B8EC}"/>
              </a:ext>
            </a:extLst>
          </p:cNvPr>
          <p:cNvSpPr>
            <a:spLocks xmlns:a="http://schemas.openxmlformats.org/drawingml/2006/main" noGrp="1"/>
          </p:cNvSpPr>
          <p:nvPr/>
        </p:nvSpPr>
        <p:spPr>
          <a:xfrm xmlns:a="http://schemas.openxmlformats.org/drawingml/2006/main">
            <a:off x="714375" y="296227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63" b="1">
                <a:solidFill>
                  <a:srgbClr val="3A3838"/>
                </a:solidFill>
              </a:defRPr>
            </a:pPr>
            <a:r>
              <a:rPr sz="863" b="1">
                <a:solidFill>
                  <a:srgbClr val="3A3838"/>
                </a:solidFill>
              </a:rPr>
              <a:t>Branch 1 — cart exits right</a:t>
            </a:r>
          </a:p>
        </p:txBody>
      </p:sp>
      <p:sp>
        <p:nvSpPr>
          <p:cNvPr id="174" name="">
            <a:extLst xmlns:a="http://schemas.openxmlformats.org/drawingml/2006/main">
              <a:ext uri="{FF2B5EF4-FFF2-40B4-BE49-F238E27FC236}">
                <a16:creationId xmlns:a16="http://schemas.microsoft.com/office/drawing/2014/main" id="{258F31F3-99FF-492D-949D-837209201BCF}"/>
              </a:ext>
            </a:extLst>
          </p:cNvPr>
          <p:cNvSpPr>
            <a:spLocks xmlns:a="http://schemas.openxmlformats.org/drawingml/2006/main" noGrp="1"/>
          </p:cNvSpPr>
          <p:nvPr/>
        </p:nvSpPr>
        <p:spPr>
          <a:xfrm xmlns:a="http://schemas.openxmlformats.org/drawingml/2006/main">
            <a:off x="714375" y="543877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b="1">
                <a:solidFill>
                  <a:srgbClr val="ED7D31"/>
                </a:solidFill>
              </a:defRPr>
            </a:pPr>
            <a:r>
              <a:rPr sz="788" b="1">
                <a:solidFill>
                  <a:srgbClr val="ED7D31"/>
                </a:solidFill>
              </a:rPr>
              <a:t>weight 0.46</a:t>
            </a:r>
          </a:p>
        </p:txBody>
      </p:sp>
      <p:sp>
        <p:nvSpPr>
          <p:cNvPr id="175" name="">
            <a:extLst xmlns:a="http://schemas.openxmlformats.org/drawingml/2006/main">
              <a:ext uri="{FF2B5EF4-FFF2-40B4-BE49-F238E27FC236}">
                <a16:creationId xmlns:a16="http://schemas.microsoft.com/office/drawing/2014/main" id="{B7242B03-ED77-4FAE-A91E-C7CF5AA33421}"/>
              </a:ext>
            </a:extLst>
          </p:cNvPr>
          <p:cNvSpPr>
            <a:spLocks xmlns:a="http://schemas.openxmlformats.org/drawingml/2006/main" noGrp="1"/>
          </p:cNvSpPr>
          <p:nvPr/>
        </p:nvSpPr>
        <p:spPr>
          <a:xfrm xmlns:a="http://schemas.openxmlformats.org/drawingml/2006/main">
            <a:off x="4524375" y="3190875"/>
            <a:ext cx="3143250" cy="2190750"/>
          </a:xfrm>
          <a:prstGeom xmlns:a="http://schemas.openxmlformats.org/drawingml/2006/main" prst="rect">
            <a:avLst/>
          </a:prstGeom>
          <a:solidFill xmlns:a="http://schemas.openxmlformats.org/drawingml/2006/main">
            <a:srgbClr val="FFFFFF"/>
          </a:solidFill>
          <a:ln xmlns:a="http://schemas.openxmlformats.org/drawingml/2006/main" w="10478">
            <a:solidFill>
              <a:srgbClr val="3A3838"/>
            </a:solidFill>
            <a:prstDash val="solid"/>
          </a:ln>
        </p:spPr>
      </p:sp>
      <p:sp>
        <p:nvSpPr>
          <p:cNvPr id="176" name="">
            <a:extLst xmlns:a="http://schemas.openxmlformats.org/drawingml/2006/main">
              <a:ext uri="{FF2B5EF4-FFF2-40B4-BE49-F238E27FC236}">
                <a16:creationId xmlns:a16="http://schemas.microsoft.com/office/drawing/2014/main" id="{52A1F024-500C-4DB7-AD6E-13A92854A1DC}"/>
              </a:ext>
            </a:extLst>
          </p:cNvPr>
          <p:cNvSpPr>
            <a:spLocks xmlns:a="http://schemas.openxmlformats.org/drawingml/2006/main" noGrp="1"/>
          </p:cNvSpPr>
          <p:nvPr/>
        </p:nvSpPr>
        <p:spPr>
          <a:xfrm xmlns:a="http://schemas.openxmlformats.org/drawingml/2006/main">
            <a:off x="4838700" y="3585210"/>
            <a:ext cx="2263140" cy="0"/>
          </a:xfrm>
          <a:prstGeom xmlns:a="http://schemas.openxmlformats.org/drawingml/2006/main" prst="line">
            <a:avLst/>
          </a:prstGeom>
          <a:noFill xmlns:a="http://schemas.openxmlformats.org/drawingml/2006/main"/>
          <a:ln xmlns:a="http://schemas.openxmlformats.org/drawingml/2006/main" w="9525">
            <a:solidFill>
              <a:srgbClr val="B7B7B7"/>
            </a:solidFill>
            <a:prstDash val="solid"/>
          </a:ln>
        </p:spPr>
      </p:sp>
      <p:sp>
        <p:nvSpPr>
          <p:cNvPr id="177" name="">
            <a:extLst xmlns:a="http://schemas.openxmlformats.org/drawingml/2006/main">
              <a:ext uri="{FF2B5EF4-FFF2-40B4-BE49-F238E27FC236}">
                <a16:creationId xmlns:a16="http://schemas.microsoft.com/office/drawing/2014/main" id="{B34FA637-9097-4643-8483-3AB80A937861}"/>
              </a:ext>
            </a:extLst>
          </p:cNvPr>
          <p:cNvSpPr>
            <a:spLocks xmlns:a="http://schemas.openxmlformats.org/drawingml/2006/main" noGrp="1"/>
          </p:cNvSpPr>
          <p:nvPr/>
        </p:nvSpPr>
        <p:spPr>
          <a:xfrm xmlns:a="http://schemas.openxmlformats.org/drawingml/2006/main">
            <a:off x="6913245" y="3234690"/>
            <a:ext cx="440055" cy="372428"/>
          </a:xfrm>
          <a:prstGeom xmlns:a="http://schemas.openxmlformats.org/drawingml/2006/main" prst="rect">
            <a:avLst/>
          </a:prstGeom>
          <a:solidFill xmlns:a="http://schemas.openxmlformats.org/drawingml/2006/main">
            <a:srgbClr val="DDEBF7"/>
          </a:solidFill>
          <a:ln xmlns:a="http://schemas.openxmlformats.org/drawingml/2006/main" w="7620">
            <a:solidFill>
              <a:srgbClr val="4472C4"/>
            </a:solidFill>
            <a:prstDash val="solid"/>
          </a:ln>
        </p:spPr>
      </p:sp>
      <p:sp>
        <p:nvSpPr>
          <p:cNvPr id="178" name="">
            <a:extLst xmlns:a="http://schemas.openxmlformats.org/drawingml/2006/main">
              <a:ext uri="{FF2B5EF4-FFF2-40B4-BE49-F238E27FC236}">
                <a16:creationId xmlns:a16="http://schemas.microsoft.com/office/drawing/2014/main" id="{B2C802AD-F86D-4F72-9753-8D47AEFA5BE9}"/>
              </a:ext>
            </a:extLst>
          </p:cNvPr>
          <p:cNvSpPr>
            <a:spLocks xmlns:a="http://schemas.openxmlformats.org/drawingml/2006/main" noGrp="1"/>
          </p:cNvSpPr>
          <p:nvPr/>
        </p:nvSpPr>
        <p:spPr>
          <a:xfrm xmlns:a="http://schemas.openxmlformats.org/drawingml/2006/main">
            <a:off x="5875973" y="3804285"/>
            <a:ext cx="220028" cy="1095375"/>
          </a:xfrm>
          <a:prstGeom xmlns:a="http://schemas.openxmlformats.org/drawingml/2006/main" prst="rect">
            <a:avLst/>
          </a:prstGeom>
          <a:solidFill xmlns:a="http://schemas.openxmlformats.org/drawingml/2006/main">
            <a:srgbClr val="D9D9D9"/>
          </a:solidFill>
          <a:ln xmlns:a="http://schemas.openxmlformats.org/drawingml/2006/main" w="7620">
            <a:solidFill>
              <a:srgbClr val="767171"/>
            </a:solidFill>
            <a:prstDash val="solid"/>
          </a:ln>
        </p:spPr>
      </p:sp>
      <p:sp>
        <p:nvSpPr>
          <p:cNvPr id="179" name="">
            <a:extLst xmlns:a="http://schemas.openxmlformats.org/drawingml/2006/main">
              <a:ext uri="{FF2B5EF4-FFF2-40B4-BE49-F238E27FC236}">
                <a16:creationId xmlns:a16="http://schemas.microsoft.com/office/drawing/2014/main" id="{FB7E974D-1E8B-4932-85BC-1D81C2CDFE5E}"/>
              </a:ext>
            </a:extLst>
          </p:cNvPr>
          <p:cNvSpPr>
            <a:spLocks xmlns:a="http://schemas.openxmlformats.org/drawingml/2006/main" noGrp="1"/>
          </p:cNvSpPr>
          <p:nvPr/>
        </p:nvSpPr>
        <p:spPr>
          <a:xfrm xmlns:a="http://schemas.openxmlformats.org/drawingml/2006/main">
            <a:off x="4838700" y="4724400"/>
            <a:ext cx="408623" cy="262890"/>
          </a:xfrm>
          <a:prstGeom xmlns:a="http://schemas.openxmlformats.org/drawingml/2006/main" prst="rect">
            <a:avLst/>
          </a:prstGeom>
          <a:solidFill xmlns:a="http://schemas.openxmlformats.org/drawingml/2006/main">
            <a:srgbClr val="DDEBF7"/>
          </a:solidFill>
          <a:ln xmlns:a="http://schemas.openxmlformats.org/drawingml/2006/main" w="9525">
            <a:solidFill>
              <a:srgbClr val="4472C4"/>
            </a:solidFill>
            <a:prstDash val="solid"/>
          </a:ln>
        </p:spPr>
      </p:sp>
      <p:sp>
        <p:nvSpPr>
          <p:cNvPr id="180" name="">
            <a:extLst xmlns:a="http://schemas.openxmlformats.org/drawingml/2006/main">
              <a:ext uri="{FF2B5EF4-FFF2-40B4-BE49-F238E27FC236}">
                <a16:creationId xmlns:a16="http://schemas.microsoft.com/office/drawing/2014/main" id="{D791E566-8FC3-49D3-BA57-0881F7466542}"/>
              </a:ext>
            </a:extLst>
          </p:cNvPr>
          <p:cNvSpPr>
            <a:spLocks xmlns:a="http://schemas.openxmlformats.org/drawingml/2006/main" noGrp="1"/>
          </p:cNvSpPr>
          <p:nvPr/>
        </p:nvSpPr>
        <p:spPr>
          <a:xfrm xmlns:a="http://schemas.openxmlformats.org/drawingml/2006/main">
            <a:off x="4822984" y="4801076"/>
            <a:ext cx="44005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638" b="1">
                <a:solidFill>
                  <a:srgbClr val="4472C4"/>
                </a:solidFill>
              </a:defRPr>
            </a:pPr>
            <a:r>
              <a:rPr sz="638" b="1">
                <a:solidFill>
                  <a:srgbClr val="4472C4"/>
                </a:solidFill>
              </a:rPr>
              <a:t>robot</a:t>
            </a:r>
          </a:p>
        </p:txBody>
      </p:sp>
      <p:sp>
        <p:nvSpPr>
          <p:cNvPr id="181" name="">
            <a:extLst xmlns:a="http://schemas.openxmlformats.org/drawingml/2006/main">
              <a:ext uri="{FF2B5EF4-FFF2-40B4-BE49-F238E27FC236}">
                <a16:creationId xmlns:a16="http://schemas.microsoft.com/office/drawing/2014/main" id="{B9CFF999-A1A3-414B-8F17-231E2F34B88A}"/>
              </a:ext>
            </a:extLst>
          </p:cNvPr>
          <p:cNvSpPr>
            <a:spLocks xmlns:a="http://schemas.openxmlformats.org/drawingml/2006/main" noGrp="1"/>
          </p:cNvSpPr>
          <p:nvPr/>
        </p:nvSpPr>
        <p:spPr>
          <a:xfrm xmlns:a="http://schemas.openxmlformats.org/drawingml/2006/main">
            <a:off x="5215890" y="4768215"/>
            <a:ext cx="660082" cy="-416243"/>
          </a:xfrm>
          <a:prstGeom xmlns:a="http://schemas.openxmlformats.org/drawingml/2006/main" prst="line">
            <a:avLst/>
          </a:prstGeom>
          <a:noFill xmlns:a="http://schemas.openxmlformats.org/drawingml/2006/main"/>
          <a:ln xmlns:a="http://schemas.openxmlformats.org/drawingml/2006/main" w="7620">
            <a:solidFill>
              <a:srgbClr val="4472C4"/>
            </a:solidFill>
            <a:prstDash val="solid"/>
          </a:ln>
        </p:spPr>
      </p:sp>
      <p:sp>
        <p:nvSpPr>
          <p:cNvPr id="182" name="">
            <a:extLst xmlns:a="http://schemas.openxmlformats.org/drawingml/2006/main">
              <a:ext uri="{FF2B5EF4-FFF2-40B4-BE49-F238E27FC236}">
                <a16:creationId xmlns:a16="http://schemas.microsoft.com/office/drawing/2014/main" id="{0A9C32A4-BBB0-4B09-857E-2C8F0570D9A4}"/>
              </a:ext>
            </a:extLst>
          </p:cNvPr>
          <p:cNvSpPr>
            <a:spLocks xmlns:a="http://schemas.openxmlformats.org/drawingml/2006/main" noGrp="1"/>
          </p:cNvSpPr>
          <p:nvPr/>
        </p:nvSpPr>
        <p:spPr>
          <a:xfrm xmlns:a="http://schemas.openxmlformats.org/drawingml/2006/main">
            <a:off x="5215890" y="4899660"/>
            <a:ext cx="660082" cy="-438150"/>
          </a:xfrm>
          <a:prstGeom xmlns:a="http://schemas.openxmlformats.org/drawingml/2006/main" prst="line">
            <a:avLst/>
          </a:prstGeom>
          <a:noFill xmlns:a="http://schemas.openxmlformats.org/drawingml/2006/main"/>
          <a:ln xmlns:a="http://schemas.openxmlformats.org/drawingml/2006/main" w="7620">
            <a:solidFill>
              <a:srgbClr val="4472C4"/>
            </a:solidFill>
            <a:prstDash val="solid"/>
          </a:ln>
        </p:spPr>
      </p:sp>
      <p:sp>
        <p:nvSpPr>
          <p:cNvPr id="183" name="">
            <a:extLst xmlns:a="http://schemas.openxmlformats.org/drawingml/2006/main">
              <a:ext uri="{FF2B5EF4-FFF2-40B4-BE49-F238E27FC236}">
                <a16:creationId xmlns:a16="http://schemas.microsoft.com/office/drawing/2014/main" id="{E4327626-30A2-4553-B8F4-1D94C30F4397}"/>
              </a:ext>
            </a:extLst>
          </p:cNvPr>
          <p:cNvSpPr>
            <a:spLocks xmlns:a="http://schemas.openxmlformats.org/drawingml/2006/main" noGrp="1"/>
          </p:cNvSpPr>
          <p:nvPr/>
        </p:nvSpPr>
        <p:spPr>
          <a:xfrm xmlns:a="http://schemas.openxmlformats.org/drawingml/2006/main">
            <a:off x="5435918" y="4089083"/>
            <a:ext cx="125730" cy="125730"/>
          </a:xfrm>
          <a:prstGeom xmlns:a="http://schemas.openxmlformats.org/drawingml/2006/main" prst="ellipse">
            <a:avLst/>
          </a:prstGeom>
          <a:solidFill xmlns:a="http://schemas.openxmlformats.org/drawingml/2006/main">
            <a:srgbClr val="E2F0D9"/>
          </a:solidFill>
          <a:ln xmlns:a="http://schemas.openxmlformats.org/drawingml/2006/main" w="8573">
            <a:solidFill>
              <a:srgbClr val="70AD47"/>
            </a:solidFill>
            <a:prstDash val="solid"/>
          </a:ln>
        </p:spPr>
      </p:sp>
      <p:sp>
        <p:nvSpPr>
          <p:cNvPr id="184" name="">
            <a:extLst xmlns:a="http://schemas.openxmlformats.org/drawingml/2006/main">
              <a:ext uri="{FF2B5EF4-FFF2-40B4-BE49-F238E27FC236}">
                <a16:creationId xmlns:a16="http://schemas.microsoft.com/office/drawing/2014/main" id="{6A3DF6AE-41C3-4531-80ED-90C64281EA94}"/>
              </a:ext>
            </a:extLst>
          </p:cNvPr>
          <p:cNvSpPr>
            <a:spLocks xmlns:a="http://schemas.openxmlformats.org/drawingml/2006/main" noGrp="1"/>
          </p:cNvSpPr>
          <p:nvPr/>
        </p:nvSpPr>
        <p:spPr>
          <a:xfrm xmlns:a="http://schemas.openxmlformats.org/drawingml/2006/main">
            <a:off x="5498783" y="4220528"/>
            <a:ext cx="0" cy="328613"/>
          </a:xfrm>
          <a:prstGeom xmlns:a="http://schemas.openxmlformats.org/drawingml/2006/main" prst="line">
            <a:avLst/>
          </a:prstGeom>
          <a:noFill xmlns:a="http://schemas.openxmlformats.org/drawingml/2006/main"/>
          <a:ln xmlns:a="http://schemas.openxmlformats.org/drawingml/2006/main" w="13335">
            <a:solidFill>
              <a:srgbClr val="70AD47"/>
            </a:solidFill>
            <a:prstDash val="solid"/>
          </a:ln>
        </p:spPr>
      </p:sp>
      <p:sp>
        <p:nvSpPr>
          <p:cNvPr id="185" name="">
            <a:extLst xmlns:a="http://schemas.openxmlformats.org/drawingml/2006/main">
              <a:ext uri="{FF2B5EF4-FFF2-40B4-BE49-F238E27FC236}">
                <a16:creationId xmlns:a16="http://schemas.microsoft.com/office/drawing/2014/main" id="{1FBAF86E-9D5E-474B-800C-0A56ABDC681C}"/>
              </a:ext>
            </a:extLst>
          </p:cNvPr>
          <p:cNvSpPr>
            <a:spLocks xmlns:a="http://schemas.openxmlformats.org/drawingml/2006/main" noGrp="1"/>
          </p:cNvSpPr>
          <p:nvPr/>
        </p:nvSpPr>
        <p:spPr>
          <a:xfrm xmlns:a="http://schemas.openxmlformats.org/drawingml/2006/main">
            <a:off x="5498783" y="4330065"/>
            <a:ext cx="188595" cy="87630"/>
          </a:xfrm>
          <a:prstGeom xmlns:a="http://schemas.openxmlformats.org/drawingml/2006/main" prst="line">
            <a:avLst/>
          </a:prstGeom>
          <a:noFill xmlns:a="http://schemas.openxmlformats.org/drawingml/2006/main"/>
          <a:ln xmlns:a="http://schemas.openxmlformats.org/drawingml/2006/main" w="11430">
            <a:solidFill>
              <a:srgbClr val="70AD47"/>
            </a:solidFill>
            <a:prstDash val="solid"/>
          </a:ln>
        </p:spPr>
      </p:sp>
      <p:sp>
        <p:nvSpPr>
          <p:cNvPr id="186" name="">
            <a:extLst xmlns:a="http://schemas.openxmlformats.org/drawingml/2006/main">
              <a:ext uri="{FF2B5EF4-FFF2-40B4-BE49-F238E27FC236}">
                <a16:creationId xmlns:a16="http://schemas.microsoft.com/office/drawing/2014/main" id="{88267C30-A4F8-4036-AF8C-609466BFBF61}"/>
              </a:ext>
            </a:extLst>
          </p:cNvPr>
          <p:cNvSpPr>
            <a:spLocks xmlns:a="http://schemas.openxmlformats.org/drawingml/2006/main" noGrp="1"/>
          </p:cNvSpPr>
          <p:nvPr/>
        </p:nvSpPr>
        <p:spPr>
          <a:xfrm xmlns:a="http://schemas.openxmlformats.org/drawingml/2006/main">
            <a:off x="6253163" y="4614863"/>
            <a:ext cx="440055" cy="197168"/>
          </a:xfrm>
          <a:prstGeom xmlns:a="http://schemas.openxmlformats.org/drawingml/2006/main" prst="rect">
            <a:avLst/>
          </a:prstGeom>
          <a:solidFill xmlns:a="http://schemas.openxmlformats.org/drawingml/2006/main">
            <a:srgbClr val="FFFFFF"/>
          </a:solidFill>
          <a:ln xmlns:a="http://schemas.openxmlformats.org/drawingml/2006/main" w="10478">
            <a:solidFill>
              <a:srgbClr val="D24726"/>
            </a:solidFill>
            <a:prstDash val="solid"/>
          </a:ln>
        </p:spPr>
      </p:sp>
      <p:sp>
        <p:nvSpPr>
          <p:cNvPr id="187" name="">
            <a:extLst xmlns:a="http://schemas.openxmlformats.org/drawingml/2006/main">
              <a:ext uri="{FF2B5EF4-FFF2-40B4-BE49-F238E27FC236}">
                <a16:creationId xmlns:a16="http://schemas.microsoft.com/office/drawing/2014/main" id="{B1B66F04-2476-47F4-81FA-BAB56F4DBF9E}"/>
              </a:ext>
            </a:extLst>
          </p:cNvPr>
          <p:cNvSpPr>
            <a:spLocks xmlns:a="http://schemas.openxmlformats.org/drawingml/2006/main" noGrp="1"/>
          </p:cNvSpPr>
          <p:nvPr/>
        </p:nvSpPr>
        <p:spPr>
          <a:xfrm xmlns:a="http://schemas.openxmlformats.org/drawingml/2006/main">
            <a:off x="6316028" y="4790123"/>
            <a:ext cx="78581" cy="78581"/>
          </a:xfrm>
          <a:prstGeom xmlns:a="http://schemas.openxmlformats.org/drawingml/2006/main" prst="ellipse">
            <a:avLst/>
          </a:prstGeom>
          <a:solidFill xmlns:a="http://schemas.openxmlformats.org/drawingml/2006/main">
            <a:srgbClr val="3A3838"/>
          </a:solidFill>
          <a:ln xmlns:a="http://schemas.openxmlformats.org/drawingml/2006/main" w="4763">
            <a:solidFill>
              <a:srgbClr val="3A3838"/>
            </a:solidFill>
            <a:prstDash val="solid"/>
          </a:ln>
        </p:spPr>
      </p:sp>
      <p:sp>
        <p:nvSpPr>
          <p:cNvPr id="188" name="">
            <a:extLst xmlns:a="http://schemas.openxmlformats.org/drawingml/2006/main">
              <a:ext uri="{FF2B5EF4-FFF2-40B4-BE49-F238E27FC236}">
                <a16:creationId xmlns:a16="http://schemas.microsoft.com/office/drawing/2014/main" id="{2C49C970-B9F3-4C8C-90D5-CAF333AE8313}"/>
              </a:ext>
            </a:extLst>
          </p:cNvPr>
          <p:cNvSpPr>
            <a:spLocks xmlns:a="http://schemas.openxmlformats.org/drawingml/2006/main" noGrp="1"/>
          </p:cNvSpPr>
          <p:nvPr/>
        </p:nvSpPr>
        <p:spPr>
          <a:xfrm xmlns:a="http://schemas.openxmlformats.org/drawingml/2006/main">
            <a:off x="6567488" y="4790123"/>
            <a:ext cx="78581" cy="78581"/>
          </a:xfrm>
          <a:prstGeom xmlns:a="http://schemas.openxmlformats.org/drawingml/2006/main" prst="ellipse">
            <a:avLst/>
          </a:prstGeom>
          <a:solidFill xmlns:a="http://schemas.openxmlformats.org/drawingml/2006/main">
            <a:srgbClr val="3A3838"/>
          </a:solidFill>
          <a:ln xmlns:a="http://schemas.openxmlformats.org/drawingml/2006/main" w="4763">
            <a:solidFill>
              <a:srgbClr val="3A3838"/>
            </a:solidFill>
            <a:prstDash val="solid"/>
          </a:ln>
        </p:spPr>
      </p:sp>
      <p:sp>
        <p:nvSpPr>
          <p:cNvPr id="189" name="">
            <a:extLst xmlns:a="http://schemas.openxmlformats.org/drawingml/2006/main">
              <a:ext uri="{FF2B5EF4-FFF2-40B4-BE49-F238E27FC236}">
                <a16:creationId xmlns:a16="http://schemas.microsoft.com/office/drawing/2014/main" id="{DF42DAF5-2BC8-4AF7-911B-53757DF0F6C4}"/>
              </a:ext>
            </a:extLst>
          </p:cNvPr>
          <p:cNvSpPr>
            <a:spLocks xmlns:a="http://schemas.openxmlformats.org/drawingml/2006/main" noGrp="1"/>
          </p:cNvSpPr>
          <p:nvPr/>
        </p:nvSpPr>
        <p:spPr>
          <a:xfrm xmlns:a="http://schemas.openxmlformats.org/drawingml/2006/main">
            <a:off x="6215063" y="4833938"/>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D24726"/>
                </a:solidFill>
              </a:defRPr>
            </a:pPr>
            <a:r>
              <a:rPr sz="1500" b="1">
                <a:solidFill>
                  <a:srgbClr val="D24726"/>
                </a:solidFill>
              </a:rPr>
              <a:t>↓</a:t>
            </a:r>
          </a:p>
        </p:txBody>
      </p:sp>
      <p:sp>
        <p:nvSpPr>
          <p:cNvPr id="190" name="">
            <a:extLst xmlns:a="http://schemas.openxmlformats.org/drawingml/2006/main">
              <a:ext uri="{FF2B5EF4-FFF2-40B4-BE49-F238E27FC236}">
                <a16:creationId xmlns:a16="http://schemas.microsoft.com/office/drawing/2014/main" id="{B6CC864C-3D99-4160-A4DC-40F344EDADD8}"/>
              </a:ext>
            </a:extLst>
          </p:cNvPr>
          <p:cNvSpPr>
            <a:spLocks xmlns:a="http://schemas.openxmlformats.org/drawingml/2006/main" noGrp="1"/>
          </p:cNvSpPr>
          <p:nvPr/>
        </p:nvSpPr>
        <p:spPr>
          <a:xfrm xmlns:a="http://schemas.openxmlformats.org/drawingml/2006/main">
            <a:off x="4524375" y="296227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63" b="1">
                <a:solidFill>
                  <a:srgbClr val="3A3838"/>
                </a:solidFill>
              </a:defRPr>
            </a:pPr>
            <a:r>
              <a:rPr sz="863" b="1">
                <a:solidFill>
                  <a:srgbClr val="3A3838"/>
                </a:solidFill>
              </a:rPr>
              <a:t>Branch 2 — cart turns toward robot</a:t>
            </a:r>
          </a:p>
        </p:txBody>
      </p:sp>
      <p:sp>
        <p:nvSpPr>
          <p:cNvPr id="191" name="">
            <a:extLst xmlns:a="http://schemas.openxmlformats.org/drawingml/2006/main">
              <a:ext uri="{FF2B5EF4-FFF2-40B4-BE49-F238E27FC236}">
                <a16:creationId xmlns:a16="http://schemas.microsoft.com/office/drawing/2014/main" id="{288EC55A-5F7C-4A00-8C54-2E74610884D8}"/>
              </a:ext>
            </a:extLst>
          </p:cNvPr>
          <p:cNvSpPr>
            <a:spLocks xmlns:a="http://schemas.openxmlformats.org/drawingml/2006/main" noGrp="1"/>
          </p:cNvSpPr>
          <p:nvPr/>
        </p:nvSpPr>
        <p:spPr>
          <a:xfrm xmlns:a="http://schemas.openxmlformats.org/drawingml/2006/main">
            <a:off x="4524375" y="543877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b="1">
                <a:solidFill>
                  <a:srgbClr val="D24726"/>
                </a:solidFill>
              </a:defRPr>
            </a:pPr>
            <a:r>
              <a:rPr sz="788" b="1">
                <a:solidFill>
                  <a:srgbClr val="D24726"/>
                </a:solidFill>
              </a:rPr>
              <a:t>weight 0.32</a:t>
            </a:r>
          </a:p>
        </p:txBody>
      </p:sp>
      <p:sp>
        <p:nvSpPr>
          <p:cNvPr id="192" name="">
            <a:extLst xmlns:a="http://schemas.openxmlformats.org/drawingml/2006/main">
              <a:ext uri="{FF2B5EF4-FFF2-40B4-BE49-F238E27FC236}">
                <a16:creationId xmlns:a16="http://schemas.microsoft.com/office/drawing/2014/main" id="{9713094E-864E-486C-BD19-F93E540C9FF2}"/>
              </a:ext>
            </a:extLst>
          </p:cNvPr>
          <p:cNvSpPr>
            <a:spLocks xmlns:a="http://schemas.openxmlformats.org/drawingml/2006/main" noGrp="1"/>
          </p:cNvSpPr>
          <p:nvPr/>
        </p:nvSpPr>
        <p:spPr>
          <a:xfrm xmlns:a="http://schemas.openxmlformats.org/drawingml/2006/main">
            <a:off x="8334375" y="3190875"/>
            <a:ext cx="3143250" cy="2190750"/>
          </a:xfrm>
          <a:prstGeom xmlns:a="http://schemas.openxmlformats.org/drawingml/2006/main" prst="rect">
            <a:avLst/>
          </a:prstGeom>
          <a:solidFill xmlns:a="http://schemas.openxmlformats.org/drawingml/2006/main">
            <a:srgbClr val="FFFFFF"/>
          </a:solidFill>
          <a:ln xmlns:a="http://schemas.openxmlformats.org/drawingml/2006/main" w="10478">
            <a:solidFill>
              <a:srgbClr val="3A3838"/>
            </a:solidFill>
            <a:prstDash val="solid"/>
          </a:ln>
        </p:spPr>
      </p:sp>
      <p:sp>
        <p:nvSpPr>
          <p:cNvPr id="193" name="">
            <a:extLst xmlns:a="http://schemas.openxmlformats.org/drawingml/2006/main">
              <a:ext uri="{FF2B5EF4-FFF2-40B4-BE49-F238E27FC236}">
                <a16:creationId xmlns:a16="http://schemas.microsoft.com/office/drawing/2014/main" id="{B78C835A-5269-4995-8223-4D8695BB1C5C}"/>
              </a:ext>
            </a:extLst>
          </p:cNvPr>
          <p:cNvSpPr>
            <a:spLocks xmlns:a="http://schemas.openxmlformats.org/drawingml/2006/main" noGrp="1"/>
          </p:cNvSpPr>
          <p:nvPr/>
        </p:nvSpPr>
        <p:spPr>
          <a:xfrm xmlns:a="http://schemas.openxmlformats.org/drawingml/2006/main">
            <a:off x="8648700" y="3585210"/>
            <a:ext cx="2263140" cy="0"/>
          </a:xfrm>
          <a:prstGeom xmlns:a="http://schemas.openxmlformats.org/drawingml/2006/main" prst="line">
            <a:avLst/>
          </a:prstGeom>
          <a:noFill xmlns:a="http://schemas.openxmlformats.org/drawingml/2006/main"/>
          <a:ln xmlns:a="http://schemas.openxmlformats.org/drawingml/2006/main" w="9525">
            <a:solidFill>
              <a:srgbClr val="B7B7B7"/>
            </a:solidFill>
            <a:prstDash val="solid"/>
          </a:ln>
        </p:spPr>
      </p:sp>
      <p:sp>
        <p:nvSpPr>
          <p:cNvPr id="194" name="">
            <a:extLst xmlns:a="http://schemas.openxmlformats.org/drawingml/2006/main">
              <a:ext uri="{FF2B5EF4-FFF2-40B4-BE49-F238E27FC236}">
                <a16:creationId xmlns:a16="http://schemas.microsoft.com/office/drawing/2014/main" id="{37217D7B-4FB6-4877-A2BB-3D86BB8421A6}"/>
              </a:ext>
            </a:extLst>
          </p:cNvPr>
          <p:cNvSpPr>
            <a:spLocks xmlns:a="http://schemas.openxmlformats.org/drawingml/2006/main" noGrp="1"/>
          </p:cNvSpPr>
          <p:nvPr/>
        </p:nvSpPr>
        <p:spPr>
          <a:xfrm xmlns:a="http://schemas.openxmlformats.org/drawingml/2006/main">
            <a:off x="10723245" y="3234690"/>
            <a:ext cx="440055" cy="372428"/>
          </a:xfrm>
          <a:prstGeom xmlns:a="http://schemas.openxmlformats.org/drawingml/2006/main" prst="rect">
            <a:avLst/>
          </a:prstGeom>
          <a:solidFill xmlns:a="http://schemas.openxmlformats.org/drawingml/2006/main">
            <a:srgbClr val="DDEBF7"/>
          </a:solidFill>
          <a:ln xmlns:a="http://schemas.openxmlformats.org/drawingml/2006/main" w="7620">
            <a:solidFill>
              <a:srgbClr val="4472C4"/>
            </a:solidFill>
            <a:prstDash val="solid"/>
          </a:ln>
        </p:spPr>
      </p:sp>
      <p:sp>
        <p:nvSpPr>
          <p:cNvPr id="195" name="">
            <a:extLst xmlns:a="http://schemas.openxmlformats.org/drawingml/2006/main">
              <a:ext uri="{FF2B5EF4-FFF2-40B4-BE49-F238E27FC236}">
                <a16:creationId xmlns:a16="http://schemas.microsoft.com/office/drawing/2014/main" id="{677B177C-2035-49D8-AD77-5DC8F62424CA}"/>
              </a:ext>
            </a:extLst>
          </p:cNvPr>
          <p:cNvSpPr>
            <a:spLocks xmlns:a="http://schemas.openxmlformats.org/drawingml/2006/main" noGrp="1"/>
          </p:cNvSpPr>
          <p:nvPr/>
        </p:nvSpPr>
        <p:spPr>
          <a:xfrm xmlns:a="http://schemas.openxmlformats.org/drawingml/2006/main">
            <a:off x="9685973" y="3804285"/>
            <a:ext cx="220028" cy="1095375"/>
          </a:xfrm>
          <a:prstGeom xmlns:a="http://schemas.openxmlformats.org/drawingml/2006/main" prst="rect">
            <a:avLst/>
          </a:prstGeom>
          <a:solidFill xmlns:a="http://schemas.openxmlformats.org/drawingml/2006/main">
            <a:srgbClr val="D9D9D9"/>
          </a:solidFill>
          <a:ln xmlns:a="http://schemas.openxmlformats.org/drawingml/2006/main" w="7620">
            <a:solidFill>
              <a:srgbClr val="767171"/>
            </a:solidFill>
            <a:prstDash val="solid"/>
          </a:ln>
        </p:spPr>
      </p:sp>
      <p:sp>
        <p:nvSpPr>
          <p:cNvPr id="196" name="">
            <a:extLst xmlns:a="http://schemas.openxmlformats.org/drawingml/2006/main">
              <a:ext uri="{FF2B5EF4-FFF2-40B4-BE49-F238E27FC236}">
                <a16:creationId xmlns:a16="http://schemas.microsoft.com/office/drawing/2014/main" id="{9D8B9FCB-4721-46C5-B2BF-6292328B4713}"/>
              </a:ext>
            </a:extLst>
          </p:cNvPr>
          <p:cNvSpPr>
            <a:spLocks xmlns:a="http://schemas.openxmlformats.org/drawingml/2006/main" noGrp="1"/>
          </p:cNvSpPr>
          <p:nvPr/>
        </p:nvSpPr>
        <p:spPr>
          <a:xfrm xmlns:a="http://schemas.openxmlformats.org/drawingml/2006/main">
            <a:off x="8648700" y="4724400"/>
            <a:ext cx="408623" cy="262890"/>
          </a:xfrm>
          <a:prstGeom xmlns:a="http://schemas.openxmlformats.org/drawingml/2006/main" prst="rect">
            <a:avLst/>
          </a:prstGeom>
          <a:solidFill xmlns:a="http://schemas.openxmlformats.org/drawingml/2006/main">
            <a:srgbClr val="DDEBF7"/>
          </a:solidFill>
          <a:ln xmlns:a="http://schemas.openxmlformats.org/drawingml/2006/main" w="9525">
            <a:solidFill>
              <a:srgbClr val="4472C4"/>
            </a:solidFill>
            <a:prstDash val="solid"/>
          </a:ln>
        </p:spPr>
      </p:sp>
      <p:sp>
        <p:nvSpPr>
          <p:cNvPr id="197" name="">
            <a:extLst xmlns:a="http://schemas.openxmlformats.org/drawingml/2006/main">
              <a:ext uri="{FF2B5EF4-FFF2-40B4-BE49-F238E27FC236}">
                <a16:creationId xmlns:a16="http://schemas.microsoft.com/office/drawing/2014/main" id="{51518883-E184-423E-AFE1-AC8DC20D6FED}"/>
              </a:ext>
            </a:extLst>
          </p:cNvPr>
          <p:cNvSpPr>
            <a:spLocks xmlns:a="http://schemas.openxmlformats.org/drawingml/2006/main" noGrp="1"/>
          </p:cNvSpPr>
          <p:nvPr/>
        </p:nvSpPr>
        <p:spPr>
          <a:xfrm xmlns:a="http://schemas.openxmlformats.org/drawingml/2006/main">
            <a:off x="8632984" y="4801076"/>
            <a:ext cx="44005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638" b="1">
                <a:solidFill>
                  <a:srgbClr val="4472C4"/>
                </a:solidFill>
              </a:defRPr>
            </a:pPr>
            <a:r>
              <a:rPr sz="638" b="1">
                <a:solidFill>
                  <a:srgbClr val="4472C4"/>
                </a:solidFill>
              </a:rPr>
              <a:t>robot</a:t>
            </a:r>
          </a:p>
        </p:txBody>
      </p:sp>
      <p:sp>
        <p:nvSpPr>
          <p:cNvPr id="198" name="">
            <a:extLst xmlns:a="http://schemas.openxmlformats.org/drawingml/2006/main">
              <a:ext uri="{FF2B5EF4-FFF2-40B4-BE49-F238E27FC236}">
                <a16:creationId xmlns:a16="http://schemas.microsoft.com/office/drawing/2014/main" id="{62F5E699-33B3-4CF7-BC0D-9619479CEA3F}"/>
              </a:ext>
            </a:extLst>
          </p:cNvPr>
          <p:cNvSpPr>
            <a:spLocks xmlns:a="http://schemas.openxmlformats.org/drawingml/2006/main" noGrp="1"/>
          </p:cNvSpPr>
          <p:nvPr/>
        </p:nvSpPr>
        <p:spPr>
          <a:xfrm xmlns:a="http://schemas.openxmlformats.org/drawingml/2006/main">
            <a:off x="9025890" y="4768215"/>
            <a:ext cx="660082" cy="-416243"/>
          </a:xfrm>
          <a:prstGeom xmlns:a="http://schemas.openxmlformats.org/drawingml/2006/main" prst="line">
            <a:avLst/>
          </a:prstGeom>
          <a:noFill xmlns:a="http://schemas.openxmlformats.org/drawingml/2006/main"/>
          <a:ln xmlns:a="http://schemas.openxmlformats.org/drawingml/2006/main" w="7620">
            <a:solidFill>
              <a:srgbClr val="4472C4"/>
            </a:solidFill>
            <a:prstDash val="solid"/>
          </a:ln>
        </p:spPr>
      </p:sp>
      <p:sp>
        <p:nvSpPr>
          <p:cNvPr id="199" name="">
            <a:extLst xmlns:a="http://schemas.openxmlformats.org/drawingml/2006/main">
              <a:ext uri="{FF2B5EF4-FFF2-40B4-BE49-F238E27FC236}">
                <a16:creationId xmlns:a16="http://schemas.microsoft.com/office/drawing/2014/main" id="{2E582193-4B0B-4ACF-80E7-9415C8DABA2E}"/>
              </a:ext>
            </a:extLst>
          </p:cNvPr>
          <p:cNvSpPr>
            <a:spLocks xmlns:a="http://schemas.openxmlformats.org/drawingml/2006/main" noGrp="1"/>
          </p:cNvSpPr>
          <p:nvPr/>
        </p:nvSpPr>
        <p:spPr>
          <a:xfrm xmlns:a="http://schemas.openxmlformats.org/drawingml/2006/main">
            <a:off x="9025890" y="4899660"/>
            <a:ext cx="660082" cy="-438150"/>
          </a:xfrm>
          <a:prstGeom xmlns:a="http://schemas.openxmlformats.org/drawingml/2006/main" prst="line">
            <a:avLst/>
          </a:prstGeom>
          <a:noFill xmlns:a="http://schemas.openxmlformats.org/drawingml/2006/main"/>
          <a:ln xmlns:a="http://schemas.openxmlformats.org/drawingml/2006/main" w="7620">
            <a:solidFill>
              <a:srgbClr val="4472C4"/>
            </a:solidFill>
            <a:prstDash val="solid"/>
          </a:ln>
        </p:spPr>
      </p:sp>
      <p:sp>
        <p:nvSpPr>
          <p:cNvPr id="200" name="">
            <a:extLst xmlns:a="http://schemas.openxmlformats.org/drawingml/2006/main">
              <a:ext uri="{FF2B5EF4-FFF2-40B4-BE49-F238E27FC236}">
                <a16:creationId xmlns:a16="http://schemas.microsoft.com/office/drawing/2014/main" id="{C1D0A9A4-9C1D-4318-8948-0456BCAAF93A}"/>
              </a:ext>
            </a:extLst>
          </p:cNvPr>
          <p:cNvSpPr>
            <a:spLocks xmlns:a="http://schemas.openxmlformats.org/drawingml/2006/main" noGrp="1"/>
          </p:cNvSpPr>
          <p:nvPr/>
        </p:nvSpPr>
        <p:spPr>
          <a:xfrm xmlns:a="http://schemas.openxmlformats.org/drawingml/2006/main">
            <a:off x="9245918" y="4089083"/>
            <a:ext cx="125730" cy="125730"/>
          </a:xfrm>
          <a:prstGeom xmlns:a="http://schemas.openxmlformats.org/drawingml/2006/main" prst="ellipse">
            <a:avLst/>
          </a:prstGeom>
          <a:solidFill xmlns:a="http://schemas.openxmlformats.org/drawingml/2006/main">
            <a:srgbClr val="E2F0D9"/>
          </a:solidFill>
          <a:ln xmlns:a="http://schemas.openxmlformats.org/drawingml/2006/main" w="8573">
            <a:solidFill>
              <a:srgbClr val="70AD47"/>
            </a:solidFill>
            <a:prstDash val="solid"/>
          </a:ln>
        </p:spPr>
      </p:sp>
      <p:sp>
        <p:nvSpPr>
          <p:cNvPr id="201" name="">
            <a:extLst xmlns:a="http://schemas.openxmlformats.org/drawingml/2006/main">
              <a:ext uri="{FF2B5EF4-FFF2-40B4-BE49-F238E27FC236}">
                <a16:creationId xmlns:a16="http://schemas.microsoft.com/office/drawing/2014/main" id="{E24325F2-5143-420E-A733-1D1C06DD7D8E}"/>
              </a:ext>
            </a:extLst>
          </p:cNvPr>
          <p:cNvSpPr>
            <a:spLocks xmlns:a="http://schemas.openxmlformats.org/drawingml/2006/main" noGrp="1"/>
          </p:cNvSpPr>
          <p:nvPr/>
        </p:nvSpPr>
        <p:spPr>
          <a:xfrm xmlns:a="http://schemas.openxmlformats.org/drawingml/2006/main">
            <a:off x="9308783" y="4220528"/>
            <a:ext cx="0" cy="328613"/>
          </a:xfrm>
          <a:prstGeom xmlns:a="http://schemas.openxmlformats.org/drawingml/2006/main" prst="line">
            <a:avLst/>
          </a:prstGeom>
          <a:noFill xmlns:a="http://schemas.openxmlformats.org/drawingml/2006/main"/>
          <a:ln xmlns:a="http://schemas.openxmlformats.org/drawingml/2006/main" w="13335">
            <a:solidFill>
              <a:srgbClr val="70AD47"/>
            </a:solidFill>
            <a:prstDash val="solid"/>
          </a:ln>
        </p:spPr>
      </p:sp>
      <p:sp>
        <p:nvSpPr>
          <p:cNvPr id="202" name="">
            <a:extLst xmlns:a="http://schemas.openxmlformats.org/drawingml/2006/main">
              <a:ext uri="{FF2B5EF4-FFF2-40B4-BE49-F238E27FC236}">
                <a16:creationId xmlns:a16="http://schemas.microsoft.com/office/drawing/2014/main" id="{FF79376B-6D69-4565-8B4D-79CEAEC376CA}"/>
              </a:ext>
            </a:extLst>
          </p:cNvPr>
          <p:cNvSpPr>
            <a:spLocks xmlns:a="http://schemas.openxmlformats.org/drawingml/2006/main" noGrp="1"/>
          </p:cNvSpPr>
          <p:nvPr/>
        </p:nvSpPr>
        <p:spPr>
          <a:xfrm xmlns:a="http://schemas.openxmlformats.org/drawingml/2006/main">
            <a:off x="9308783" y="4330065"/>
            <a:ext cx="188595" cy="87630"/>
          </a:xfrm>
          <a:prstGeom xmlns:a="http://schemas.openxmlformats.org/drawingml/2006/main" prst="line">
            <a:avLst/>
          </a:prstGeom>
          <a:noFill xmlns:a="http://schemas.openxmlformats.org/drawingml/2006/main"/>
          <a:ln xmlns:a="http://schemas.openxmlformats.org/drawingml/2006/main" w="11430">
            <a:solidFill>
              <a:srgbClr val="70AD47"/>
            </a:solidFill>
            <a:prstDash val="solid"/>
          </a:ln>
        </p:spPr>
      </p:sp>
      <p:sp>
        <p:nvSpPr>
          <p:cNvPr id="203" name="">
            <a:extLst xmlns:a="http://schemas.openxmlformats.org/drawingml/2006/main">
              <a:ext uri="{FF2B5EF4-FFF2-40B4-BE49-F238E27FC236}">
                <a16:creationId xmlns:a16="http://schemas.microsoft.com/office/drawing/2014/main" id="{247F1CE9-86EC-49B4-B406-A344D9D4CBA2}"/>
              </a:ext>
            </a:extLst>
          </p:cNvPr>
          <p:cNvSpPr>
            <a:spLocks xmlns:a="http://schemas.openxmlformats.org/drawingml/2006/main" noGrp="1"/>
          </p:cNvSpPr>
          <p:nvPr/>
        </p:nvSpPr>
        <p:spPr>
          <a:xfrm xmlns:a="http://schemas.openxmlformats.org/drawingml/2006/main">
            <a:off x="9843135" y="4242435"/>
            <a:ext cx="440055" cy="197168"/>
          </a:xfrm>
          <a:prstGeom xmlns:a="http://schemas.openxmlformats.org/drawingml/2006/main" prst="rect">
            <a:avLst/>
          </a:prstGeom>
          <a:solidFill xmlns:a="http://schemas.openxmlformats.org/drawingml/2006/main">
            <a:srgbClr val="FFFFFF"/>
          </a:solidFill>
          <a:ln xmlns:a="http://schemas.openxmlformats.org/drawingml/2006/main" w="14288">
            <a:solidFill>
              <a:srgbClr val="8064A2"/>
            </a:solidFill>
            <a:prstDash val="solid"/>
          </a:ln>
        </p:spPr>
      </p:sp>
      <p:sp>
        <p:nvSpPr>
          <p:cNvPr id="204" name="">
            <a:extLst xmlns:a="http://schemas.openxmlformats.org/drawingml/2006/main">
              <a:ext uri="{FF2B5EF4-FFF2-40B4-BE49-F238E27FC236}">
                <a16:creationId xmlns:a16="http://schemas.microsoft.com/office/drawing/2014/main" id="{1C90C2A2-84E9-4F7E-A58F-9EF44C24EA4F}"/>
              </a:ext>
            </a:extLst>
          </p:cNvPr>
          <p:cNvSpPr>
            <a:spLocks xmlns:a="http://schemas.openxmlformats.org/drawingml/2006/main" noGrp="1"/>
          </p:cNvSpPr>
          <p:nvPr/>
        </p:nvSpPr>
        <p:spPr>
          <a:xfrm xmlns:a="http://schemas.openxmlformats.org/drawingml/2006/main">
            <a:off x="9906000" y="4417695"/>
            <a:ext cx="78581" cy="78581"/>
          </a:xfrm>
          <a:prstGeom xmlns:a="http://schemas.openxmlformats.org/drawingml/2006/main" prst="ellipse">
            <a:avLst/>
          </a:prstGeom>
          <a:solidFill xmlns:a="http://schemas.openxmlformats.org/drawingml/2006/main">
            <a:srgbClr val="3A3838"/>
          </a:solidFill>
          <a:ln xmlns:a="http://schemas.openxmlformats.org/drawingml/2006/main" w="4763">
            <a:solidFill>
              <a:srgbClr val="3A3838"/>
            </a:solidFill>
            <a:prstDash val="solid"/>
          </a:ln>
        </p:spPr>
      </p:sp>
      <p:sp>
        <p:nvSpPr>
          <p:cNvPr id="205" name="">
            <a:extLst xmlns:a="http://schemas.openxmlformats.org/drawingml/2006/main">
              <a:ext uri="{FF2B5EF4-FFF2-40B4-BE49-F238E27FC236}">
                <a16:creationId xmlns:a16="http://schemas.microsoft.com/office/drawing/2014/main" id="{60680906-C2A0-4886-B0E8-E7F4386F0F20}"/>
              </a:ext>
            </a:extLst>
          </p:cNvPr>
          <p:cNvSpPr>
            <a:spLocks xmlns:a="http://schemas.openxmlformats.org/drawingml/2006/main" noGrp="1"/>
          </p:cNvSpPr>
          <p:nvPr/>
        </p:nvSpPr>
        <p:spPr>
          <a:xfrm xmlns:a="http://schemas.openxmlformats.org/drawingml/2006/main">
            <a:off x="10157460" y="4417695"/>
            <a:ext cx="78581" cy="78581"/>
          </a:xfrm>
          <a:prstGeom xmlns:a="http://schemas.openxmlformats.org/drawingml/2006/main" prst="ellipse">
            <a:avLst/>
          </a:prstGeom>
          <a:solidFill xmlns:a="http://schemas.openxmlformats.org/drawingml/2006/main">
            <a:srgbClr val="3A3838"/>
          </a:solidFill>
          <a:ln xmlns:a="http://schemas.openxmlformats.org/drawingml/2006/main" w="4763">
            <a:solidFill>
              <a:srgbClr val="3A3838"/>
            </a:solidFill>
            <a:prstDash val="solid"/>
          </a:ln>
        </p:spPr>
      </p:sp>
      <p:sp>
        <p:nvSpPr>
          <p:cNvPr id="206" name="">
            <a:extLst xmlns:a="http://schemas.openxmlformats.org/drawingml/2006/main">
              <a:ext uri="{FF2B5EF4-FFF2-40B4-BE49-F238E27FC236}">
                <a16:creationId xmlns:a16="http://schemas.microsoft.com/office/drawing/2014/main" id="{32082E49-EF71-4FA1-B92B-7514843A06BB}"/>
              </a:ext>
            </a:extLst>
          </p:cNvPr>
          <p:cNvSpPr>
            <a:spLocks xmlns:a="http://schemas.openxmlformats.org/drawingml/2006/main" noGrp="1"/>
          </p:cNvSpPr>
          <p:nvPr/>
        </p:nvSpPr>
        <p:spPr>
          <a:xfrm xmlns:a="http://schemas.openxmlformats.org/drawingml/2006/main">
            <a:off x="10283190" y="422338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8064A2"/>
                </a:solidFill>
              </a:defRPr>
            </a:pPr>
            <a:r>
              <a:rPr sz="1500" b="1">
                <a:solidFill>
                  <a:srgbClr val="8064A2"/>
                </a:solidFill>
              </a:rPr>
              <a:t>→</a:t>
            </a:r>
          </a:p>
        </p:txBody>
      </p:sp>
      <p:sp>
        <p:nvSpPr>
          <p:cNvPr id="207" name="">
            <a:extLst xmlns:a="http://schemas.openxmlformats.org/drawingml/2006/main">
              <a:ext uri="{FF2B5EF4-FFF2-40B4-BE49-F238E27FC236}">
                <a16:creationId xmlns:a16="http://schemas.microsoft.com/office/drawing/2014/main" id="{FF94FDD3-9504-4EE4-892C-673A31A5D573}"/>
              </a:ext>
            </a:extLst>
          </p:cNvPr>
          <p:cNvSpPr>
            <a:spLocks xmlns:a="http://schemas.openxmlformats.org/drawingml/2006/main" noGrp="1"/>
          </p:cNvSpPr>
          <p:nvPr/>
        </p:nvSpPr>
        <p:spPr>
          <a:xfrm xmlns:a="http://schemas.openxmlformats.org/drawingml/2006/main">
            <a:off x="8334375" y="296227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63" b="1">
                <a:solidFill>
                  <a:srgbClr val="3A3838"/>
                </a:solidFill>
              </a:defRPr>
            </a:pPr>
            <a:r>
              <a:rPr sz="863" b="1">
                <a:solidFill>
                  <a:srgbClr val="3A3838"/>
                </a:solidFill>
              </a:rPr>
              <a:t>Branch 3 — cart stops hidden</a:t>
            </a:r>
          </a:p>
        </p:txBody>
      </p:sp>
      <p:sp>
        <p:nvSpPr>
          <p:cNvPr id="208" name="">
            <a:extLst xmlns:a="http://schemas.openxmlformats.org/drawingml/2006/main">
              <a:ext uri="{FF2B5EF4-FFF2-40B4-BE49-F238E27FC236}">
                <a16:creationId xmlns:a16="http://schemas.microsoft.com/office/drawing/2014/main" id="{78298C05-BFC1-4921-8552-702D44CB02C5}"/>
              </a:ext>
            </a:extLst>
          </p:cNvPr>
          <p:cNvSpPr>
            <a:spLocks xmlns:a="http://schemas.openxmlformats.org/drawingml/2006/main" noGrp="1"/>
          </p:cNvSpPr>
          <p:nvPr/>
        </p:nvSpPr>
        <p:spPr>
          <a:xfrm xmlns:a="http://schemas.openxmlformats.org/drawingml/2006/main">
            <a:off x="8334375" y="543877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b="1">
                <a:solidFill>
                  <a:srgbClr val="8064A2"/>
                </a:solidFill>
              </a:defRPr>
            </a:pPr>
            <a:r>
              <a:rPr sz="788" b="1">
                <a:solidFill>
                  <a:srgbClr val="8064A2"/>
                </a:solidFill>
              </a:rPr>
              <a:t>weight 0.22</a:t>
            </a:r>
          </a:p>
        </p:txBody>
      </p:sp>
      <p:sp>
        <p:nvSpPr>
          <p:cNvPr id="209" name="">
            <a:extLst xmlns:a="http://schemas.openxmlformats.org/drawingml/2006/main">
              <a:ext uri="{FF2B5EF4-FFF2-40B4-BE49-F238E27FC236}">
                <a16:creationId xmlns:a16="http://schemas.microsoft.com/office/drawing/2014/main" id="{6F1FF382-9EA6-4EF7-80BA-BF7321E2DDA8}"/>
              </a:ext>
            </a:extLst>
          </p:cNvPr>
          <p:cNvSpPr>
            <a:spLocks xmlns:a="http://schemas.openxmlformats.org/drawingml/2006/main" noGrp="1"/>
          </p:cNvSpPr>
          <p:nvPr/>
        </p:nvSpPr>
        <p:spPr>
          <a:xfrm xmlns:a="http://schemas.openxmlformats.org/drawingml/2006/main">
            <a:off x="1285875" y="5676900"/>
            <a:ext cx="962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8064A2"/>
                </a:solidFill>
              </a:defRPr>
            </a:pPr>
            <a:r>
              <a:rPr sz="975" b="1">
                <a:solidFill>
                  <a:srgbClr val="8064A2"/>
                </a:solidFill>
              </a:rPr>
              <a:t>[ψ] lies in complex projective space CP^(d−1). A branch label is useful only if the model keeps it operational during dynamics or readout.</a:t>
            </a:r>
          </a:p>
        </p:txBody>
      </p:sp>
      <p:sp>
        <p:nvSpPr>
          <p:cNvPr id="210" name="">
            <a:extLst xmlns:a="http://schemas.openxmlformats.org/drawingml/2006/main">
              <a:ext uri="{FF2B5EF4-FFF2-40B4-BE49-F238E27FC236}">
                <a16:creationId xmlns:a16="http://schemas.microsoft.com/office/drawing/2014/main" id="{5FA4563A-4CB5-480F-A75B-7717A3D6A239}"/>
              </a:ext>
            </a:extLst>
          </p:cNvPr>
          <p:cNvSpPr>
            <a:spLocks xmlns:a="http://schemas.openxmlformats.org/drawingml/2006/main" noGrp="1"/>
          </p:cNvSpPr>
          <p:nvPr/>
        </p:nvSpPr>
        <p:spPr>
          <a:xfrm xmlns:a="http://schemas.openxmlformats.org/drawingml/2006/main">
            <a:off x="523875" y="6238875"/>
            <a:ext cx="1109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0">
                <a:solidFill>
                  <a:srgbClr val="767171"/>
                </a:solidFill>
              </a:defRPr>
            </a:pPr>
            <a:r>
              <a:rPr sz="660" b="0">
                <a:solidFill>
                  <a:srgbClr val="767171"/>
                </a:solidFill>
              </a:rPr>
              <a:t>[9] Hughston, Jozsa &amp; Wootters, Phys. Lett. A 183 (1993).  Projective-state geometry is not a literal room shape.</a:t>
            </a:r>
          </a:p>
        </p:txBody>
      </p:sp>
    </p:spTree>
    <p:extLst>
      <p:ext uri="{BB962C8B-B14F-4D97-AF65-F5344CB8AC3E}">
        <p14:creationId xmlns:p14="http://schemas.microsoft.com/office/powerpoint/2010/main" val="179007873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96" name="Google Shape;196;p21">
            <a:extLst xmlns:a="http://schemas.openxmlformats.org/drawingml/2006/main">
              <a:ext uri="{FF2B5EF4-FFF2-40B4-BE49-F238E27FC236}">
                <a16:creationId xmlns:a16="http://schemas.microsoft.com/office/drawing/2014/main" id="{1AC0D031-62E7-4FF2-A8D3-1D876198AF1E}"/>
              </a:ext>
            </a:extLst>
          </p:cNvPr>
          <p:cNvSpPr>
            <a:spLocks xmlns:a="http://schemas.openxmlformats.org/drawingml/2006/main" noGrp="1"/>
          </p:cNvSpPr>
          <p:nvPr>
            <p:ph type="title" idx="0"/>
          </p:nvPr>
        </p:nvSpPr>
        <p:spPr>
          <a:xfrm xmlns:a="http://schemas.openxmlformats.org/drawingml/2006/main">
            <a:off x="444532" y="430625"/>
            <a:ext cx="11210544" cy="5577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indent="0" algn="l">
              <a:spcBef>
                <a:spcPts val="0"/>
              </a:spcBef>
              <a:spcAft>
                <a:spcPts val="0"/>
              </a:spcAft>
              <a:buNone/>
              <a:defRPr sz="2100" b="0">
                <a:solidFill>
                  <a:srgbClr val="3A3838"/>
                </a:solidFill>
              </a:defRPr>
            </a:pPr>
            <a:r>
              <a:rPr sz="2100" b="0">
                <a:solidFill>
                  <a:srgbClr val="3A3838"/>
                </a:solidFill>
              </a:rPr>
              <a:t>Trajectory Ensemble Core: Branch-Aware Prediction and Planning</a:t>
            </a:r>
          </a:p>
        </p:txBody>
      </p:sp>
      <p:sp>
        <p:nvSpPr>
          <p:cNvPr id="197" name="">
            <a:extLst xmlns:a="http://schemas.openxmlformats.org/drawingml/2006/main">
              <a:ext uri="{FF2B5EF4-FFF2-40B4-BE49-F238E27FC236}">
                <a16:creationId xmlns:a16="http://schemas.microsoft.com/office/drawing/2014/main" id="{63FCE30F-063F-45EF-AD23-CA2992838962}"/>
              </a:ext>
            </a:extLst>
          </p:cNvPr>
          <p:cNvSpPr>
            <a:spLocks xmlns:a="http://schemas.openxmlformats.org/drawingml/2006/main" noGrp="1"/>
          </p:cNvSpPr>
          <p:nvPr/>
        </p:nvSpPr>
        <p:spPr>
          <a:xfrm xmlns:a="http://schemas.openxmlformats.org/drawingml/2006/main">
            <a:off x="444532" y="1097280"/>
            <a:ext cx="11210544" cy="17145"/>
          </a:xfrm>
          <a:prstGeom xmlns:a="http://schemas.openxmlformats.org/drawingml/2006/main" prst="rect">
            <a:avLst/>
          </a:prstGeom>
          <a:solidFill xmlns:a="http://schemas.openxmlformats.org/drawingml/2006/main">
            <a:srgbClr val="D24726"/>
          </a:solidFill>
          <a:ln xmlns:a="http://schemas.openxmlformats.org/drawingml/2006/main" w="0">
            <a:solidFill>
              <a:srgbClr val="D24726"/>
            </a:solidFill>
            <a:prstDash val="solid"/>
          </a:ln>
        </p:spPr>
      </p:sp>
      <p:sp>
        <p:nvSpPr>
          <p:cNvPr id="198" name="">
            <a:extLst xmlns:a="http://schemas.openxmlformats.org/drawingml/2006/main">
              <a:ext uri="{FF2B5EF4-FFF2-40B4-BE49-F238E27FC236}">
                <a16:creationId xmlns:a16="http://schemas.microsoft.com/office/drawing/2014/main" id="{07206422-7B34-454B-89FD-575163404B37}"/>
              </a:ext>
            </a:extLst>
          </p:cNvPr>
          <p:cNvSpPr>
            <a:spLocks xmlns:a="http://schemas.openxmlformats.org/drawingml/2006/main" noGrp="1"/>
          </p:cNvSpPr>
          <p:nvPr/>
        </p:nvSpPr>
        <p:spPr>
          <a:xfrm xmlns:a="http://schemas.openxmlformats.org/drawingml/2006/main">
            <a:off x="457200" y="1381125"/>
            <a:ext cx="11144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0">
                <a:solidFill>
                  <a:srgbClr val="3A3838"/>
                </a:solidFill>
              </a:defRPr>
            </a:pPr>
            <a:r>
              <a:rPr sz="1238" b="0">
                <a:solidFill>
                  <a:srgbClr val="3A3838"/>
                </a:solidFill>
              </a:rPr>
              <a:t>The key architectural choice is to roll each branch separately long enough for actions and evidence to affect it differently.</a:t>
            </a:r>
          </a:p>
        </p:txBody>
      </p:sp>
      <p:sp>
        <p:nvSpPr>
          <p:cNvPr id="199" name="">
            <a:extLst xmlns:a="http://schemas.openxmlformats.org/drawingml/2006/main">
              <a:ext uri="{FF2B5EF4-FFF2-40B4-BE49-F238E27FC236}">
                <a16:creationId xmlns:a16="http://schemas.microsoft.com/office/drawing/2014/main" id="{F998BC75-89C8-422C-90E7-67546461F6BD}"/>
              </a:ext>
            </a:extLst>
          </p:cNvPr>
          <p:cNvSpPr>
            <a:spLocks xmlns:a="http://schemas.openxmlformats.org/drawingml/2006/main" noGrp="1"/>
          </p:cNvSpPr>
          <p:nvPr/>
        </p:nvSpPr>
        <p:spPr>
          <a:xfrm xmlns:a="http://schemas.openxmlformats.org/drawingml/2006/main">
            <a:off x="781050" y="2333625"/>
            <a:ext cx="1847850" cy="609600"/>
          </a:xfrm>
          <a:prstGeom xmlns:a="http://schemas.openxmlformats.org/drawingml/2006/main" prst="rect">
            <a:avLst/>
          </a:prstGeom>
          <a:solidFill xmlns:a="http://schemas.openxmlformats.org/drawingml/2006/main">
            <a:srgbClr val="E4DFEC"/>
          </a:solidFill>
          <a:ln xmlns:a="http://schemas.openxmlformats.org/drawingml/2006/main" w="9525">
            <a:solidFill>
              <a:srgbClr val="B7B7B7"/>
            </a:solidFill>
            <a:prstDash val="solid"/>
          </a:ln>
        </p:spPr>
      </p:sp>
      <p:sp>
        <p:nvSpPr>
          <p:cNvPr id="200" name="">
            <a:extLst xmlns:a="http://schemas.openxmlformats.org/drawingml/2006/main">
              <a:ext uri="{FF2B5EF4-FFF2-40B4-BE49-F238E27FC236}">
                <a16:creationId xmlns:a16="http://schemas.microsoft.com/office/drawing/2014/main" id="{B69735E8-C2A0-434D-AAEB-AB4E64FB370E}"/>
              </a:ext>
            </a:extLst>
          </p:cNvPr>
          <p:cNvSpPr>
            <a:spLocks xmlns:a="http://schemas.openxmlformats.org/drawingml/2006/main" noGrp="1"/>
          </p:cNvSpPr>
          <p:nvPr/>
        </p:nvSpPr>
        <p:spPr>
          <a:xfrm xmlns:a="http://schemas.openxmlformats.org/drawingml/2006/main">
            <a:off x="857250" y="2428875"/>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3A3838"/>
                </a:solidFill>
              </a:defRPr>
            </a:pPr>
            <a:r>
              <a:rPr sz="1050" b="1">
                <a:solidFill>
                  <a:srgbClr val="3A3838"/>
                </a:solidFill>
              </a:rPr>
              <a:t>weighted room branches</a:t>
            </a:r>
          </a:p>
        </p:txBody>
      </p:sp>
      <p:sp>
        <p:nvSpPr>
          <p:cNvPr id="201" name="">
            <a:extLst xmlns:a="http://schemas.openxmlformats.org/drawingml/2006/main">
              <a:ext uri="{FF2B5EF4-FFF2-40B4-BE49-F238E27FC236}">
                <a16:creationId xmlns:a16="http://schemas.microsoft.com/office/drawing/2014/main" id="{398BFA37-1C7F-4999-AFFD-A481AE8BB9F6}"/>
              </a:ext>
            </a:extLst>
          </p:cNvPr>
          <p:cNvSpPr>
            <a:spLocks xmlns:a="http://schemas.openxmlformats.org/drawingml/2006/main" noGrp="1"/>
          </p:cNvSpPr>
          <p:nvPr/>
        </p:nvSpPr>
        <p:spPr>
          <a:xfrm xmlns:a="http://schemas.openxmlformats.org/drawingml/2006/main">
            <a:off x="857250" y="2676525"/>
            <a:ext cx="1695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b="0">
                <a:solidFill>
                  <a:srgbClr val="767171"/>
                </a:solidFill>
              </a:defRPr>
            </a:pPr>
            <a:r>
              <a:rPr sz="788" b="0">
                <a:solidFill>
                  <a:srgbClr val="767171"/>
                </a:solidFill>
              </a:rPr>
              <a:t>(wₘ, ψₘ)</a:t>
            </a:r>
          </a:p>
        </p:txBody>
      </p:sp>
      <p:sp>
        <p:nvSpPr>
          <p:cNvPr id="202" name="">
            <a:extLst xmlns:a="http://schemas.openxmlformats.org/drawingml/2006/main">
              <a:ext uri="{FF2B5EF4-FFF2-40B4-BE49-F238E27FC236}">
                <a16:creationId xmlns:a16="http://schemas.microsoft.com/office/drawing/2014/main" id="{FADF7308-2F05-474F-B598-A02BFF03B835}"/>
              </a:ext>
            </a:extLst>
          </p:cNvPr>
          <p:cNvSpPr>
            <a:spLocks xmlns:a="http://schemas.openxmlformats.org/drawingml/2006/main" noGrp="1"/>
          </p:cNvSpPr>
          <p:nvPr/>
        </p:nvSpPr>
        <p:spPr>
          <a:xfrm xmlns:a="http://schemas.openxmlformats.org/drawingml/2006/main">
            <a:off x="2638425" y="2505075"/>
            <a:ext cx="3143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D24726"/>
                </a:solidFill>
              </a:defRPr>
            </a:pPr>
            <a:r>
              <a:rPr sz="1500" b="1">
                <a:solidFill>
                  <a:srgbClr val="D24726"/>
                </a:solidFill>
              </a:rPr>
              <a:t>→</a:t>
            </a:r>
          </a:p>
        </p:txBody>
      </p:sp>
      <p:sp>
        <p:nvSpPr>
          <p:cNvPr id="203" name="">
            <a:extLst xmlns:a="http://schemas.openxmlformats.org/drawingml/2006/main">
              <a:ext uri="{FF2B5EF4-FFF2-40B4-BE49-F238E27FC236}">
                <a16:creationId xmlns:a16="http://schemas.microsoft.com/office/drawing/2014/main" id="{41974409-7CDC-496F-A595-68B5C963C3BD}"/>
              </a:ext>
            </a:extLst>
          </p:cNvPr>
          <p:cNvSpPr>
            <a:spLocks xmlns:a="http://schemas.openxmlformats.org/drawingml/2006/main" noGrp="1"/>
          </p:cNvSpPr>
          <p:nvPr/>
        </p:nvSpPr>
        <p:spPr>
          <a:xfrm xmlns:a="http://schemas.openxmlformats.org/drawingml/2006/main">
            <a:off x="2962275" y="2333625"/>
            <a:ext cx="184785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B7B7B7"/>
            </a:solidFill>
            <a:prstDash val="solid"/>
          </a:ln>
        </p:spPr>
      </p:sp>
      <p:sp>
        <p:nvSpPr>
          <p:cNvPr id="204" name="">
            <a:extLst xmlns:a="http://schemas.openxmlformats.org/drawingml/2006/main">
              <a:ext uri="{FF2B5EF4-FFF2-40B4-BE49-F238E27FC236}">
                <a16:creationId xmlns:a16="http://schemas.microsoft.com/office/drawing/2014/main" id="{6C8C5AA1-1900-4A45-B16A-A36A495F448D}"/>
              </a:ext>
            </a:extLst>
          </p:cNvPr>
          <p:cNvSpPr>
            <a:spLocks xmlns:a="http://schemas.openxmlformats.org/drawingml/2006/main" noGrp="1"/>
          </p:cNvSpPr>
          <p:nvPr/>
        </p:nvSpPr>
        <p:spPr>
          <a:xfrm xmlns:a="http://schemas.openxmlformats.org/drawingml/2006/main">
            <a:off x="3038475" y="2428875"/>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3A3838"/>
                </a:solidFill>
              </a:defRPr>
            </a:pPr>
            <a:r>
              <a:rPr sz="1050" b="1">
                <a:solidFill>
                  <a:srgbClr val="3A3838"/>
                </a:solidFill>
              </a:rPr>
              <a:t>candidate action u</a:t>
            </a:r>
          </a:p>
        </p:txBody>
      </p:sp>
      <p:sp>
        <p:nvSpPr>
          <p:cNvPr id="205" name="">
            <a:extLst xmlns:a="http://schemas.openxmlformats.org/drawingml/2006/main">
              <a:ext uri="{FF2B5EF4-FFF2-40B4-BE49-F238E27FC236}">
                <a16:creationId xmlns:a16="http://schemas.microsoft.com/office/drawing/2014/main" id="{E526CE41-3F1A-43A1-A2C7-EDB1C812E731}"/>
              </a:ext>
            </a:extLst>
          </p:cNvPr>
          <p:cNvSpPr>
            <a:spLocks xmlns:a="http://schemas.openxmlformats.org/drawingml/2006/main" noGrp="1"/>
          </p:cNvSpPr>
          <p:nvPr/>
        </p:nvSpPr>
        <p:spPr>
          <a:xfrm xmlns:a="http://schemas.openxmlformats.org/drawingml/2006/main">
            <a:off x="3038475" y="2676525"/>
            <a:ext cx="1695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b="0">
                <a:solidFill>
                  <a:srgbClr val="767171"/>
                </a:solidFill>
              </a:defRPr>
            </a:pPr>
            <a:r>
              <a:rPr sz="788" b="0">
                <a:solidFill>
                  <a:srgbClr val="767171"/>
                </a:solidFill>
              </a:rPr>
              <a:t>wait / move / scan</a:t>
            </a:r>
          </a:p>
        </p:txBody>
      </p:sp>
      <p:sp>
        <p:nvSpPr>
          <p:cNvPr id="206" name="">
            <a:extLst xmlns:a="http://schemas.openxmlformats.org/drawingml/2006/main">
              <a:ext uri="{FF2B5EF4-FFF2-40B4-BE49-F238E27FC236}">
                <a16:creationId xmlns:a16="http://schemas.microsoft.com/office/drawing/2014/main" id="{F7851486-CDC1-47AB-9504-F45297611B60}"/>
              </a:ext>
            </a:extLst>
          </p:cNvPr>
          <p:cNvSpPr>
            <a:spLocks xmlns:a="http://schemas.openxmlformats.org/drawingml/2006/main" noGrp="1"/>
          </p:cNvSpPr>
          <p:nvPr/>
        </p:nvSpPr>
        <p:spPr>
          <a:xfrm xmlns:a="http://schemas.openxmlformats.org/drawingml/2006/main">
            <a:off x="4819650" y="2505075"/>
            <a:ext cx="3143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D24726"/>
                </a:solidFill>
              </a:defRPr>
            </a:pPr>
            <a:r>
              <a:rPr sz="1500" b="1">
                <a:solidFill>
                  <a:srgbClr val="D24726"/>
                </a:solidFill>
              </a:rPr>
              <a:t>→</a:t>
            </a:r>
          </a:p>
        </p:txBody>
      </p:sp>
      <p:sp>
        <p:nvSpPr>
          <p:cNvPr id="207" name="">
            <a:extLst xmlns:a="http://schemas.openxmlformats.org/drawingml/2006/main">
              <a:ext uri="{FF2B5EF4-FFF2-40B4-BE49-F238E27FC236}">
                <a16:creationId xmlns:a16="http://schemas.microsoft.com/office/drawing/2014/main" id="{A72668E3-BADB-4EBC-B6F7-5AEA4945AF93}"/>
              </a:ext>
            </a:extLst>
          </p:cNvPr>
          <p:cNvSpPr>
            <a:spLocks xmlns:a="http://schemas.openxmlformats.org/drawingml/2006/main" noGrp="1"/>
          </p:cNvSpPr>
          <p:nvPr/>
        </p:nvSpPr>
        <p:spPr>
          <a:xfrm xmlns:a="http://schemas.openxmlformats.org/drawingml/2006/main">
            <a:off x="5143500" y="2333625"/>
            <a:ext cx="1847850" cy="609600"/>
          </a:xfrm>
          <a:prstGeom xmlns:a="http://schemas.openxmlformats.org/drawingml/2006/main" prst="rect">
            <a:avLst/>
          </a:prstGeom>
          <a:solidFill xmlns:a="http://schemas.openxmlformats.org/drawingml/2006/main">
            <a:srgbClr val="FCE4D6"/>
          </a:solidFill>
          <a:ln xmlns:a="http://schemas.openxmlformats.org/drawingml/2006/main" w="9525">
            <a:solidFill>
              <a:srgbClr val="B7B7B7"/>
            </a:solidFill>
            <a:prstDash val="solid"/>
          </a:ln>
        </p:spPr>
      </p:sp>
      <p:sp>
        <p:nvSpPr>
          <p:cNvPr id="208" name="">
            <a:extLst xmlns:a="http://schemas.openxmlformats.org/drawingml/2006/main">
              <a:ext uri="{FF2B5EF4-FFF2-40B4-BE49-F238E27FC236}">
                <a16:creationId xmlns:a16="http://schemas.microsoft.com/office/drawing/2014/main" id="{B626A7E1-6812-4AFA-A8CF-FA2E84E53B8B}"/>
              </a:ext>
            </a:extLst>
          </p:cNvPr>
          <p:cNvSpPr>
            <a:spLocks xmlns:a="http://schemas.openxmlformats.org/drawingml/2006/main" noGrp="1"/>
          </p:cNvSpPr>
          <p:nvPr/>
        </p:nvSpPr>
        <p:spPr>
          <a:xfrm xmlns:a="http://schemas.openxmlformats.org/drawingml/2006/main">
            <a:off x="5219700" y="2428875"/>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3A3838"/>
                </a:solidFill>
              </a:defRPr>
            </a:pPr>
            <a:r>
              <a:rPr sz="1050" b="1">
                <a:solidFill>
                  <a:srgbClr val="3A3838"/>
                </a:solidFill>
              </a:rPr>
              <a:t>branch rollout</a:t>
            </a:r>
          </a:p>
        </p:txBody>
      </p:sp>
      <p:sp>
        <p:nvSpPr>
          <p:cNvPr id="209" name="">
            <a:extLst xmlns:a="http://schemas.openxmlformats.org/drawingml/2006/main">
              <a:ext uri="{FF2B5EF4-FFF2-40B4-BE49-F238E27FC236}">
                <a16:creationId xmlns:a16="http://schemas.microsoft.com/office/drawing/2014/main" id="{F162F0C9-B93E-47E0-9E0C-ED89BBCC4978}"/>
              </a:ext>
            </a:extLst>
          </p:cNvPr>
          <p:cNvSpPr>
            <a:spLocks xmlns:a="http://schemas.openxmlformats.org/drawingml/2006/main" noGrp="1"/>
          </p:cNvSpPr>
          <p:nvPr/>
        </p:nvSpPr>
        <p:spPr>
          <a:xfrm xmlns:a="http://schemas.openxmlformats.org/drawingml/2006/main">
            <a:off x="5219700" y="2676525"/>
            <a:ext cx="1695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b="0">
                <a:solidFill>
                  <a:srgbClr val="767171"/>
                </a:solidFill>
              </a:defRPr>
            </a:pPr>
            <a:r>
              <a:rPr sz="788" b="0">
                <a:solidFill>
                  <a:srgbClr val="767171"/>
                </a:solidFill>
              </a:rPr>
              <a:t>Tₘ(ψₘ, u)</a:t>
            </a:r>
          </a:p>
        </p:txBody>
      </p:sp>
      <p:sp>
        <p:nvSpPr>
          <p:cNvPr id="210" name="">
            <a:extLst xmlns:a="http://schemas.openxmlformats.org/drawingml/2006/main">
              <a:ext uri="{FF2B5EF4-FFF2-40B4-BE49-F238E27FC236}">
                <a16:creationId xmlns:a16="http://schemas.microsoft.com/office/drawing/2014/main" id="{E92FD368-DE3D-486A-97EB-1135C8BA6273}"/>
              </a:ext>
            </a:extLst>
          </p:cNvPr>
          <p:cNvSpPr>
            <a:spLocks xmlns:a="http://schemas.openxmlformats.org/drawingml/2006/main" noGrp="1"/>
          </p:cNvSpPr>
          <p:nvPr/>
        </p:nvSpPr>
        <p:spPr>
          <a:xfrm xmlns:a="http://schemas.openxmlformats.org/drawingml/2006/main">
            <a:off x="7000875" y="2505075"/>
            <a:ext cx="3143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D24726"/>
                </a:solidFill>
              </a:defRPr>
            </a:pPr>
            <a:r>
              <a:rPr sz="1500" b="1">
                <a:solidFill>
                  <a:srgbClr val="D24726"/>
                </a:solidFill>
              </a:rPr>
              <a:t>→</a:t>
            </a:r>
          </a:p>
        </p:txBody>
      </p:sp>
      <p:sp>
        <p:nvSpPr>
          <p:cNvPr id="211" name="">
            <a:extLst xmlns:a="http://schemas.openxmlformats.org/drawingml/2006/main">
              <a:ext uri="{FF2B5EF4-FFF2-40B4-BE49-F238E27FC236}">
                <a16:creationId xmlns:a16="http://schemas.microsoft.com/office/drawing/2014/main" id="{AED208E2-34AA-496D-8CA2-387A117A7771}"/>
              </a:ext>
            </a:extLst>
          </p:cNvPr>
          <p:cNvSpPr>
            <a:spLocks xmlns:a="http://schemas.openxmlformats.org/drawingml/2006/main" noGrp="1"/>
          </p:cNvSpPr>
          <p:nvPr/>
        </p:nvSpPr>
        <p:spPr>
          <a:xfrm xmlns:a="http://schemas.openxmlformats.org/drawingml/2006/main">
            <a:off x="7324725" y="2333625"/>
            <a:ext cx="1847850" cy="609600"/>
          </a:xfrm>
          <a:prstGeom xmlns:a="http://schemas.openxmlformats.org/drawingml/2006/main" prst="rect">
            <a:avLst/>
          </a:prstGeom>
          <a:solidFill xmlns:a="http://schemas.openxmlformats.org/drawingml/2006/main">
            <a:srgbClr val="F2F2F2"/>
          </a:solidFill>
          <a:ln xmlns:a="http://schemas.openxmlformats.org/drawingml/2006/main" w="9525">
            <a:solidFill>
              <a:srgbClr val="B7B7B7"/>
            </a:solidFill>
            <a:prstDash val="solid"/>
          </a:ln>
        </p:spPr>
      </p:sp>
      <p:sp>
        <p:nvSpPr>
          <p:cNvPr id="212" name="">
            <a:extLst xmlns:a="http://schemas.openxmlformats.org/drawingml/2006/main">
              <a:ext uri="{FF2B5EF4-FFF2-40B4-BE49-F238E27FC236}">
                <a16:creationId xmlns:a16="http://schemas.microsoft.com/office/drawing/2014/main" id="{90F71568-3F17-45FE-A091-9B10419E9F51}"/>
              </a:ext>
            </a:extLst>
          </p:cNvPr>
          <p:cNvSpPr>
            <a:spLocks xmlns:a="http://schemas.openxmlformats.org/drawingml/2006/main" noGrp="1"/>
          </p:cNvSpPr>
          <p:nvPr/>
        </p:nvSpPr>
        <p:spPr>
          <a:xfrm xmlns:a="http://schemas.openxmlformats.org/drawingml/2006/main">
            <a:off x="7400925" y="2428875"/>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3A3838"/>
                </a:solidFill>
              </a:defRPr>
            </a:pPr>
            <a:r>
              <a:rPr sz="1050" b="1">
                <a:solidFill>
                  <a:srgbClr val="3A3838"/>
                </a:solidFill>
              </a:rPr>
              <a:t>branch cost</a:t>
            </a:r>
          </a:p>
        </p:txBody>
      </p:sp>
      <p:sp>
        <p:nvSpPr>
          <p:cNvPr id="213" name="">
            <a:extLst xmlns:a="http://schemas.openxmlformats.org/drawingml/2006/main">
              <a:ext uri="{FF2B5EF4-FFF2-40B4-BE49-F238E27FC236}">
                <a16:creationId xmlns:a16="http://schemas.microsoft.com/office/drawing/2014/main" id="{A22CCFD3-CF06-470A-81D8-D0A65429ADEF}"/>
              </a:ext>
            </a:extLst>
          </p:cNvPr>
          <p:cNvSpPr>
            <a:spLocks xmlns:a="http://schemas.openxmlformats.org/drawingml/2006/main" noGrp="1"/>
          </p:cNvSpPr>
          <p:nvPr/>
        </p:nvSpPr>
        <p:spPr>
          <a:xfrm xmlns:a="http://schemas.openxmlformats.org/drawingml/2006/main">
            <a:off x="7400925" y="2676525"/>
            <a:ext cx="1695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b="0">
                <a:solidFill>
                  <a:srgbClr val="767171"/>
                </a:solidFill>
              </a:defRPr>
            </a:pPr>
            <a:r>
              <a:rPr sz="788" b="0">
                <a:solidFill>
                  <a:srgbClr val="767171"/>
                </a:solidFill>
              </a:rPr>
              <a:t>C(τₘ, u)</a:t>
            </a:r>
          </a:p>
        </p:txBody>
      </p:sp>
      <p:sp>
        <p:nvSpPr>
          <p:cNvPr id="214" name="">
            <a:extLst xmlns:a="http://schemas.openxmlformats.org/drawingml/2006/main">
              <a:ext uri="{FF2B5EF4-FFF2-40B4-BE49-F238E27FC236}">
                <a16:creationId xmlns:a16="http://schemas.microsoft.com/office/drawing/2014/main" id="{72D60B9E-0B94-4800-99A0-90E8A7A58AA2}"/>
              </a:ext>
            </a:extLst>
          </p:cNvPr>
          <p:cNvSpPr>
            <a:spLocks xmlns:a="http://schemas.openxmlformats.org/drawingml/2006/main" noGrp="1"/>
          </p:cNvSpPr>
          <p:nvPr/>
        </p:nvSpPr>
        <p:spPr>
          <a:xfrm xmlns:a="http://schemas.openxmlformats.org/drawingml/2006/main">
            <a:off x="9182100" y="2505075"/>
            <a:ext cx="3143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D24726"/>
                </a:solidFill>
              </a:defRPr>
            </a:pPr>
            <a:r>
              <a:rPr sz="1500" b="1">
                <a:solidFill>
                  <a:srgbClr val="D24726"/>
                </a:solidFill>
              </a:rPr>
              <a:t>→</a:t>
            </a:r>
          </a:p>
        </p:txBody>
      </p:sp>
      <p:sp>
        <p:nvSpPr>
          <p:cNvPr id="215" name="">
            <a:extLst xmlns:a="http://schemas.openxmlformats.org/drawingml/2006/main">
              <a:ext uri="{FF2B5EF4-FFF2-40B4-BE49-F238E27FC236}">
                <a16:creationId xmlns:a16="http://schemas.microsoft.com/office/drawing/2014/main" id="{73744CA1-6CBF-4E98-A399-41ACD75ABEA2}"/>
              </a:ext>
            </a:extLst>
          </p:cNvPr>
          <p:cNvSpPr>
            <a:spLocks xmlns:a="http://schemas.openxmlformats.org/drawingml/2006/main" noGrp="1"/>
          </p:cNvSpPr>
          <p:nvPr/>
        </p:nvSpPr>
        <p:spPr>
          <a:xfrm xmlns:a="http://schemas.openxmlformats.org/drawingml/2006/main">
            <a:off x="9505950" y="2333625"/>
            <a:ext cx="1847850" cy="609600"/>
          </a:xfrm>
          <a:prstGeom xmlns:a="http://schemas.openxmlformats.org/drawingml/2006/main" prst="rect">
            <a:avLst/>
          </a:prstGeom>
          <a:solidFill xmlns:a="http://schemas.openxmlformats.org/drawingml/2006/main">
            <a:srgbClr val="E2F0D9"/>
          </a:solidFill>
          <a:ln xmlns:a="http://schemas.openxmlformats.org/drawingml/2006/main" w="13335">
            <a:solidFill>
              <a:srgbClr val="D24726"/>
            </a:solidFill>
            <a:prstDash val="solid"/>
          </a:ln>
        </p:spPr>
      </p:sp>
      <p:sp>
        <p:nvSpPr>
          <p:cNvPr id="216" name="">
            <a:extLst xmlns:a="http://schemas.openxmlformats.org/drawingml/2006/main">
              <a:ext uri="{FF2B5EF4-FFF2-40B4-BE49-F238E27FC236}">
                <a16:creationId xmlns:a16="http://schemas.microsoft.com/office/drawing/2014/main" id="{5A058417-3849-462D-A843-88F2203698C2}"/>
              </a:ext>
            </a:extLst>
          </p:cNvPr>
          <p:cNvSpPr>
            <a:spLocks xmlns:a="http://schemas.openxmlformats.org/drawingml/2006/main" noGrp="1"/>
          </p:cNvSpPr>
          <p:nvPr/>
        </p:nvSpPr>
        <p:spPr>
          <a:xfrm xmlns:a="http://schemas.openxmlformats.org/drawingml/2006/main">
            <a:off x="9582150" y="2428875"/>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3A3838"/>
                </a:solidFill>
              </a:defRPr>
            </a:pPr>
            <a:r>
              <a:rPr sz="1050" b="1">
                <a:solidFill>
                  <a:srgbClr val="3A3838"/>
                </a:solidFill>
              </a:rPr>
              <a:t>expected plan</a:t>
            </a:r>
          </a:p>
        </p:txBody>
      </p:sp>
      <p:sp>
        <p:nvSpPr>
          <p:cNvPr id="217" name="">
            <a:extLst xmlns:a="http://schemas.openxmlformats.org/drawingml/2006/main">
              <a:ext uri="{FF2B5EF4-FFF2-40B4-BE49-F238E27FC236}">
                <a16:creationId xmlns:a16="http://schemas.microsoft.com/office/drawing/2014/main" id="{07141AA7-2C57-421D-9A10-43D82FB23DB3}"/>
              </a:ext>
            </a:extLst>
          </p:cNvPr>
          <p:cNvSpPr>
            <a:spLocks xmlns:a="http://schemas.openxmlformats.org/drawingml/2006/main" noGrp="1"/>
          </p:cNvSpPr>
          <p:nvPr/>
        </p:nvSpPr>
        <p:spPr>
          <a:xfrm xmlns:a="http://schemas.openxmlformats.org/drawingml/2006/main">
            <a:off x="9582150" y="2676525"/>
            <a:ext cx="1695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b="0">
                <a:solidFill>
                  <a:srgbClr val="767171"/>
                </a:solidFill>
              </a:defRPr>
            </a:pPr>
            <a:r>
              <a:rPr sz="788" b="0">
                <a:solidFill>
                  <a:srgbClr val="767171"/>
                </a:solidFill>
              </a:rPr>
              <a:t>Σₘ wₘ Cₘ</a:t>
            </a:r>
          </a:p>
        </p:txBody>
      </p:sp>
      <p:sp>
        <p:nvSpPr>
          <p:cNvPr id="218" name="">
            <a:extLst xmlns:a="http://schemas.openxmlformats.org/drawingml/2006/main">
              <a:ext uri="{FF2B5EF4-FFF2-40B4-BE49-F238E27FC236}">
                <a16:creationId xmlns:a16="http://schemas.microsoft.com/office/drawing/2014/main" id="{8108CF64-AD65-4A71-8722-886286FF40C3}"/>
              </a:ext>
            </a:extLst>
          </p:cNvPr>
          <p:cNvSpPr>
            <a:spLocks xmlns:a="http://schemas.openxmlformats.org/drawingml/2006/main" noGrp="1"/>
          </p:cNvSpPr>
          <p:nvPr/>
        </p:nvSpPr>
        <p:spPr>
          <a:xfrm xmlns:a="http://schemas.openxmlformats.org/drawingml/2006/main">
            <a:off x="2476500" y="3524250"/>
            <a:ext cx="7239000" cy="552450"/>
          </a:xfrm>
          <a:prstGeom xmlns:a="http://schemas.openxmlformats.org/drawingml/2006/main" prst="rect">
            <a:avLst/>
          </a:prstGeom>
          <a:solidFill xmlns:a="http://schemas.openxmlformats.org/drawingml/2006/main">
            <a:srgbClr val="FFFFFF"/>
          </a:solidFill>
          <a:ln xmlns:a="http://schemas.openxmlformats.org/drawingml/2006/main" w="7620">
            <a:solidFill>
              <a:srgbClr val="8064A2"/>
            </a:solidFill>
            <a:prstDash val="solid"/>
          </a:ln>
        </p:spPr>
        <p:txBody>
          <a:bodyPr xmlns:a="http://schemas.openxmlformats.org/drawingml/2006/main" anchor="ctr"/>
          <a:lstStyle xmlns:a="http://schemas.openxmlformats.org/drawingml/2006/main"/>
          <a:p xmlns:a="http://schemas.openxmlformats.org/drawingml/2006/main">
            <a:pPr algn="ctr">
              <a:defRPr sz="1500" b="0">
                <a:solidFill>
                  <a:srgbClr val="3A3838"/>
                </a:solidFill>
              </a:defRPr>
            </a:pPr>
            <a:r>
              <a:rPr sz="1500" b="0">
                <a:solidFill>
                  <a:srgbClr val="3A3838"/>
                </a:solidFill>
              </a:rPr>
              <a:t>J(u) = Σₘ wₘ C(τₘ, u)     u* = arg minᵤ J(u)</a:t>
            </a:r>
          </a:p>
        </p:txBody>
      </p:sp>
      <p:sp>
        <p:nvSpPr>
          <p:cNvPr id="219" name="">
            <a:extLst xmlns:a="http://schemas.openxmlformats.org/drawingml/2006/main">
              <a:ext uri="{FF2B5EF4-FFF2-40B4-BE49-F238E27FC236}">
                <a16:creationId xmlns:a16="http://schemas.microsoft.com/office/drawing/2014/main" id="{A167AD0F-BD4A-4D36-8FD1-2EDBAE53ADC8}"/>
              </a:ext>
            </a:extLst>
          </p:cNvPr>
          <p:cNvSpPr>
            <a:spLocks xmlns:a="http://schemas.openxmlformats.org/drawingml/2006/main" noGrp="1"/>
          </p:cNvSpPr>
          <p:nvPr/>
        </p:nvSpPr>
        <p:spPr>
          <a:xfrm xmlns:a="http://schemas.openxmlformats.org/drawingml/2006/main">
            <a:off x="1809750" y="4476750"/>
            <a:ext cx="8572500" cy="457200"/>
          </a:xfrm>
          <a:prstGeom xmlns:a="http://schemas.openxmlformats.org/drawingml/2006/main" prst="rect">
            <a:avLst/>
          </a:prstGeom>
          <a:solidFill xmlns:a="http://schemas.openxmlformats.org/drawingml/2006/main">
            <a:srgbClr val="FFFFFF"/>
          </a:solidFill>
          <a:ln xmlns:a="http://schemas.openxmlformats.org/drawingml/2006/main" w="6668">
            <a:solidFill>
              <a:srgbClr val="B7B7B7"/>
            </a:solidFill>
            <a:prstDash val="solid"/>
          </a:ln>
        </p:spPr>
      </p:sp>
      <p:sp>
        <p:nvSpPr>
          <p:cNvPr id="220" name="">
            <a:extLst xmlns:a="http://schemas.openxmlformats.org/drawingml/2006/main">
              <a:ext uri="{FF2B5EF4-FFF2-40B4-BE49-F238E27FC236}">
                <a16:creationId xmlns:a16="http://schemas.microsoft.com/office/drawing/2014/main" id="{982F7AC7-5B63-4693-BD16-0DDE72A2FB6A}"/>
              </a:ext>
            </a:extLst>
          </p:cNvPr>
          <p:cNvSpPr>
            <a:spLocks xmlns:a="http://schemas.openxmlformats.org/drawingml/2006/main" noGrp="1"/>
          </p:cNvSpPr>
          <p:nvPr/>
        </p:nvSpPr>
        <p:spPr>
          <a:xfrm xmlns:a="http://schemas.openxmlformats.org/drawingml/2006/main">
            <a:off x="1952625" y="45720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38" b="1">
                <a:solidFill>
                  <a:srgbClr val="8064A2"/>
                </a:solidFill>
              </a:defRPr>
            </a:pPr>
            <a:r>
              <a:rPr sz="938" b="1">
                <a:solidFill>
                  <a:srgbClr val="8064A2"/>
                </a:solidFill>
              </a:rPr>
              <a:t>WAIT</a:t>
            </a:r>
          </a:p>
        </p:txBody>
      </p:sp>
      <p:sp>
        <p:nvSpPr>
          <p:cNvPr id="221" name="">
            <a:extLst xmlns:a="http://schemas.openxmlformats.org/drawingml/2006/main">
              <a:ext uri="{FF2B5EF4-FFF2-40B4-BE49-F238E27FC236}">
                <a16:creationId xmlns:a16="http://schemas.microsoft.com/office/drawing/2014/main" id="{25287B27-B258-4098-861A-13FA69846599}"/>
              </a:ext>
            </a:extLst>
          </p:cNvPr>
          <p:cNvSpPr>
            <a:spLocks xmlns:a="http://schemas.openxmlformats.org/drawingml/2006/main" noGrp="1"/>
          </p:cNvSpPr>
          <p:nvPr/>
        </p:nvSpPr>
        <p:spPr>
          <a:xfrm xmlns:a="http://schemas.openxmlformats.org/drawingml/2006/main">
            <a:off x="3571875" y="4572000"/>
            <a:ext cx="2571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15" b="0">
                <a:solidFill>
                  <a:srgbClr val="3A3838"/>
                </a:solidFill>
              </a:defRPr>
            </a:pPr>
            <a:r>
              <a:rPr sz="915" b="0">
                <a:solidFill>
                  <a:srgbClr val="3A3838"/>
                </a:solidFill>
              </a:rPr>
              <a:t>low motion cost</a:t>
            </a:r>
          </a:p>
        </p:txBody>
      </p:sp>
      <p:sp>
        <p:nvSpPr>
          <p:cNvPr id="222" name="">
            <a:extLst xmlns:a="http://schemas.openxmlformats.org/drawingml/2006/main">
              <a:ext uri="{FF2B5EF4-FFF2-40B4-BE49-F238E27FC236}">
                <a16:creationId xmlns:a16="http://schemas.microsoft.com/office/drawing/2014/main" id="{F54A0740-BD9E-4846-821D-ECF68AB762D5}"/>
              </a:ext>
            </a:extLst>
          </p:cNvPr>
          <p:cNvSpPr>
            <a:spLocks xmlns:a="http://schemas.openxmlformats.org/drawingml/2006/main" noGrp="1"/>
          </p:cNvSpPr>
          <p:nvPr/>
        </p:nvSpPr>
        <p:spPr>
          <a:xfrm xmlns:a="http://schemas.openxmlformats.org/drawingml/2006/main">
            <a:off x="6238875" y="4572000"/>
            <a:ext cx="3952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15" b="0">
                <a:solidFill>
                  <a:srgbClr val="3A3838"/>
                </a:solidFill>
              </a:defRPr>
            </a:pPr>
            <a:r>
              <a:rPr sz="915" b="0">
                <a:solidFill>
                  <a:srgbClr val="3A3838"/>
                </a:solidFill>
              </a:rPr>
              <a:t>collects another sound sample</a:t>
            </a:r>
          </a:p>
        </p:txBody>
      </p:sp>
      <p:sp>
        <p:nvSpPr>
          <p:cNvPr id="223" name="">
            <a:extLst xmlns:a="http://schemas.openxmlformats.org/drawingml/2006/main">
              <a:ext uri="{FF2B5EF4-FFF2-40B4-BE49-F238E27FC236}">
                <a16:creationId xmlns:a16="http://schemas.microsoft.com/office/drawing/2014/main" id="{86B53B60-4015-4AF0-8193-37C376B407F6}"/>
              </a:ext>
            </a:extLst>
          </p:cNvPr>
          <p:cNvSpPr>
            <a:spLocks xmlns:a="http://schemas.openxmlformats.org/drawingml/2006/main" noGrp="1"/>
          </p:cNvSpPr>
          <p:nvPr/>
        </p:nvSpPr>
        <p:spPr>
          <a:xfrm xmlns:a="http://schemas.openxmlformats.org/drawingml/2006/main">
            <a:off x="1809750" y="4933950"/>
            <a:ext cx="8572500" cy="457200"/>
          </a:xfrm>
          <a:prstGeom xmlns:a="http://schemas.openxmlformats.org/drawingml/2006/main" prst="rect">
            <a:avLst/>
          </a:prstGeom>
          <a:solidFill xmlns:a="http://schemas.openxmlformats.org/drawingml/2006/main">
            <a:srgbClr val="F2F2F2"/>
          </a:solidFill>
          <a:ln xmlns:a="http://schemas.openxmlformats.org/drawingml/2006/main" w="6668">
            <a:solidFill>
              <a:srgbClr val="B7B7B7"/>
            </a:solidFill>
            <a:prstDash val="solid"/>
          </a:ln>
        </p:spPr>
      </p:sp>
      <p:sp>
        <p:nvSpPr>
          <p:cNvPr id="224" name="">
            <a:extLst xmlns:a="http://schemas.openxmlformats.org/drawingml/2006/main">
              <a:ext uri="{FF2B5EF4-FFF2-40B4-BE49-F238E27FC236}">
                <a16:creationId xmlns:a16="http://schemas.microsoft.com/office/drawing/2014/main" id="{E0F392A5-3798-402A-A815-422B2720A9E0}"/>
              </a:ext>
            </a:extLst>
          </p:cNvPr>
          <p:cNvSpPr>
            <a:spLocks xmlns:a="http://schemas.openxmlformats.org/drawingml/2006/main" noGrp="1"/>
          </p:cNvSpPr>
          <p:nvPr/>
        </p:nvSpPr>
        <p:spPr>
          <a:xfrm xmlns:a="http://schemas.openxmlformats.org/drawingml/2006/main">
            <a:off x="1952625" y="50292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38" b="1">
                <a:solidFill>
                  <a:srgbClr val="8064A2"/>
                </a:solidFill>
              </a:defRPr>
            </a:pPr>
            <a:r>
              <a:rPr sz="938" b="1">
                <a:solidFill>
                  <a:srgbClr val="8064A2"/>
                </a:solidFill>
              </a:rPr>
              <a:t>MOVE LEFT</a:t>
            </a:r>
          </a:p>
        </p:txBody>
      </p:sp>
      <p:sp>
        <p:nvSpPr>
          <p:cNvPr id="225" name="">
            <a:extLst xmlns:a="http://schemas.openxmlformats.org/drawingml/2006/main">
              <a:ext uri="{FF2B5EF4-FFF2-40B4-BE49-F238E27FC236}">
                <a16:creationId xmlns:a16="http://schemas.microsoft.com/office/drawing/2014/main" id="{86024C3F-2FC4-49EE-BA20-ADFFAC777833}"/>
              </a:ext>
            </a:extLst>
          </p:cNvPr>
          <p:cNvSpPr>
            <a:spLocks xmlns:a="http://schemas.openxmlformats.org/drawingml/2006/main" noGrp="1"/>
          </p:cNvSpPr>
          <p:nvPr/>
        </p:nvSpPr>
        <p:spPr>
          <a:xfrm xmlns:a="http://schemas.openxmlformats.org/drawingml/2006/main">
            <a:off x="3571875" y="5029200"/>
            <a:ext cx="2571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15" b="0">
                <a:solidFill>
                  <a:srgbClr val="3A3838"/>
                </a:solidFill>
              </a:defRPr>
            </a:pPr>
            <a:r>
              <a:rPr sz="915" b="0">
                <a:solidFill>
                  <a:srgbClr val="3A3838"/>
                </a:solidFill>
              </a:rPr>
              <a:t>safe for right-exit branch</a:t>
            </a:r>
          </a:p>
        </p:txBody>
      </p:sp>
      <p:sp>
        <p:nvSpPr>
          <p:cNvPr id="226" name="">
            <a:extLst xmlns:a="http://schemas.openxmlformats.org/drawingml/2006/main">
              <a:ext uri="{FF2B5EF4-FFF2-40B4-BE49-F238E27FC236}">
                <a16:creationId xmlns:a16="http://schemas.microsoft.com/office/drawing/2014/main" id="{7F1347AB-1B45-431F-92AF-3CDBFE3C344D}"/>
              </a:ext>
            </a:extLst>
          </p:cNvPr>
          <p:cNvSpPr>
            <a:spLocks xmlns:a="http://schemas.openxmlformats.org/drawingml/2006/main" noGrp="1"/>
          </p:cNvSpPr>
          <p:nvPr/>
        </p:nvSpPr>
        <p:spPr>
          <a:xfrm xmlns:a="http://schemas.openxmlformats.org/drawingml/2006/main">
            <a:off x="6238875" y="5029200"/>
            <a:ext cx="3952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15" b="0">
                <a:solidFill>
                  <a:srgbClr val="3A3838"/>
                </a:solidFill>
              </a:defRPr>
            </a:pPr>
            <a:r>
              <a:rPr sz="915" b="0">
                <a:solidFill>
                  <a:srgbClr val="3A3838"/>
                </a:solidFill>
              </a:rPr>
              <a:t>risky if cart turns toward robot</a:t>
            </a:r>
          </a:p>
        </p:txBody>
      </p:sp>
      <p:sp>
        <p:nvSpPr>
          <p:cNvPr id="227" name="">
            <a:extLst xmlns:a="http://schemas.openxmlformats.org/drawingml/2006/main">
              <a:ext uri="{FF2B5EF4-FFF2-40B4-BE49-F238E27FC236}">
                <a16:creationId xmlns:a16="http://schemas.microsoft.com/office/drawing/2014/main" id="{DF02A965-46E6-45ED-AC00-0D36D8D9749E}"/>
              </a:ext>
            </a:extLst>
          </p:cNvPr>
          <p:cNvSpPr>
            <a:spLocks xmlns:a="http://schemas.openxmlformats.org/drawingml/2006/main" noGrp="1"/>
          </p:cNvSpPr>
          <p:nvPr/>
        </p:nvSpPr>
        <p:spPr>
          <a:xfrm xmlns:a="http://schemas.openxmlformats.org/drawingml/2006/main">
            <a:off x="1809750" y="5391150"/>
            <a:ext cx="8572500" cy="457200"/>
          </a:xfrm>
          <a:prstGeom xmlns:a="http://schemas.openxmlformats.org/drawingml/2006/main" prst="rect">
            <a:avLst/>
          </a:prstGeom>
          <a:solidFill xmlns:a="http://schemas.openxmlformats.org/drawingml/2006/main">
            <a:srgbClr val="FFFFFF"/>
          </a:solidFill>
          <a:ln xmlns:a="http://schemas.openxmlformats.org/drawingml/2006/main" w="6668">
            <a:solidFill>
              <a:srgbClr val="B7B7B7"/>
            </a:solidFill>
            <a:prstDash val="solid"/>
          </a:ln>
        </p:spPr>
      </p:sp>
      <p:sp>
        <p:nvSpPr>
          <p:cNvPr id="228" name="">
            <a:extLst xmlns:a="http://schemas.openxmlformats.org/drawingml/2006/main">
              <a:ext uri="{FF2B5EF4-FFF2-40B4-BE49-F238E27FC236}">
                <a16:creationId xmlns:a16="http://schemas.microsoft.com/office/drawing/2014/main" id="{72031A84-0DA0-4E37-8701-2DFB9DA58AE1}"/>
              </a:ext>
            </a:extLst>
          </p:cNvPr>
          <p:cNvSpPr>
            <a:spLocks xmlns:a="http://schemas.openxmlformats.org/drawingml/2006/main" noGrp="1"/>
          </p:cNvSpPr>
          <p:nvPr/>
        </p:nvSpPr>
        <p:spPr>
          <a:xfrm xmlns:a="http://schemas.openxmlformats.org/drawingml/2006/main">
            <a:off x="1952625" y="54864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38" b="1">
                <a:solidFill>
                  <a:srgbClr val="8064A2"/>
                </a:solidFill>
              </a:defRPr>
            </a:pPr>
            <a:r>
              <a:rPr sz="938" b="1">
                <a:solidFill>
                  <a:srgbClr val="8064A2"/>
                </a:solidFill>
              </a:rPr>
              <a:t>SCAN RIGHT</a:t>
            </a:r>
          </a:p>
        </p:txBody>
      </p:sp>
      <p:sp>
        <p:nvSpPr>
          <p:cNvPr id="229" name="">
            <a:extLst xmlns:a="http://schemas.openxmlformats.org/drawingml/2006/main">
              <a:ext uri="{FF2B5EF4-FFF2-40B4-BE49-F238E27FC236}">
                <a16:creationId xmlns:a16="http://schemas.microsoft.com/office/drawing/2014/main" id="{56DF9B68-9E21-4AAD-A359-F08D9CFC7FE6}"/>
              </a:ext>
            </a:extLst>
          </p:cNvPr>
          <p:cNvSpPr>
            <a:spLocks xmlns:a="http://schemas.openxmlformats.org/drawingml/2006/main" noGrp="1"/>
          </p:cNvSpPr>
          <p:nvPr/>
        </p:nvSpPr>
        <p:spPr>
          <a:xfrm xmlns:a="http://schemas.openxmlformats.org/drawingml/2006/main">
            <a:off x="3571875" y="5486400"/>
            <a:ext cx="2571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15" b="0">
                <a:solidFill>
                  <a:srgbClr val="3A3838"/>
                </a:solidFill>
              </a:defRPr>
            </a:pPr>
            <a:r>
              <a:rPr sz="915" b="0">
                <a:solidFill>
                  <a:srgbClr val="3A3838"/>
                </a:solidFill>
              </a:rPr>
              <a:t>information-seeking action</a:t>
            </a:r>
          </a:p>
        </p:txBody>
      </p:sp>
      <p:sp>
        <p:nvSpPr>
          <p:cNvPr id="230" name="">
            <a:extLst xmlns:a="http://schemas.openxmlformats.org/drawingml/2006/main">
              <a:ext uri="{FF2B5EF4-FFF2-40B4-BE49-F238E27FC236}">
                <a16:creationId xmlns:a16="http://schemas.microsoft.com/office/drawing/2014/main" id="{1A93BC6F-2102-401D-81DF-CD31B9683F3F}"/>
              </a:ext>
            </a:extLst>
          </p:cNvPr>
          <p:cNvSpPr>
            <a:spLocks xmlns:a="http://schemas.openxmlformats.org/drawingml/2006/main" noGrp="1"/>
          </p:cNvSpPr>
          <p:nvPr/>
        </p:nvSpPr>
        <p:spPr>
          <a:xfrm xmlns:a="http://schemas.openxmlformats.org/drawingml/2006/main">
            <a:off x="6238875" y="5486400"/>
            <a:ext cx="3952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15" b="0">
                <a:solidFill>
                  <a:srgbClr val="3A3838"/>
                </a:solidFill>
              </a:defRPr>
            </a:pPr>
            <a:r>
              <a:rPr sz="915" b="0">
                <a:solidFill>
                  <a:srgbClr val="3A3838"/>
                </a:solidFill>
              </a:rPr>
              <a:t>separates hidden-cart branches</a:t>
            </a:r>
          </a:p>
        </p:txBody>
      </p:sp>
      <p:sp>
        <p:nvSpPr>
          <p:cNvPr id="231" name="">
            <a:extLst xmlns:a="http://schemas.openxmlformats.org/drawingml/2006/main">
              <a:ext uri="{FF2B5EF4-FFF2-40B4-BE49-F238E27FC236}">
                <a16:creationId xmlns:a16="http://schemas.microsoft.com/office/drawing/2014/main" id="{1CF297B6-6244-46E3-B6C0-64D922C9F47B}"/>
              </a:ext>
            </a:extLst>
          </p:cNvPr>
          <p:cNvSpPr>
            <a:spLocks xmlns:a="http://schemas.openxmlformats.org/drawingml/2006/main" noGrp="1"/>
          </p:cNvSpPr>
          <p:nvPr/>
        </p:nvSpPr>
        <p:spPr>
          <a:xfrm xmlns:a="http://schemas.openxmlformats.org/drawingml/2006/main">
            <a:off x="523875" y="6238875"/>
            <a:ext cx="1109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0">
                <a:solidFill>
                  <a:srgbClr val="767171"/>
                </a:solidFill>
              </a:defRPr>
            </a:pPr>
            <a:r>
              <a:rPr sz="660" b="0">
                <a:solidFill>
                  <a:srgbClr val="767171"/>
                </a:solidFill>
              </a:rPr>
              <a:t>Branch-conditioned rollout is a proposed mechanism. Standard density-state planning can also optimize information gain when its observation model is sufficient.</a:t>
            </a:r>
          </a:p>
        </p:txBody>
      </p:sp>
    </p:spTree>
    <p:extLst>
      <p:ext uri="{BB962C8B-B14F-4D97-AF65-F5344CB8AC3E}">
        <p14:creationId xmlns:p14="http://schemas.microsoft.com/office/powerpoint/2010/main" val="38050316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3" name="Google Shape;213;p23">
            <a:extLst xmlns:a="http://schemas.openxmlformats.org/drawingml/2006/main">
              <a:ext uri="{FF2B5EF4-FFF2-40B4-BE49-F238E27FC236}">
                <a16:creationId xmlns:a16="http://schemas.microsoft.com/office/drawing/2014/main" id="{B09D98E9-84C9-41E4-BCA2-5A668A07D1CA}"/>
              </a:ext>
            </a:extLst>
          </p:cNvPr>
          <p:cNvSpPr>
            <a:spLocks xmlns:a="http://schemas.openxmlformats.org/drawingml/2006/main" noGrp="1"/>
          </p:cNvSpPr>
          <p:nvPr>
            <p:ph type="title" idx="0"/>
          </p:nvPr>
        </p:nvSpPr>
        <p:spPr>
          <a:xfrm xmlns:a="http://schemas.openxmlformats.org/drawingml/2006/main">
            <a:off x="444532" y="430625"/>
            <a:ext cx="11210544" cy="5577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indent="0" algn="l">
              <a:spcBef>
                <a:spcPts val="0"/>
              </a:spcBef>
              <a:spcAft>
                <a:spcPts val="0"/>
              </a:spcAft>
              <a:buNone/>
              <a:defRPr sz="2100" b="0">
                <a:solidFill>
                  <a:srgbClr val="3A3838"/>
                </a:solidFill>
              </a:defRPr>
            </a:pPr>
            <a:r>
              <a:rPr sz="2100" b="0">
                <a:solidFill>
                  <a:srgbClr val="3A3838"/>
                </a:solidFill>
              </a:rPr>
              <a:t>Trajectory Ensemble Core: The Decisive Gauge Test</a:t>
            </a:r>
          </a:p>
        </p:txBody>
      </p:sp>
      <p:sp>
        <p:nvSpPr>
          <p:cNvPr id="214" name="">
            <a:extLst xmlns:a="http://schemas.openxmlformats.org/drawingml/2006/main">
              <a:ext uri="{FF2B5EF4-FFF2-40B4-BE49-F238E27FC236}">
                <a16:creationId xmlns:a16="http://schemas.microsoft.com/office/drawing/2014/main" id="{79F2B51C-77DF-4F5D-A83C-7455C4DCBD33}"/>
              </a:ext>
            </a:extLst>
          </p:cNvPr>
          <p:cNvSpPr>
            <a:spLocks xmlns:a="http://schemas.openxmlformats.org/drawingml/2006/main" noGrp="1"/>
          </p:cNvSpPr>
          <p:nvPr/>
        </p:nvSpPr>
        <p:spPr>
          <a:xfrm xmlns:a="http://schemas.openxmlformats.org/drawingml/2006/main">
            <a:off x="444532" y="1097280"/>
            <a:ext cx="11210544" cy="17145"/>
          </a:xfrm>
          <a:prstGeom xmlns:a="http://schemas.openxmlformats.org/drawingml/2006/main" prst="rect">
            <a:avLst/>
          </a:prstGeom>
          <a:solidFill xmlns:a="http://schemas.openxmlformats.org/drawingml/2006/main">
            <a:srgbClr val="D24726"/>
          </a:solidFill>
          <a:ln xmlns:a="http://schemas.openxmlformats.org/drawingml/2006/main" w="0">
            <a:solidFill>
              <a:srgbClr val="D24726"/>
            </a:solidFill>
            <a:prstDash val="solid"/>
          </a:ln>
        </p:spPr>
      </p:sp>
      <p:sp>
        <p:nvSpPr>
          <p:cNvPr id="215" name="">
            <a:extLst xmlns:a="http://schemas.openxmlformats.org/drawingml/2006/main">
              <a:ext uri="{FF2B5EF4-FFF2-40B4-BE49-F238E27FC236}">
                <a16:creationId xmlns:a16="http://schemas.microsoft.com/office/drawing/2014/main" id="{F41496C2-1890-442C-8285-987CA1141E12}"/>
              </a:ext>
            </a:extLst>
          </p:cNvPr>
          <p:cNvSpPr>
            <a:spLocks xmlns:a="http://schemas.openxmlformats.org/drawingml/2006/main" noGrp="1"/>
          </p:cNvSpPr>
          <p:nvPr/>
        </p:nvSpPr>
        <p:spPr>
          <a:xfrm xmlns:a="http://schemas.openxmlformats.org/drawingml/2006/main">
            <a:off x="457200" y="1381125"/>
            <a:ext cx="11144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15" b="0">
                <a:solidFill>
                  <a:srgbClr val="3A3838"/>
                </a:solidFill>
              </a:defRPr>
            </a:pPr>
            <a:r>
              <a:rPr sz="1215" b="0">
                <a:solidFill>
                  <a:srgbClr val="3A3838"/>
                </a:solidFill>
              </a:rPr>
              <a:t>Many different pure-state ensembles can produce the same density matrix ρ. Under branch-independent linear dynamics and Born readout, those decompositions are operationally identical.</a:t>
            </a:r>
          </a:p>
        </p:txBody>
      </p:sp>
      <p:sp>
        <p:nvSpPr>
          <p:cNvPr id="216" name="">
            <a:extLst xmlns:a="http://schemas.openxmlformats.org/drawingml/2006/main">
              <a:ext uri="{FF2B5EF4-FFF2-40B4-BE49-F238E27FC236}">
                <a16:creationId xmlns:a16="http://schemas.microsoft.com/office/drawing/2014/main" id="{7A87AE3F-990F-4633-8310-3D8E704EED8D}"/>
              </a:ext>
            </a:extLst>
          </p:cNvPr>
          <p:cNvSpPr>
            <a:spLocks xmlns:a="http://schemas.openxmlformats.org/drawingml/2006/main" noGrp="1"/>
          </p:cNvSpPr>
          <p:nvPr/>
        </p:nvSpPr>
        <p:spPr>
          <a:xfrm xmlns:a="http://schemas.openxmlformats.org/drawingml/2006/main">
            <a:off x="2143125" y="2190750"/>
            <a:ext cx="7905750" cy="590550"/>
          </a:xfrm>
          <a:prstGeom xmlns:a="http://schemas.openxmlformats.org/drawingml/2006/main" prst="rect">
            <a:avLst/>
          </a:prstGeom>
          <a:solidFill xmlns:a="http://schemas.openxmlformats.org/drawingml/2006/main">
            <a:srgbClr val="FFFFFF"/>
          </a:solidFill>
          <a:ln xmlns:a="http://schemas.openxmlformats.org/drawingml/2006/main" w="7620">
            <a:solidFill>
              <a:srgbClr val="8064A2"/>
            </a:solidFill>
            <a:prstDash val="solid"/>
          </a:ln>
        </p:spPr>
        <p:txBody>
          <a:bodyPr xmlns:a="http://schemas.openxmlformats.org/drawingml/2006/main" anchor="ctr"/>
          <a:lstStyle xmlns:a="http://schemas.openxmlformats.org/drawingml/2006/main"/>
          <a:p xmlns:a="http://schemas.openxmlformats.org/drawingml/2006/main">
            <a:pPr algn="ctr">
              <a:defRPr sz="1575" b="0">
                <a:solidFill>
                  <a:srgbClr val="3A3838"/>
                </a:solidFill>
              </a:defRPr>
            </a:pPr>
            <a:r>
              <a:rPr sz="1575" b="0">
                <a:solidFill>
                  <a:srgbClr val="3A3838"/>
                </a:solidFill>
              </a:rPr>
              <a:t>Σₘ wₘ |ψₘ⟩⟨ψₘ| = ρ = Σₙ vₙ |φₙ⟩⟨φₙ|</a:t>
            </a:r>
          </a:p>
        </p:txBody>
      </p:sp>
      <p:sp>
        <p:nvSpPr>
          <p:cNvPr id="217" name="">
            <a:extLst xmlns:a="http://schemas.openxmlformats.org/drawingml/2006/main">
              <a:ext uri="{FF2B5EF4-FFF2-40B4-BE49-F238E27FC236}">
                <a16:creationId xmlns:a16="http://schemas.microsoft.com/office/drawing/2014/main" id="{B8B52008-B79D-497A-A5A5-50E9B246EC12}"/>
              </a:ext>
            </a:extLst>
          </p:cNvPr>
          <p:cNvSpPr>
            <a:spLocks xmlns:a="http://schemas.openxmlformats.org/drawingml/2006/main" noGrp="1"/>
          </p:cNvSpPr>
          <p:nvPr/>
        </p:nvSpPr>
        <p:spPr>
          <a:xfrm xmlns:a="http://schemas.openxmlformats.org/drawingml/2006/main">
            <a:off x="1952625" y="31432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8064A2"/>
                </a:solidFill>
              </a:defRPr>
            </a:pPr>
            <a:r>
              <a:rPr sz="1125" b="1">
                <a:solidFill>
                  <a:srgbClr val="8064A2"/>
                </a:solidFill>
              </a:rPr>
              <a:t>Ensemble A</a:t>
            </a:r>
          </a:p>
        </p:txBody>
      </p:sp>
      <p:sp>
        <p:nvSpPr>
          <p:cNvPr id="218" name="">
            <a:extLst xmlns:a="http://schemas.openxmlformats.org/drawingml/2006/main">
              <a:ext uri="{FF2B5EF4-FFF2-40B4-BE49-F238E27FC236}">
                <a16:creationId xmlns:a16="http://schemas.microsoft.com/office/drawing/2014/main" id="{FB569253-24E7-4206-A8D7-98423DB0701E}"/>
              </a:ext>
            </a:extLst>
          </p:cNvPr>
          <p:cNvSpPr>
            <a:spLocks xmlns:a="http://schemas.openxmlformats.org/drawingml/2006/main" noGrp="1"/>
          </p:cNvSpPr>
          <p:nvPr/>
        </p:nvSpPr>
        <p:spPr>
          <a:xfrm xmlns:a="http://schemas.openxmlformats.org/drawingml/2006/main">
            <a:off x="1952625" y="35242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3A3838"/>
                </a:solidFill>
              </a:defRPr>
            </a:pPr>
            <a:r>
              <a:rPr sz="975" b="0">
                <a:solidFill>
                  <a:srgbClr val="3A3838"/>
                </a:solidFill>
              </a:rPr>
              <a:t>different branches</a:t>
            </a:r>
          </a:p>
        </p:txBody>
      </p:sp>
      <p:sp>
        <p:nvSpPr>
          <p:cNvPr id="219" name="">
            <a:extLst xmlns:a="http://schemas.openxmlformats.org/drawingml/2006/main">
              <a:ext uri="{FF2B5EF4-FFF2-40B4-BE49-F238E27FC236}">
                <a16:creationId xmlns:a16="http://schemas.microsoft.com/office/drawing/2014/main" id="{7073E111-A2B1-4642-984F-3589A264FAF1}"/>
              </a:ext>
            </a:extLst>
          </p:cNvPr>
          <p:cNvSpPr>
            <a:spLocks xmlns:a="http://schemas.openxmlformats.org/drawingml/2006/main" noGrp="1"/>
          </p:cNvSpPr>
          <p:nvPr/>
        </p:nvSpPr>
        <p:spPr>
          <a:xfrm xmlns:a="http://schemas.openxmlformats.org/drawingml/2006/main">
            <a:off x="4476750" y="34290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D24726"/>
                </a:solidFill>
              </a:defRPr>
            </a:pPr>
            <a:r>
              <a:rPr sz="1500" b="1">
                <a:solidFill>
                  <a:srgbClr val="D24726"/>
                </a:solidFill>
              </a:rPr>
              <a:t>→</a:t>
            </a:r>
          </a:p>
        </p:txBody>
      </p:sp>
      <p:sp>
        <p:nvSpPr>
          <p:cNvPr id="220" name="">
            <a:extLst xmlns:a="http://schemas.openxmlformats.org/drawingml/2006/main">
              <a:ext uri="{FF2B5EF4-FFF2-40B4-BE49-F238E27FC236}">
                <a16:creationId xmlns:a16="http://schemas.microsoft.com/office/drawing/2014/main" id="{51B85872-383E-466A-BA06-CA06EFC14FC5}"/>
              </a:ext>
            </a:extLst>
          </p:cNvPr>
          <p:cNvSpPr>
            <a:spLocks xmlns:a="http://schemas.openxmlformats.org/drawingml/2006/main" noGrp="1"/>
          </p:cNvSpPr>
          <p:nvPr/>
        </p:nvSpPr>
        <p:spPr>
          <a:xfrm xmlns:a="http://schemas.openxmlformats.org/drawingml/2006/main">
            <a:off x="4953000" y="34290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D24726"/>
                </a:solidFill>
              </a:defRPr>
            </a:pPr>
            <a:r>
              <a:rPr sz="1350" b="1">
                <a:solidFill>
                  <a:srgbClr val="D24726"/>
                </a:solidFill>
              </a:rPr>
              <a:t>same ρ</a:t>
            </a:r>
          </a:p>
        </p:txBody>
      </p:sp>
      <p:sp>
        <p:nvSpPr>
          <p:cNvPr id="221" name="">
            <a:extLst xmlns:a="http://schemas.openxmlformats.org/drawingml/2006/main">
              <a:ext uri="{FF2B5EF4-FFF2-40B4-BE49-F238E27FC236}">
                <a16:creationId xmlns:a16="http://schemas.microsoft.com/office/drawing/2014/main" id="{18EE309D-3F1E-4722-9A17-BAA96212D2BB}"/>
              </a:ext>
            </a:extLst>
          </p:cNvPr>
          <p:cNvSpPr>
            <a:spLocks xmlns:a="http://schemas.openxmlformats.org/drawingml/2006/main" noGrp="1"/>
          </p:cNvSpPr>
          <p:nvPr/>
        </p:nvSpPr>
        <p:spPr>
          <a:xfrm xmlns:a="http://schemas.openxmlformats.org/drawingml/2006/main">
            <a:off x="7191375" y="34290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D24726"/>
                </a:solidFill>
              </a:defRPr>
            </a:pPr>
            <a:r>
              <a:rPr sz="1500" b="1">
                <a:solidFill>
                  <a:srgbClr val="D24726"/>
                </a:solidFill>
              </a:rPr>
              <a:t>→</a:t>
            </a:r>
          </a:p>
        </p:txBody>
      </p:sp>
      <p:sp>
        <p:nvSpPr>
          <p:cNvPr id="222" name="">
            <a:extLst xmlns:a="http://schemas.openxmlformats.org/drawingml/2006/main">
              <a:ext uri="{FF2B5EF4-FFF2-40B4-BE49-F238E27FC236}">
                <a16:creationId xmlns:a16="http://schemas.microsoft.com/office/drawing/2014/main" id="{38556655-CA04-4277-872D-8AC35743F639}"/>
              </a:ext>
            </a:extLst>
          </p:cNvPr>
          <p:cNvSpPr>
            <a:spLocks xmlns:a="http://schemas.openxmlformats.org/drawingml/2006/main" noGrp="1"/>
          </p:cNvSpPr>
          <p:nvPr/>
        </p:nvSpPr>
        <p:spPr>
          <a:xfrm xmlns:a="http://schemas.openxmlformats.org/drawingml/2006/main">
            <a:off x="7905750" y="31432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8064A2"/>
                </a:solidFill>
              </a:defRPr>
            </a:pPr>
            <a:r>
              <a:rPr sz="1125" b="1">
                <a:solidFill>
                  <a:srgbClr val="8064A2"/>
                </a:solidFill>
              </a:rPr>
              <a:t>Ensemble B</a:t>
            </a:r>
          </a:p>
        </p:txBody>
      </p:sp>
      <p:sp>
        <p:nvSpPr>
          <p:cNvPr id="223" name="">
            <a:extLst xmlns:a="http://schemas.openxmlformats.org/drawingml/2006/main">
              <a:ext uri="{FF2B5EF4-FFF2-40B4-BE49-F238E27FC236}">
                <a16:creationId xmlns:a16="http://schemas.microsoft.com/office/drawing/2014/main" id="{9B403342-8E39-4FE4-B5D8-88814F26D1A2}"/>
              </a:ext>
            </a:extLst>
          </p:cNvPr>
          <p:cNvSpPr>
            <a:spLocks xmlns:a="http://schemas.openxmlformats.org/drawingml/2006/main" noGrp="1"/>
          </p:cNvSpPr>
          <p:nvPr/>
        </p:nvSpPr>
        <p:spPr>
          <a:xfrm xmlns:a="http://schemas.openxmlformats.org/drawingml/2006/main">
            <a:off x="7905750" y="35242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3A3838"/>
                </a:solidFill>
              </a:defRPr>
            </a:pPr>
            <a:r>
              <a:rPr sz="975" b="0">
                <a:solidFill>
                  <a:srgbClr val="3A3838"/>
                </a:solidFill>
              </a:rPr>
              <a:t>different branches</a:t>
            </a:r>
          </a:p>
        </p:txBody>
      </p:sp>
      <p:sp>
        <p:nvSpPr>
          <p:cNvPr id="224" name="">
            <a:extLst xmlns:a="http://schemas.openxmlformats.org/drawingml/2006/main">
              <a:ext uri="{FF2B5EF4-FFF2-40B4-BE49-F238E27FC236}">
                <a16:creationId xmlns:a16="http://schemas.microsoft.com/office/drawing/2014/main" id="{E06D7F0D-1AC4-460F-94F6-BBDFCB244524}"/>
              </a:ext>
            </a:extLst>
          </p:cNvPr>
          <p:cNvSpPr>
            <a:spLocks xmlns:a="http://schemas.openxmlformats.org/drawingml/2006/main" noGrp="1"/>
          </p:cNvSpPr>
          <p:nvPr/>
        </p:nvSpPr>
        <p:spPr>
          <a:xfrm xmlns:a="http://schemas.openxmlformats.org/drawingml/2006/main">
            <a:off x="1190625" y="4191000"/>
            <a:ext cx="9810750" cy="1285875"/>
          </a:xfrm>
          <a:prstGeom xmlns:a="http://schemas.openxmlformats.org/drawingml/2006/main" prst="rect">
            <a:avLst/>
          </a:prstGeom>
          <a:solidFill xmlns:a="http://schemas.openxmlformats.org/drawingml/2006/main">
            <a:srgbClr val="F2F2F2"/>
          </a:solidFill>
          <a:ln xmlns:a="http://schemas.openxmlformats.org/drawingml/2006/main" w="7620">
            <a:solidFill>
              <a:srgbClr val="B7B7B7"/>
            </a:solidFill>
            <a:prstDash val="solid"/>
          </a:ln>
        </p:spPr>
      </p:sp>
      <p:sp>
        <p:nvSpPr>
          <p:cNvPr id="225" name="">
            <a:extLst xmlns:a="http://schemas.openxmlformats.org/drawingml/2006/main">
              <a:ext uri="{FF2B5EF4-FFF2-40B4-BE49-F238E27FC236}">
                <a16:creationId xmlns:a16="http://schemas.microsoft.com/office/drawing/2014/main" id="{C92D5ACF-31CA-494F-8224-EF07BB797266}"/>
              </a:ext>
            </a:extLst>
          </p:cNvPr>
          <p:cNvSpPr>
            <a:spLocks xmlns:a="http://schemas.openxmlformats.org/drawingml/2006/main" noGrp="1"/>
          </p:cNvSpPr>
          <p:nvPr/>
        </p:nvSpPr>
        <p:spPr>
          <a:xfrm xmlns:a="http://schemas.openxmlformats.org/drawingml/2006/main">
            <a:off x="1428750" y="43624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D24726"/>
                </a:solidFill>
              </a:defRPr>
            </a:pPr>
            <a:r>
              <a:rPr sz="1125" b="1">
                <a:solidFill>
                  <a:srgbClr val="D24726"/>
                </a:solidFill>
              </a:rPr>
              <a:t>Required experiment</a:t>
            </a:r>
          </a:p>
        </p:txBody>
      </p:sp>
      <p:sp>
        <p:nvSpPr>
          <p:cNvPr id="226" name="">
            <a:extLst xmlns:a="http://schemas.openxmlformats.org/drawingml/2006/main">
              <a:ext uri="{FF2B5EF4-FFF2-40B4-BE49-F238E27FC236}">
                <a16:creationId xmlns:a16="http://schemas.microsoft.com/office/drawing/2014/main" id="{3C69A85C-734E-4426-B1F2-CD6E5BF7658E}"/>
              </a:ext>
            </a:extLst>
          </p:cNvPr>
          <p:cNvSpPr>
            <a:spLocks xmlns:a="http://schemas.openxmlformats.org/drawingml/2006/main" noGrp="1"/>
          </p:cNvSpPr>
          <p:nvPr/>
        </p:nvSpPr>
        <p:spPr>
          <a:xfrm xmlns:a="http://schemas.openxmlformats.org/drawingml/2006/main">
            <a:off x="3190875" y="4324350"/>
            <a:ext cx="75723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13" b="0">
                <a:solidFill>
                  <a:srgbClr val="3A3838"/>
                </a:solidFill>
              </a:defRPr>
            </a:pPr>
            <a:r>
              <a:rPr sz="1013" b="0">
                <a:solidFill>
                  <a:srgbClr val="3A3838"/>
                </a:solidFill>
              </a:rPr>
              <a:t>Construct two distinct ensembles with the same ρ. Run the same actions and observations. If predictions and actions are identical, the extra branch decomposition is gauge and should be removed. If they differ, the model must specify the branch-dependent mechanism that makes the labels identifiable.</a:t>
            </a:r>
          </a:p>
        </p:txBody>
      </p:sp>
      <p:sp>
        <p:nvSpPr>
          <p:cNvPr id="227" name="">
            <a:extLst xmlns:a="http://schemas.openxmlformats.org/drawingml/2006/main">
              <a:ext uri="{FF2B5EF4-FFF2-40B4-BE49-F238E27FC236}">
                <a16:creationId xmlns:a16="http://schemas.microsoft.com/office/drawing/2014/main" id="{2EBA89A6-AAF6-4379-9CCE-E6252EC4B4CA}"/>
              </a:ext>
            </a:extLst>
          </p:cNvPr>
          <p:cNvSpPr>
            <a:spLocks xmlns:a="http://schemas.openxmlformats.org/drawingml/2006/main" noGrp="1"/>
          </p:cNvSpPr>
          <p:nvPr/>
        </p:nvSpPr>
        <p:spPr>
          <a:xfrm xmlns:a="http://schemas.openxmlformats.org/drawingml/2006/main">
            <a:off x="2143125" y="5715000"/>
            <a:ext cx="790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8064A2"/>
                </a:solidFill>
              </a:defRPr>
            </a:pPr>
            <a:r>
              <a:rPr sz="1050" b="1">
                <a:solidFill>
                  <a:srgbClr val="8064A2"/>
                </a:solidFill>
              </a:rPr>
              <a:t>This is a strength of the proposal: it has a clear failure test.</a:t>
            </a:r>
          </a:p>
        </p:txBody>
      </p:sp>
      <p:sp>
        <p:nvSpPr>
          <p:cNvPr id="228" name="">
            <a:extLst xmlns:a="http://schemas.openxmlformats.org/drawingml/2006/main">
              <a:ext uri="{FF2B5EF4-FFF2-40B4-BE49-F238E27FC236}">
                <a16:creationId xmlns:a16="http://schemas.microsoft.com/office/drawing/2014/main" id="{435800BC-F798-46BE-9D3E-DD651006DAA5}"/>
              </a:ext>
            </a:extLst>
          </p:cNvPr>
          <p:cNvSpPr>
            <a:spLocks xmlns:a="http://schemas.openxmlformats.org/drawingml/2006/main" noGrp="1"/>
          </p:cNvSpPr>
          <p:nvPr/>
        </p:nvSpPr>
        <p:spPr>
          <a:xfrm xmlns:a="http://schemas.openxmlformats.org/drawingml/2006/main">
            <a:off x="523875" y="6238875"/>
            <a:ext cx="1109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0">
                <a:solidFill>
                  <a:srgbClr val="767171"/>
                </a:solidFill>
              </a:defRPr>
            </a:pPr>
            <a:r>
              <a:rPr sz="660" b="0">
                <a:solidFill>
                  <a:srgbClr val="767171"/>
                </a:solidFill>
              </a:rPr>
              <a:t>[9] HJW theorem: Hughston, Jozsa &amp; Wootters, Phys. Lett. A 183, 14–18 (1993), DOI 10.1016/0375-9601(93)90880-9.</a:t>
            </a:r>
          </a:p>
        </p:txBody>
      </p:sp>
    </p:spTree>
    <p:extLst>
      <p:ext uri="{BB962C8B-B14F-4D97-AF65-F5344CB8AC3E}">
        <p14:creationId xmlns:p14="http://schemas.microsoft.com/office/powerpoint/2010/main" val="106164588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23" name="Google Shape;223;p24">
            <a:extLst xmlns:a="http://schemas.openxmlformats.org/drawingml/2006/main">
              <a:ext uri="{FF2B5EF4-FFF2-40B4-BE49-F238E27FC236}">
                <a16:creationId xmlns:a16="http://schemas.microsoft.com/office/drawing/2014/main" id="{620DD500-02E3-4B6C-8065-4D58A2ED17E4}"/>
              </a:ext>
            </a:extLst>
          </p:cNvPr>
          <p:cNvSpPr>
            <a:spLocks xmlns:a="http://schemas.openxmlformats.org/drawingml/2006/main" noGrp="1"/>
          </p:cNvSpPr>
          <p:nvPr>
            <p:ph type="title" idx="0"/>
          </p:nvPr>
        </p:nvSpPr>
        <p:spPr>
          <a:xfrm xmlns:a="http://schemas.openxmlformats.org/drawingml/2006/main">
            <a:off x="444532" y="430625"/>
            <a:ext cx="11210544" cy="5577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indent="0" algn="l">
              <a:spcBef>
                <a:spcPts val="0"/>
              </a:spcBef>
              <a:spcAft>
                <a:spcPts val="0"/>
              </a:spcAft>
              <a:buNone/>
              <a:defRPr sz="2100" b="0">
                <a:solidFill>
                  <a:srgbClr val="3A3838"/>
                </a:solidFill>
              </a:defRPr>
            </a:pPr>
            <a:r>
              <a:rPr sz="2100" b="0">
                <a:solidFill>
                  <a:srgbClr val="3A3838"/>
                </a:solidFill>
              </a:rPr>
              <a:t>Comparison: Three Ways to Preserve Structured Futures</a:t>
            </a:r>
          </a:p>
        </p:txBody>
      </p:sp>
      <p:sp>
        <p:nvSpPr>
          <p:cNvPr id="224" name="">
            <a:extLst xmlns:a="http://schemas.openxmlformats.org/drawingml/2006/main">
              <a:ext uri="{FF2B5EF4-FFF2-40B4-BE49-F238E27FC236}">
                <a16:creationId xmlns:a16="http://schemas.microsoft.com/office/drawing/2014/main" id="{E0251102-3492-4C88-8F16-25BBF0FB03CB}"/>
              </a:ext>
            </a:extLst>
          </p:cNvPr>
          <p:cNvSpPr>
            <a:spLocks xmlns:a="http://schemas.openxmlformats.org/drawingml/2006/main" noGrp="1"/>
          </p:cNvSpPr>
          <p:nvPr/>
        </p:nvSpPr>
        <p:spPr>
          <a:xfrm xmlns:a="http://schemas.openxmlformats.org/drawingml/2006/main">
            <a:off x="444532" y="1097280"/>
            <a:ext cx="11210544" cy="17145"/>
          </a:xfrm>
          <a:prstGeom xmlns:a="http://schemas.openxmlformats.org/drawingml/2006/main" prst="rect">
            <a:avLst/>
          </a:prstGeom>
          <a:solidFill xmlns:a="http://schemas.openxmlformats.org/drawingml/2006/main">
            <a:srgbClr val="D24726"/>
          </a:solidFill>
          <a:ln xmlns:a="http://schemas.openxmlformats.org/drawingml/2006/main" w="0">
            <a:solidFill>
              <a:srgbClr val="D24726"/>
            </a:solidFill>
            <a:prstDash val="solid"/>
          </a:ln>
        </p:spPr>
      </p:sp>
      <p:sp>
        <p:nvSpPr>
          <p:cNvPr id="225" name="">
            <a:extLst xmlns:a="http://schemas.openxmlformats.org/drawingml/2006/main">
              <a:ext uri="{FF2B5EF4-FFF2-40B4-BE49-F238E27FC236}">
                <a16:creationId xmlns:a16="http://schemas.microsoft.com/office/drawing/2014/main" id="{915ADF22-12B9-4D17-988C-54D3691AC9C7}"/>
              </a:ext>
            </a:extLst>
          </p:cNvPr>
          <p:cNvSpPr>
            <a:spLocks xmlns:a="http://schemas.openxmlformats.org/drawingml/2006/main" noGrp="1"/>
          </p:cNvSpPr>
          <p:nvPr/>
        </p:nvSpPr>
        <p:spPr>
          <a:xfrm xmlns:a="http://schemas.openxmlformats.org/drawingml/2006/main">
            <a:off x="523875" y="1619250"/>
            <a:ext cx="2095500" cy="457200"/>
          </a:xfrm>
          <a:prstGeom xmlns:a="http://schemas.openxmlformats.org/drawingml/2006/main" prst="rect">
            <a:avLst/>
          </a:prstGeom>
          <a:solidFill xmlns:a="http://schemas.openxmlformats.org/drawingml/2006/main">
            <a:srgbClr val="3A3838"/>
          </a:solidFill>
          <a:ln xmlns:a="http://schemas.openxmlformats.org/drawingml/2006/main" w="7620">
            <a:solidFill>
              <a:srgbClr val="B7B7B7"/>
            </a:solidFill>
            <a:prstDash val="solid"/>
          </a:ln>
        </p:spPr>
      </p:sp>
      <p:sp>
        <p:nvSpPr>
          <p:cNvPr id="226" name="">
            <a:extLst xmlns:a="http://schemas.openxmlformats.org/drawingml/2006/main">
              <a:ext uri="{FF2B5EF4-FFF2-40B4-BE49-F238E27FC236}">
                <a16:creationId xmlns:a16="http://schemas.microsoft.com/office/drawing/2014/main" id="{967F95EE-B6DB-41FC-999A-EFB9BAE05665}"/>
              </a:ext>
            </a:extLst>
          </p:cNvPr>
          <p:cNvSpPr>
            <a:spLocks xmlns:a="http://schemas.openxmlformats.org/drawingml/2006/main" noGrp="1"/>
          </p:cNvSpPr>
          <p:nvPr/>
        </p:nvSpPr>
        <p:spPr>
          <a:xfrm xmlns:a="http://schemas.openxmlformats.org/drawingml/2006/main">
            <a:off x="600075" y="1685925"/>
            <a:ext cx="1943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1">
                <a:solidFill>
                  <a:srgbClr val="FFFFFF"/>
                </a:solidFill>
              </a:defRPr>
            </a:pPr>
            <a:r>
              <a:rPr sz="1013" b="1">
                <a:solidFill>
                  <a:srgbClr val="FFFFFF"/>
                </a:solidFill>
              </a:rPr>
              <a:t>Core</a:t>
            </a:r>
          </a:p>
        </p:txBody>
      </p:sp>
      <p:sp>
        <p:nvSpPr>
          <p:cNvPr id="227" name="">
            <a:extLst xmlns:a="http://schemas.openxmlformats.org/drawingml/2006/main">
              <a:ext uri="{FF2B5EF4-FFF2-40B4-BE49-F238E27FC236}">
                <a16:creationId xmlns:a16="http://schemas.microsoft.com/office/drawing/2014/main" id="{D64E3491-E61D-42FF-BFDB-5B7DEA88D821}"/>
              </a:ext>
            </a:extLst>
          </p:cNvPr>
          <p:cNvSpPr>
            <a:spLocks xmlns:a="http://schemas.openxmlformats.org/drawingml/2006/main" noGrp="1"/>
          </p:cNvSpPr>
          <p:nvPr/>
        </p:nvSpPr>
        <p:spPr>
          <a:xfrm xmlns:a="http://schemas.openxmlformats.org/drawingml/2006/main">
            <a:off x="2619375" y="1619250"/>
            <a:ext cx="2952750" cy="457200"/>
          </a:xfrm>
          <a:prstGeom xmlns:a="http://schemas.openxmlformats.org/drawingml/2006/main" prst="rect">
            <a:avLst/>
          </a:prstGeom>
          <a:solidFill xmlns:a="http://schemas.openxmlformats.org/drawingml/2006/main">
            <a:srgbClr val="DDEBF7"/>
          </a:solidFill>
          <a:ln xmlns:a="http://schemas.openxmlformats.org/drawingml/2006/main" w="7620">
            <a:solidFill>
              <a:srgbClr val="4472C4"/>
            </a:solidFill>
            <a:prstDash val="solid"/>
          </a:ln>
        </p:spPr>
      </p:sp>
      <p:sp>
        <p:nvSpPr>
          <p:cNvPr id="228" name="">
            <a:extLst xmlns:a="http://schemas.openxmlformats.org/drawingml/2006/main">
              <a:ext uri="{FF2B5EF4-FFF2-40B4-BE49-F238E27FC236}">
                <a16:creationId xmlns:a16="http://schemas.microsoft.com/office/drawing/2014/main" id="{F57993C1-735C-4EA1-B31A-A89D1183AB0E}"/>
              </a:ext>
            </a:extLst>
          </p:cNvPr>
          <p:cNvSpPr>
            <a:spLocks xmlns:a="http://schemas.openxmlformats.org/drawingml/2006/main" noGrp="1"/>
          </p:cNvSpPr>
          <p:nvPr/>
        </p:nvSpPr>
        <p:spPr>
          <a:xfrm xmlns:a="http://schemas.openxmlformats.org/drawingml/2006/main">
            <a:off x="2695575" y="1685925"/>
            <a:ext cx="2800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13" b="1">
                <a:solidFill>
                  <a:srgbClr val="4472C4"/>
                </a:solidFill>
              </a:defRPr>
            </a:pPr>
            <a:r>
              <a:rPr sz="1013" b="1">
                <a:solidFill>
                  <a:srgbClr val="4472C4"/>
                </a:solidFill>
              </a:rPr>
              <a:t>QLC</a:t>
            </a:r>
          </a:p>
        </p:txBody>
      </p:sp>
      <p:sp>
        <p:nvSpPr>
          <p:cNvPr id="229" name="">
            <a:extLst xmlns:a="http://schemas.openxmlformats.org/drawingml/2006/main">
              <a:ext uri="{FF2B5EF4-FFF2-40B4-BE49-F238E27FC236}">
                <a16:creationId xmlns:a16="http://schemas.microsoft.com/office/drawing/2014/main" id="{208BA9AB-AF57-4261-87B4-4F27A6933652}"/>
              </a:ext>
            </a:extLst>
          </p:cNvPr>
          <p:cNvSpPr>
            <a:spLocks xmlns:a="http://schemas.openxmlformats.org/drawingml/2006/main" noGrp="1"/>
          </p:cNvSpPr>
          <p:nvPr/>
        </p:nvSpPr>
        <p:spPr>
          <a:xfrm xmlns:a="http://schemas.openxmlformats.org/drawingml/2006/main">
            <a:off x="5572125" y="1619250"/>
            <a:ext cx="2952750" cy="457200"/>
          </a:xfrm>
          <a:prstGeom xmlns:a="http://schemas.openxmlformats.org/drawingml/2006/main" prst="rect">
            <a:avLst/>
          </a:prstGeom>
          <a:solidFill xmlns:a="http://schemas.openxmlformats.org/drawingml/2006/main">
            <a:srgbClr val="E2F0D9"/>
          </a:solidFill>
          <a:ln xmlns:a="http://schemas.openxmlformats.org/drawingml/2006/main" w="7620">
            <a:solidFill>
              <a:srgbClr val="70AD47"/>
            </a:solidFill>
            <a:prstDash val="solid"/>
          </a:ln>
        </p:spPr>
      </p:sp>
      <p:sp>
        <p:nvSpPr>
          <p:cNvPr id="230" name="">
            <a:extLst xmlns:a="http://schemas.openxmlformats.org/drawingml/2006/main">
              <a:ext uri="{FF2B5EF4-FFF2-40B4-BE49-F238E27FC236}">
                <a16:creationId xmlns:a16="http://schemas.microsoft.com/office/drawing/2014/main" id="{7544764B-A9F9-44A2-8CB5-6723C7A20C6D}"/>
              </a:ext>
            </a:extLst>
          </p:cNvPr>
          <p:cNvSpPr>
            <a:spLocks xmlns:a="http://schemas.openxmlformats.org/drawingml/2006/main" noGrp="1"/>
          </p:cNvSpPr>
          <p:nvPr/>
        </p:nvSpPr>
        <p:spPr>
          <a:xfrm xmlns:a="http://schemas.openxmlformats.org/drawingml/2006/main">
            <a:off x="5648325" y="1685925"/>
            <a:ext cx="2800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13" b="1">
                <a:solidFill>
                  <a:srgbClr val="70AD47"/>
                </a:solidFill>
              </a:defRPr>
            </a:pPr>
            <a:r>
              <a:rPr sz="1013" b="1">
                <a:solidFill>
                  <a:srgbClr val="70AD47"/>
                </a:solidFill>
              </a:rPr>
              <a:t>PSC</a:t>
            </a:r>
          </a:p>
        </p:txBody>
      </p:sp>
      <p:sp>
        <p:nvSpPr>
          <p:cNvPr id="231" name="">
            <a:extLst xmlns:a="http://schemas.openxmlformats.org/drawingml/2006/main">
              <a:ext uri="{FF2B5EF4-FFF2-40B4-BE49-F238E27FC236}">
                <a16:creationId xmlns:a16="http://schemas.microsoft.com/office/drawing/2014/main" id="{2256FABB-8FCF-499F-8887-98E55D029A45}"/>
              </a:ext>
            </a:extLst>
          </p:cNvPr>
          <p:cNvSpPr>
            <a:spLocks xmlns:a="http://schemas.openxmlformats.org/drawingml/2006/main" noGrp="1"/>
          </p:cNvSpPr>
          <p:nvPr/>
        </p:nvSpPr>
        <p:spPr>
          <a:xfrm xmlns:a="http://schemas.openxmlformats.org/drawingml/2006/main">
            <a:off x="8524875" y="1619250"/>
            <a:ext cx="2952750" cy="457200"/>
          </a:xfrm>
          <a:prstGeom xmlns:a="http://schemas.openxmlformats.org/drawingml/2006/main" prst="rect">
            <a:avLst/>
          </a:prstGeom>
          <a:solidFill xmlns:a="http://schemas.openxmlformats.org/drawingml/2006/main">
            <a:srgbClr val="E4DFEC"/>
          </a:solidFill>
          <a:ln xmlns:a="http://schemas.openxmlformats.org/drawingml/2006/main" w="7620">
            <a:solidFill>
              <a:srgbClr val="8064A2"/>
            </a:solidFill>
            <a:prstDash val="solid"/>
          </a:ln>
        </p:spPr>
      </p:sp>
      <p:sp>
        <p:nvSpPr>
          <p:cNvPr id="232" name="">
            <a:extLst xmlns:a="http://schemas.openxmlformats.org/drawingml/2006/main">
              <a:ext uri="{FF2B5EF4-FFF2-40B4-BE49-F238E27FC236}">
                <a16:creationId xmlns:a16="http://schemas.microsoft.com/office/drawing/2014/main" id="{0E9BCDD6-76EC-4D00-A00E-1AEC436AF9D8}"/>
              </a:ext>
            </a:extLst>
          </p:cNvPr>
          <p:cNvSpPr>
            <a:spLocks xmlns:a="http://schemas.openxmlformats.org/drawingml/2006/main" noGrp="1"/>
          </p:cNvSpPr>
          <p:nvPr/>
        </p:nvSpPr>
        <p:spPr>
          <a:xfrm xmlns:a="http://schemas.openxmlformats.org/drawingml/2006/main">
            <a:off x="8601075" y="1685925"/>
            <a:ext cx="2800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13" b="1">
                <a:solidFill>
                  <a:srgbClr val="8064A2"/>
                </a:solidFill>
              </a:defRPr>
            </a:pPr>
            <a:r>
              <a:rPr sz="1013" b="1">
                <a:solidFill>
                  <a:srgbClr val="8064A2"/>
                </a:solidFill>
              </a:rPr>
              <a:t>TEC</a:t>
            </a:r>
          </a:p>
        </p:txBody>
      </p:sp>
      <p:sp>
        <p:nvSpPr>
          <p:cNvPr id="233" name="">
            <a:extLst xmlns:a="http://schemas.openxmlformats.org/drawingml/2006/main">
              <a:ext uri="{FF2B5EF4-FFF2-40B4-BE49-F238E27FC236}">
                <a16:creationId xmlns:a16="http://schemas.microsoft.com/office/drawing/2014/main" id="{79A9A9B5-EBE8-4DC0-B7E8-433D699E3110}"/>
              </a:ext>
            </a:extLst>
          </p:cNvPr>
          <p:cNvSpPr>
            <a:spLocks xmlns:a="http://schemas.openxmlformats.org/drawingml/2006/main" noGrp="1"/>
          </p:cNvSpPr>
          <p:nvPr/>
        </p:nvSpPr>
        <p:spPr>
          <a:xfrm xmlns:a="http://schemas.openxmlformats.org/drawingml/2006/main">
            <a:off x="523875" y="2076450"/>
            <a:ext cx="2095500" cy="523875"/>
          </a:xfrm>
          <a:prstGeom xmlns:a="http://schemas.openxmlformats.org/drawingml/2006/main" prst="rect">
            <a:avLst/>
          </a:prstGeom>
          <a:solidFill xmlns:a="http://schemas.openxmlformats.org/drawingml/2006/main">
            <a:srgbClr val="F2F2F2"/>
          </a:solidFill>
          <a:ln xmlns:a="http://schemas.openxmlformats.org/drawingml/2006/main" w="7620">
            <a:solidFill>
              <a:srgbClr val="B7B7B7"/>
            </a:solidFill>
            <a:prstDash val="solid"/>
          </a:ln>
        </p:spPr>
      </p:sp>
      <p:sp>
        <p:nvSpPr>
          <p:cNvPr id="234" name="">
            <a:extLst xmlns:a="http://schemas.openxmlformats.org/drawingml/2006/main">
              <a:ext uri="{FF2B5EF4-FFF2-40B4-BE49-F238E27FC236}">
                <a16:creationId xmlns:a16="http://schemas.microsoft.com/office/drawing/2014/main" id="{991EDB0B-9A50-45BD-B388-5A5917014EDC}"/>
              </a:ext>
            </a:extLst>
          </p:cNvPr>
          <p:cNvSpPr>
            <a:spLocks xmlns:a="http://schemas.openxmlformats.org/drawingml/2006/main" noGrp="1"/>
          </p:cNvSpPr>
          <p:nvPr/>
        </p:nvSpPr>
        <p:spPr>
          <a:xfrm xmlns:a="http://schemas.openxmlformats.org/drawingml/2006/main">
            <a:off x="600075" y="2143125"/>
            <a:ext cx="19431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48" b="1">
                <a:solidFill>
                  <a:srgbClr val="3A3838"/>
                </a:solidFill>
              </a:defRPr>
            </a:pPr>
            <a:r>
              <a:rPr sz="848" b="1">
                <a:solidFill>
                  <a:srgbClr val="3A3838"/>
                </a:solidFill>
              </a:rPr>
              <a:t>State</a:t>
            </a:r>
          </a:p>
        </p:txBody>
      </p:sp>
      <p:sp>
        <p:nvSpPr>
          <p:cNvPr id="235" name="">
            <a:extLst xmlns:a="http://schemas.openxmlformats.org/drawingml/2006/main">
              <a:ext uri="{FF2B5EF4-FFF2-40B4-BE49-F238E27FC236}">
                <a16:creationId xmlns:a16="http://schemas.microsoft.com/office/drawing/2014/main" id="{709DF65F-937B-4061-A4E2-4D92F8E53812}"/>
              </a:ext>
            </a:extLst>
          </p:cNvPr>
          <p:cNvSpPr>
            <a:spLocks xmlns:a="http://schemas.openxmlformats.org/drawingml/2006/main" noGrp="1"/>
          </p:cNvSpPr>
          <p:nvPr/>
        </p:nvSpPr>
        <p:spPr>
          <a:xfrm xmlns:a="http://schemas.openxmlformats.org/drawingml/2006/main">
            <a:off x="2619375" y="2076450"/>
            <a:ext cx="2952750" cy="523875"/>
          </a:xfrm>
          <a:prstGeom xmlns:a="http://schemas.openxmlformats.org/drawingml/2006/main" prst="rect">
            <a:avLst/>
          </a:prstGeom>
          <a:solidFill xmlns:a="http://schemas.openxmlformats.org/drawingml/2006/main">
            <a:srgbClr val="FFFFFF"/>
          </a:solidFill>
          <a:ln xmlns:a="http://schemas.openxmlformats.org/drawingml/2006/main" w="7620">
            <a:solidFill>
              <a:srgbClr val="B7B7B7"/>
            </a:solidFill>
            <a:prstDash val="solid"/>
          </a:ln>
        </p:spPr>
      </p:sp>
      <p:sp>
        <p:nvSpPr>
          <p:cNvPr id="236" name="">
            <a:extLst xmlns:a="http://schemas.openxmlformats.org/drawingml/2006/main">
              <a:ext uri="{FF2B5EF4-FFF2-40B4-BE49-F238E27FC236}">
                <a16:creationId xmlns:a16="http://schemas.microsoft.com/office/drawing/2014/main" id="{4938BFFD-8DFB-4047-B944-D0742058E537}"/>
              </a:ext>
            </a:extLst>
          </p:cNvPr>
          <p:cNvSpPr>
            <a:spLocks xmlns:a="http://schemas.openxmlformats.org/drawingml/2006/main" noGrp="1"/>
          </p:cNvSpPr>
          <p:nvPr/>
        </p:nvSpPr>
        <p:spPr>
          <a:xfrm xmlns:a="http://schemas.openxmlformats.org/drawingml/2006/main">
            <a:off x="2695575" y="2143125"/>
            <a:ext cx="28003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8" b="0">
                <a:solidFill>
                  <a:srgbClr val="3A3838"/>
                </a:solidFill>
              </a:defRPr>
            </a:pPr>
            <a:r>
              <a:rPr sz="848" b="0">
                <a:solidFill>
                  <a:srgbClr val="3A3838"/>
                </a:solidFill>
              </a:rPr>
              <a:t>one density matrix ρ</a:t>
            </a:r>
          </a:p>
        </p:txBody>
      </p:sp>
      <p:sp>
        <p:nvSpPr>
          <p:cNvPr id="237" name="">
            <a:extLst xmlns:a="http://schemas.openxmlformats.org/drawingml/2006/main">
              <a:ext uri="{FF2B5EF4-FFF2-40B4-BE49-F238E27FC236}">
                <a16:creationId xmlns:a16="http://schemas.microsoft.com/office/drawing/2014/main" id="{24E80238-D096-4A9E-99E2-AEE497537C4C}"/>
              </a:ext>
            </a:extLst>
          </p:cNvPr>
          <p:cNvSpPr>
            <a:spLocks xmlns:a="http://schemas.openxmlformats.org/drawingml/2006/main" noGrp="1"/>
          </p:cNvSpPr>
          <p:nvPr/>
        </p:nvSpPr>
        <p:spPr>
          <a:xfrm xmlns:a="http://schemas.openxmlformats.org/drawingml/2006/main">
            <a:off x="5572125" y="2076450"/>
            <a:ext cx="2952750" cy="523875"/>
          </a:xfrm>
          <a:prstGeom xmlns:a="http://schemas.openxmlformats.org/drawingml/2006/main" prst="rect">
            <a:avLst/>
          </a:prstGeom>
          <a:solidFill xmlns:a="http://schemas.openxmlformats.org/drawingml/2006/main">
            <a:srgbClr val="FFFFFF"/>
          </a:solidFill>
          <a:ln xmlns:a="http://schemas.openxmlformats.org/drawingml/2006/main" w="7620">
            <a:solidFill>
              <a:srgbClr val="B7B7B7"/>
            </a:solidFill>
            <a:prstDash val="solid"/>
          </a:ln>
        </p:spPr>
      </p:sp>
      <p:sp>
        <p:nvSpPr>
          <p:cNvPr id="238" name="">
            <a:extLst xmlns:a="http://schemas.openxmlformats.org/drawingml/2006/main">
              <a:ext uri="{FF2B5EF4-FFF2-40B4-BE49-F238E27FC236}">
                <a16:creationId xmlns:a16="http://schemas.microsoft.com/office/drawing/2014/main" id="{815C9A0E-832D-4038-9356-0D72580D1D01}"/>
              </a:ext>
            </a:extLst>
          </p:cNvPr>
          <p:cNvSpPr>
            <a:spLocks xmlns:a="http://schemas.openxmlformats.org/drawingml/2006/main" noGrp="1"/>
          </p:cNvSpPr>
          <p:nvPr/>
        </p:nvSpPr>
        <p:spPr>
          <a:xfrm xmlns:a="http://schemas.openxmlformats.org/drawingml/2006/main">
            <a:off x="5648325" y="2143125"/>
            <a:ext cx="28003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8" b="0">
                <a:solidFill>
                  <a:srgbClr val="3A3838"/>
                </a:solidFill>
              </a:defRPr>
            </a:pPr>
            <a:r>
              <a:rPr sz="848" b="0">
                <a:solidFill>
                  <a:srgbClr val="3A3838"/>
                </a:solidFill>
              </a:rPr>
              <a:t>purified slot network X</a:t>
            </a:r>
          </a:p>
        </p:txBody>
      </p:sp>
      <p:sp>
        <p:nvSpPr>
          <p:cNvPr id="239" name="">
            <a:extLst xmlns:a="http://schemas.openxmlformats.org/drawingml/2006/main">
              <a:ext uri="{FF2B5EF4-FFF2-40B4-BE49-F238E27FC236}">
                <a16:creationId xmlns:a16="http://schemas.microsoft.com/office/drawing/2014/main" id="{E3FCC5AF-2B23-4C98-837E-B380BA63E047}"/>
              </a:ext>
            </a:extLst>
          </p:cNvPr>
          <p:cNvSpPr>
            <a:spLocks xmlns:a="http://schemas.openxmlformats.org/drawingml/2006/main" noGrp="1"/>
          </p:cNvSpPr>
          <p:nvPr/>
        </p:nvSpPr>
        <p:spPr>
          <a:xfrm xmlns:a="http://schemas.openxmlformats.org/drawingml/2006/main">
            <a:off x="8524875" y="2076450"/>
            <a:ext cx="2952750" cy="523875"/>
          </a:xfrm>
          <a:prstGeom xmlns:a="http://schemas.openxmlformats.org/drawingml/2006/main" prst="rect">
            <a:avLst/>
          </a:prstGeom>
          <a:solidFill xmlns:a="http://schemas.openxmlformats.org/drawingml/2006/main">
            <a:srgbClr val="FFFFFF"/>
          </a:solidFill>
          <a:ln xmlns:a="http://schemas.openxmlformats.org/drawingml/2006/main" w="7620">
            <a:solidFill>
              <a:srgbClr val="B7B7B7"/>
            </a:solidFill>
            <a:prstDash val="solid"/>
          </a:ln>
        </p:spPr>
      </p:sp>
      <p:sp>
        <p:nvSpPr>
          <p:cNvPr id="240" name="">
            <a:extLst xmlns:a="http://schemas.openxmlformats.org/drawingml/2006/main">
              <a:ext uri="{FF2B5EF4-FFF2-40B4-BE49-F238E27FC236}">
                <a16:creationId xmlns:a16="http://schemas.microsoft.com/office/drawing/2014/main" id="{1D05805A-D114-4CBA-B705-247FF241FF3A}"/>
              </a:ext>
            </a:extLst>
          </p:cNvPr>
          <p:cNvSpPr>
            <a:spLocks xmlns:a="http://schemas.openxmlformats.org/drawingml/2006/main" noGrp="1"/>
          </p:cNvSpPr>
          <p:nvPr/>
        </p:nvSpPr>
        <p:spPr>
          <a:xfrm xmlns:a="http://schemas.openxmlformats.org/drawingml/2006/main">
            <a:off x="8601075" y="2143125"/>
            <a:ext cx="28003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8" b="0">
                <a:solidFill>
                  <a:srgbClr val="3A3838"/>
                </a:solidFill>
              </a:defRPr>
            </a:pPr>
            <a:r>
              <a:rPr sz="848" b="0">
                <a:solidFill>
                  <a:srgbClr val="3A3838"/>
                </a:solidFill>
              </a:rPr>
              <a:t>weighted branches (wₘ, ψₘ)</a:t>
            </a:r>
          </a:p>
        </p:txBody>
      </p:sp>
      <p:sp>
        <p:nvSpPr>
          <p:cNvPr id="241" name="">
            <a:extLst xmlns:a="http://schemas.openxmlformats.org/drawingml/2006/main">
              <a:ext uri="{FF2B5EF4-FFF2-40B4-BE49-F238E27FC236}">
                <a16:creationId xmlns:a16="http://schemas.microsoft.com/office/drawing/2014/main" id="{132A56A7-A4C0-4133-A23D-8AF9F769BC29}"/>
              </a:ext>
            </a:extLst>
          </p:cNvPr>
          <p:cNvSpPr>
            <a:spLocks xmlns:a="http://schemas.openxmlformats.org/drawingml/2006/main" noGrp="1"/>
          </p:cNvSpPr>
          <p:nvPr/>
        </p:nvSpPr>
        <p:spPr>
          <a:xfrm xmlns:a="http://schemas.openxmlformats.org/drawingml/2006/main">
            <a:off x="523875" y="2600325"/>
            <a:ext cx="2095500" cy="523875"/>
          </a:xfrm>
          <a:prstGeom xmlns:a="http://schemas.openxmlformats.org/drawingml/2006/main" prst="rect">
            <a:avLst/>
          </a:prstGeom>
          <a:solidFill xmlns:a="http://schemas.openxmlformats.org/drawingml/2006/main">
            <a:srgbClr val="F2F2F2"/>
          </a:solidFill>
          <a:ln xmlns:a="http://schemas.openxmlformats.org/drawingml/2006/main" w="7620">
            <a:solidFill>
              <a:srgbClr val="B7B7B7"/>
            </a:solidFill>
            <a:prstDash val="solid"/>
          </a:ln>
        </p:spPr>
      </p:sp>
      <p:sp>
        <p:nvSpPr>
          <p:cNvPr id="242" name="">
            <a:extLst xmlns:a="http://schemas.openxmlformats.org/drawingml/2006/main">
              <a:ext uri="{FF2B5EF4-FFF2-40B4-BE49-F238E27FC236}">
                <a16:creationId xmlns:a16="http://schemas.microsoft.com/office/drawing/2014/main" id="{C0797DC4-3A50-4BD8-BB0A-AC15800E51FF}"/>
              </a:ext>
            </a:extLst>
          </p:cNvPr>
          <p:cNvSpPr>
            <a:spLocks xmlns:a="http://schemas.openxmlformats.org/drawingml/2006/main" noGrp="1"/>
          </p:cNvSpPr>
          <p:nvPr/>
        </p:nvSpPr>
        <p:spPr>
          <a:xfrm xmlns:a="http://schemas.openxmlformats.org/drawingml/2006/main">
            <a:off x="600075" y="2667000"/>
            <a:ext cx="19431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48" b="1">
                <a:solidFill>
                  <a:srgbClr val="3A3838"/>
                </a:solidFill>
              </a:defRPr>
            </a:pPr>
            <a:r>
              <a:rPr sz="848" b="1">
                <a:solidFill>
                  <a:srgbClr val="3A3838"/>
                </a:solidFill>
              </a:rPr>
              <a:t>Main structure</a:t>
            </a:r>
          </a:p>
        </p:txBody>
      </p:sp>
      <p:sp>
        <p:nvSpPr>
          <p:cNvPr id="243" name="">
            <a:extLst xmlns:a="http://schemas.openxmlformats.org/drawingml/2006/main">
              <a:ext uri="{FF2B5EF4-FFF2-40B4-BE49-F238E27FC236}">
                <a16:creationId xmlns:a16="http://schemas.microsoft.com/office/drawing/2014/main" id="{0857837A-555C-47C1-9034-7562FEF3B26E}"/>
              </a:ext>
            </a:extLst>
          </p:cNvPr>
          <p:cNvSpPr>
            <a:spLocks xmlns:a="http://schemas.openxmlformats.org/drawingml/2006/main" noGrp="1"/>
          </p:cNvSpPr>
          <p:nvPr/>
        </p:nvSpPr>
        <p:spPr>
          <a:xfrm xmlns:a="http://schemas.openxmlformats.org/drawingml/2006/main">
            <a:off x="2619375" y="2600325"/>
            <a:ext cx="2952750" cy="523875"/>
          </a:xfrm>
          <a:prstGeom xmlns:a="http://schemas.openxmlformats.org/drawingml/2006/main" prst="rect">
            <a:avLst/>
          </a:prstGeom>
          <a:solidFill xmlns:a="http://schemas.openxmlformats.org/drawingml/2006/main">
            <a:srgbClr val="FFFFFF"/>
          </a:solidFill>
          <a:ln xmlns:a="http://schemas.openxmlformats.org/drawingml/2006/main" w="7620">
            <a:solidFill>
              <a:srgbClr val="B7B7B7"/>
            </a:solidFill>
            <a:prstDash val="solid"/>
          </a:ln>
        </p:spPr>
      </p:sp>
      <p:sp>
        <p:nvSpPr>
          <p:cNvPr id="244" name="">
            <a:extLst xmlns:a="http://schemas.openxmlformats.org/drawingml/2006/main">
              <a:ext uri="{FF2B5EF4-FFF2-40B4-BE49-F238E27FC236}">
                <a16:creationId xmlns:a16="http://schemas.microsoft.com/office/drawing/2014/main" id="{6BB35BC8-BEC5-4F5A-9044-710E446FE8C8}"/>
              </a:ext>
            </a:extLst>
          </p:cNvPr>
          <p:cNvSpPr>
            <a:spLocks xmlns:a="http://schemas.openxmlformats.org/drawingml/2006/main" noGrp="1"/>
          </p:cNvSpPr>
          <p:nvPr/>
        </p:nvSpPr>
        <p:spPr>
          <a:xfrm xmlns:a="http://schemas.openxmlformats.org/drawingml/2006/main">
            <a:off x="2695575" y="2667000"/>
            <a:ext cx="28003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8" b="0">
                <a:solidFill>
                  <a:srgbClr val="3A3838"/>
                </a:solidFill>
              </a:defRPr>
            </a:pPr>
            <a:r>
              <a:rPr sz="848" b="0">
                <a:solidFill>
                  <a:srgbClr val="3A3838"/>
                </a:solidFill>
              </a:rPr>
              <a:t>basis-dependent coherence</a:t>
            </a:r>
          </a:p>
        </p:txBody>
      </p:sp>
      <p:sp>
        <p:nvSpPr>
          <p:cNvPr id="245" name="">
            <a:extLst xmlns:a="http://schemas.openxmlformats.org/drawingml/2006/main">
              <a:ext uri="{FF2B5EF4-FFF2-40B4-BE49-F238E27FC236}">
                <a16:creationId xmlns:a16="http://schemas.microsoft.com/office/drawing/2014/main" id="{FD7EE3A7-21BC-4E7B-AD0C-157CFA9DEC01}"/>
              </a:ext>
            </a:extLst>
          </p:cNvPr>
          <p:cNvSpPr>
            <a:spLocks xmlns:a="http://schemas.openxmlformats.org/drawingml/2006/main" noGrp="1"/>
          </p:cNvSpPr>
          <p:nvPr/>
        </p:nvSpPr>
        <p:spPr>
          <a:xfrm xmlns:a="http://schemas.openxmlformats.org/drawingml/2006/main">
            <a:off x="5572125" y="2600325"/>
            <a:ext cx="2952750" cy="523875"/>
          </a:xfrm>
          <a:prstGeom xmlns:a="http://schemas.openxmlformats.org/drawingml/2006/main" prst="rect">
            <a:avLst/>
          </a:prstGeom>
          <a:solidFill xmlns:a="http://schemas.openxmlformats.org/drawingml/2006/main">
            <a:srgbClr val="FFFFFF"/>
          </a:solidFill>
          <a:ln xmlns:a="http://schemas.openxmlformats.org/drawingml/2006/main" w="7620">
            <a:solidFill>
              <a:srgbClr val="B7B7B7"/>
            </a:solidFill>
            <a:prstDash val="solid"/>
          </a:ln>
        </p:spPr>
      </p:sp>
      <p:sp>
        <p:nvSpPr>
          <p:cNvPr id="246" name="">
            <a:extLst xmlns:a="http://schemas.openxmlformats.org/drawingml/2006/main">
              <a:ext uri="{FF2B5EF4-FFF2-40B4-BE49-F238E27FC236}">
                <a16:creationId xmlns:a16="http://schemas.microsoft.com/office/drawing/2014/main" id="{63CF6CB1-6874-4F20-BF8A-9EBFA9F19F62}"/>
              </a:ext>
            </a:extLst>
          </p:cNvPr>
          <p:cNvSpPr>
            <a:spLocks xmlns:a="http://schemas.openxmlformats.org/drawingml/2006/main" noGrp="1"/>
          </p:cNvSpPr>
          <p:nvPr/>
        </p:nvSpPr>
        <p:spPr>
          <a:xfrm xmlns:a="http://schemas.openxmlformats.org/drawingml/2006/main">
            <a:off x="5648325" y="2667000"/>
            <a:ext cx="28003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8" b="0">
                <a:solidFill>
                  <a:srgbClr val="3A3838"/>
                </a:solidFill>
              </a:defRPr>
            </a:pPr>
            <a:r>
              <a:rPr sz="848" b="0">
                <a:solidFill>
                  <a:srgbClr val="3A3838"/>
                </a:solidFill>
              </a:rPr>
              <a:t>cross-slot dependence</a:t>
            </a:r>
          </a:p>
        </p:txBody>
      </p:sp>
      <p:sp>
        <p:nvSpPr>
          <p:cNvPr id="247" name="">
            <a:extLst xmlns:a="http://schemas.openxmlformats.org/drawingml/2006/main">
              <a:ext uri="{FF2B5EF4-FFF2-40B4-BE49-F238E27FC236}">
                <a16:creationId xmlns:a16="http://schemas.microsoft.com/office/drawing/2014/main" id="{23DC6DD2-CA70-4B3C-AE6D-571FF5F8B6A1}"/>
              </a:ext>
            </a:extLst>
          </p:cNvPr>
          <p:cNvSpPr>
            <a:spLocks xmlns:a="http://schemas.openxmlformats.org/drawingml/2006/main" noGrp="1"/>
          </p:cNvSpPr>
          <p:nvPr/>
        </p:nvSpPr>
        <p:spPr>
          <a:xfrm xmlns:a="http://schemas.openxmlformats.org/drawingml/2006/main">
            <a:off x="8524875" y="2600325"/>
            <a:ext cx="2952750" cy="523875"/>
          </a:xfrm>
          <a:prstGeom xmlns:a="http://schemas.openxmlformats.org/drawingml/2006/main" prst="rect">
            <a:avLst/>
          </a:prstGeom>
          <a:solidFill xmlns:a="http://schemas.openxmlformats.org/drawingml/2006/main">
            <a:srgbClr val="FFFFFF"/>
          </a:solidFill>
          <a:ln xmlns:a="http://schemas.openxmlformats.org/drawingml/2006/main" w="7620">
            <a:solidFill>
              <a:srgbClr val="B7B7B7"/>
            </a:solidFill>
            <a:prstDash val="solid"/>
          </a:ln>
        </p:spPr>
      </p:sp>
      <p:sp>
        <p:nvSpPr>
          <p:cNvPr id="248" name="">
            <a:extLst xmlns:a="http://schemas.openxmlformats.org/drawingml/2006/main">
              <a:ext uri="{FF2B5EF4-FFF2-40B4-BE49-F238E27FC236}">
                <a16:creationId xmlns:a16="http://schemas.microsoft.com/office/drawing/2014/main" id="{883F50B9-1101-4D48-B61F-B10F10468C03}"/>
              </a:ext>
            </a:extLst>
          </p:cNvPr>
          <p:cNvSpPr>
            <a:spLocks xmlns:a="http://schemas.openxmlformats.org/drawingml/2006/main" noGrp="1"/>
          </p:cNvSpPr>
          <p:nvPr/>
        </p:nvSpPr>
        <p:spPr>
          <a:xfrm xmlns:a="http://schemas.openxmlformats.org/drawingml/2006/main">
            <a:off x="8601075" y="2667000"/>
            <a:ext cx="28003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8" b="0">
                <a:solidFill>
                  <a:srgbClr val="3A3838"/>
                </a:solidFill>
              </a:defRPr>
            </a:pPr>
            <a:r>
              <a:rPr sz="848" b="0">
                <a:solidFill>
                  <a:srgbClr val="3A3838"/>
                </a:solidFill>
              </a:rPr>
              <a:t>persistent complete futures</a:t>
            </a:r>
          </a:p>
        </p:txBody>
      </p:sp>
      <p:sp>
        <p:nvSpPr>
          <p:cNvPr id="249" name="">
            <a:extLst xmlns:a="http://schemas.openxmlformats.org/drawingml/2006/main">
              <a:ext uri="{FF2B5EF4-FFF2-40B4-BE49-F238E27FC236}">
                <a16:creationId xmlns:a16="http://schemas.microsoft.com/office/drawing/2014/main" id="{F53C4347-BCB8-4DEB-8C8A-05B72873C059}"/>
              </a:ext>
            </a:extLst>
          </p:cNvPr>
          <p:cNvSpPr>
            <a:spLocks xmlns:a="http://schemas.openxmlformats.org/drawingml/2006/main" noGrp="1"/>
          </p:cNvSpPr>
          <p:nvPr/>
        </p:nvSpPr>
        <p:spPr>
          <a:xfrm xmlns:a="http://schemas.openxmlformats.org/drawingml/2006/main">
            <a:off x="523875" y="3124200"/>
            <a:ext cx="2095500" cy="523875"/>
          </a:xfrm>
          <a:prstGeom xmlns:a="http://schemas.openxmlformats.org/drawingml/2006/main" prst="rect">
            <a:avLst/>
          </a:prstGeom>
          <a:solidFill xmlns:a="http://schemas.openxmlformats.org/drawingml/2006/main">
            <a:srgbClr val="F2F2F2"/>
          </a:solidFill>
          <a:ln xmlns:a="http://schemas.openxmlformats.org/drawingml/2006/main" w="7620">
            <a:solidFill>
              <a:srgbClr val="B7B7B7"/>
            </a:solidFill>
            <a:prstDash val="solid"/>
          </a:ln>
        </p:spPr>
      </p:sp>
      <p:sp>
        <p:nvSpPr>
          <p:cNvPr id="250" name="">
            <a:extLst xmlns:a="http://schemas.openxmlformats.org/drawingml/2006/main">
              <a:ext uri="{FF2B5EF4-FFF2-40B4-BE49-F238E27FC236}">
                <a16:creationId xmlns:a16="http://schemas.microsoft.com/office/drawing/2014/main" id="{6E44A432-2315-452F-8CB8-716E36CD2729}"/>
              </a:ext>
            </a:extLst>
          </p:cNvPr>
          <p:cNvSpPr>
            <a:spLocks xmlns:a="http://schemas.openxmlformats.org/drawingml/2006/main" noGrp="1"/>
          </p:cNvSpPr>
          <p:nvPr/>
        </p:nvSpPr>
        <p:spPr>
          <a:xfrm xmlns:a="http://schemas.openxmlformats.org/drawingml/2006/main">
            <a:off x="600075" y="3190875"/>
            <a:ext cx="19431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48" b="1">
                <a:solidFill>
                  <a:srgbClr val="3A3838"/>
                </a:solidFill>
              </a:defRPr>
            </a:pPr>
            <a:r>
              <a:rPr sz="848" b="1">
                <a:solidFill>
                  <a:srgbClr val="3A3838"/>
                </a:solidFill>
              </a:rPr>
              <a:t>Interaction</a:t>
            </a:r>
          </a:p>
        </p:txBody>
      </p:sp>
      <p:sp>
        <p:nvSpPr>
          <p:cNvPr id="251" name="">
            <a:extLst xmlns:a="http://schemas.openxmlformats.org/drawingml/2006/main">
              <a:ext uri="{FF2B5EF4-FFF2-40B4-BE49-F238E27FC236}">
                <a16:creationId xmlns:a16="http://schemas.microsoft.com/office/drawing/2014/main" id="{38FD6448-596E-48C6-88ED-04AF2B04D3E9}"/>
              </a:ext>
            </a:extLst>
          </p:cNvPr>
          <p:cNvSpPr>
            <a:spLocks xmlns:a="http://schemas.openxmlformats.org/drawingml/2006/main" noGrp="1"/>
          </p:cNvSpPr>
          <p:nvPr/>
        </p:nvSpPr>
        <p:spPr>
          <a:xfrm xmlns:a="http://schemas.openxmlformats.org/drawingml/2006/main">
            <a:off x="2619375" y="3124200"/>
            <a:ext cx="2952750" cy="523875"/>
          </a:xfrm>
          <a:prstGeom xmlns:a="http://schemas.openxmlformats.org/drawingml/2006/main" prst="rect">
            <a:avLst/>
          </a:prstGeom>
          <a:solidFill xmlns:a="http://schemas.openxmlformats.org/drawingml/2006/main">
            <a:srgbClr val="FFFFFF"/>
          </a:solidFill>
          <a:ln xmlns:a="http://schemas.openxmlformats.org/drawingml/2006/main" w="7620">
            <a:solidFill>
              <a:srgbClr val="B7B7B7"/>
            </a:solidFill>
            <a:prstDash val="solid"/>
          </a:ln>
        </p:spPr>
      </p:sp>
      <p:sp>
        <p:nvSpPr>
          <p:cNvPr id="252" name="">
            <a:extLst xmlns:a="http://schemas.openxmlformats.org/drawingml/2006/main">
              <a:ext uri="{FF2B5EF4-FFF2-40B4-BE49-F238E27FC236}">
                <a16:creationId xmlns:a16="http://schemas.microsoft.com/office/drawing/2014/main" id="{A6BCDD8D-1DD5-4D70-B9FF-54356EBD710A}"/>
              </a:ext>
            </a:extLst>
          </p:cNvPr>
          <p:cNvSpPr>
            <a:spLocks xmlns:a="http://schemas.openxmlformats.org/drawingml/2006/main" noGrp="1"/>
          </p:cNvSpPr>
          <p:nvPr/>
        </p:nvSpPr>
        <p:spPr>
          <a:xfrm xmlns:a="http://schemas.openxmlformats.org/drawingml/2006/main">
            <a:off x="2695575" y="3190875"/>
            <a:ext cx="28003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8" b="0">
                <a:solidFill>
                  <a:srgbClr val="3A3838"/>
                </a:solidFill>
              </a:defRPr>
            </a:pPr>
            <a:r>
              <a:rPr sz="848" b="0">
                <a:solidFill>
                  <a:srgbClr val="3A3838"/>
                </a:solidFill>
              </a:rPr>
              <a:t>learned CPTP operators</a:t>
            </a:r>
          </a:p>
        </p:txBody>
      </p:sp>
      <p:sp>
        <p:nvSpPr>
          <p:cNvPr id="253" name="">
            <a:extLst xmlns:a="http://schemas.openxmlformats.org/drawingml/2006/main">
              <a:ext uri="{FF2B5EF4-FFF2-40B4-BE49-F238E27FC236}">
                <a16:creationId xmlns:a16="http://schemas.microsoft.com/office/drawing/2014/main" id="{075FAB7F-4BB8-4032-A7BF-ADC204F24DF7}"/>
              </a:ext>
            </a:extLst>
          </p:cNvPr>
          <p:cNvSpPr>
            <a:spLocks xmlns:a="http://schemas.openxmlformats.org/drawingml/2006/main" noGrp="1"/>
          </p:cNvSpPr>
          <p:nvPr/>
        </p:nvSpPr>
        <p:spPr>
          <a:xfrm xmlns:a="http://schemas.openxmlformats.org/drawingml/2006/main">
            <a:off x="5572125" y="3124200"/>
            <a:ext cx="2952750" cy="523875"/>
          </a:xfrm>
          <a:prstGeom xmlns:a="http://schemas.openxmlformats.org/drawingml/2006/main" prst="rect">
            <a:avLst/>
          </a:prstGeom>
          <a:solidFill xmlns:a="http://schemas.openxmlformats.org/drawingml/2006/main">
            <a:srgbClr val="FFFFFF"/>
          </a:solidFill>
          <a:ln xmlns:a="http://schemas.openxmlformats.org/drawingml/2006/main" w="7620">
            <a:solidFill>
              <a:srgbClr val="B7B7B7"/>
            </a:solidFill>
            <a:prstDash val="solid"/>
          </a:ln>
        </p:spPr>
      </p:sp>
      <p:sp>
        <p:nvSpPr>
          <p:cNvPr id="254" name="">
            <a:extLst xmlns:a="http://schemas.openxmlformats.org/drawingml/2006/main">
              <a:ext uri="{FF2B5EF4-FFF2-40B4-BE49-F238E27FC236}">
                <a16:creationId xmlns:a16="http://schemas.microsoft.com/office/drawing/2014/main" id="{2F8BFD94-B054-4F20-8BAD-ADD12CE13D73}"/>
              </a:ext>
            </a:extLst>
          </p:cNvPr>
          <p:cNvSpPr>
            <a:spLocks xmlns:a="http://schemas.openxmlformats.org/drawingml/2006/main" noGrp="1"/>
          </p:cNvSpPr>
          <p:nvPr/>
        </p:nvSpPr>
        <p:spPr>
          <a:xfrm xmlns:a="http://schemas.openxmlformats.org/drawingml/2006/main">
            <a:off x="5648325" y="3190875"/>
            <a:ext cx="28003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8" b="0">
                <a:solidFill>
                  <a:srgbClr val="3A3838"/>
                </a:solidFill>
              </a:defRPr>
            </a:pPr>
            <a:r>
              <a:rPr sz="848" b="0">
                <a:solidFill>
                  <a:srgbClr val="3A3838"/>
                </a:solidFill>
              </a:rPr>
              <a:t>tensor bonds + local updates</a:t>
            </a:r>
          </a:p>
        </p:txBody>
      </p:sp>
      <p:sp>
        <p:nvSpPr>
          <p:cNvPr id="255" name="">
            <a:extLst xmlns:a="http://schemas.openxmlformats.org/drawingml/2006/main">
              <a:ext uri="{FF2B5EF4-FFF2-40B4-BE49-F238E27FC236}">
                <a16:creationId xmlns:a16="http://schemas.microsoft.com/office/drawing/2014/main" id="{3A648875-F801-4DCD-AED8-1BCAB2D025EC}"/>
              </a:ext>
            </a:extLst>
          </p:cNvPr>
          <p:cNvSpPr>
            <a:spLocks xmlns:a="http://schemas.openxmlformats.org/drawingml/2006/main" noGrp="1"/>
          </p:cNvSpPr>
          <p:nvPr/>
        </p:nvSpPr>
        <p:spPr>
          <a:xfrm xmlns:a="http://schemas.openxmlformats.org/drawingml/2006/main">
            <a:off x="8524875" y="3124200"/>
            <a:ext cx="2952750" cy="523875"/>
          </a:xfrm>
          <a:prstGeom xmlns:a="http://schemas.openxmlformats.org/drawingml/2006/main" prst="rect">
            <a:avLst/>
          </a:prstGeom>
          <a:solidFill xmlns:a="http://schemas.openxmlformats.org/drawingml/2006/main">
            <a:srgbClr val="FFFFFF"/>
          </a:solidFill>
          <a:ln xmlns:a="http://schemas.openxmlformats.org/drawingml/2006/main" w="7620">
            <a:solidFill>
              <a:srgbClr val="B7B7B7"/>
            </a:solidFill>
            <a:prstDash val="solid"/>
          </a:ln>
        </p:spPr>
      </p:sp>
      <p:sp>
        <p:nvSpPr>
          <p:cNvPr id="256" name="">
            <a:extLst xmlns:a="http://schemas.openxmlformats.org/drawingml/2006/main">
              <a:ext uri="{FF2B5EF4-FFF2-40B4-BE49-F238E27FC236}">
                <a16:creationId xmlns:a16="http://schemas.microsoft.com/office/drawing/2014/main" id="{8B2D3A6B-0102-4AE4-AF7B-6FB168F73CEA}"/>
              </a:ext>
            </a:extLst>
          </p:cNvPr>
          <p:cNvSpPr>
            <a:spLocks xmlns:a="http://schemas.openxmlformats.org/drawingml/2006/main" noGrp="1"/>
          </p:cNvSpPr>
          <p:nvPr/>
        </p:nvSpPr>
        <p:spPr>
          <a:xfrm xmlns:a="http://schemas.openxmlformats.org/drawingml/2006/main">
            <a:off x="8601075" y="3190875"/>
            <a:ext cx="28003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8" b="0">
                <a:solidFill>
                  <a:srgbClr val="3A3838"/>
                </a:solidFill>
              </a:defRPr>
            </a:pPr>
            <a:r>
              <a:rPr sz="848" b="0">
                <a:solidFill>
                  <a:srgbClr val="3A3838"/>
                </a:solidFill>
              </a:rPr>
              <a:t>branch-aware rollout/planning</a:t>
            </a:r>
          </a:p>
        </p:txBody>
      </p:sp>
      <p:sp>
        <p:nvSpPr>
          <p:cNvPr id="257" name="">
            <a:extLst xmlns:a="http://schemas.openxmlformats.org/drawingml/2006/main">
              <a:ext uri="{FF2B5EF4-FFF2-40B4-BE49-F238E27FC236}">
                <a16:creationId xmlns:a16="http://schemas.microsoft.com/office/drawing/2014/main" id="{FBE358F9-495B-4D04-A5A5-A19DC75A93E3}"/>
              </a:ext>
            </a:extLst>
          </p:cNvPr>
          <p:cNvSpPr>
            <a:spLocks xmlns:a="http://schemas.openxmlformats.org/drawingml/2006/main" noGrp="1"/>
          </p:cNvSpPr>
          <p:nvPr/>
        </p:nvSpPr>
        <p:spPr>
          <a:xfrm xmlns:a="http://schemas.openxmlformats.org/drawingml/2006/main">
            <a:off x="523875" y="3648075"/>
            <a:ext cx="2095500" cy="523875"/>
          </a:xfrm>
          <a:prstGeom xmlns:a="http://schemas.openxmlformats.org/drawingml/2006/main" prst="rect">
            <a:avLst/>
          </a:prstGeom>
          <a:solidFill xmlns:a="http://schemas.openxmlformats.org/drawingml/2006/main">
            <a:srgbClr val="F2F2F2"/>
          </a:solidFill>
          <a:ln xmlns:a="http://schemas.openxmlformats.org/drawingml/2006/main" w="7620">
            <a:solidFill>
              <a:srgbClr val="B7B7B7"/>
            </a:solidFill>
            <a:prstDash val="solid"/>
          </a:ln>
        </p:spPr>
      </p:sp>
      <p:sp>
        <p:nvSpPr>
          <p:cNvPr id="258" name="">
            <a:extLst xmlns:a="http://schemas.openxmlformats.org/drawingml/2006/main">
              <a:ext uri="{FF2B5EF4-FFF2-40B4-BE49-F238E27FC236}">
                <a16:creationId xmlns:a16="http://schemas.microsoft.com/office/drawing/2014/main" id="{37259A9B-E61A-464F-992D-A37280188F7D}"/>
              </a:ext>
            </a:extLst>
          </p:cNvPr>
          <p:cNvSpPr>
            <a:spLocks xmlns:a="http://schemas.openxmlformats.org/drawingml/2006/main" noGrp="1"/>
          </p:cNvSpPr>
          <p:nvPr/>
        </p:nvSpPr>
        <p:spPr>
          <a:xfrm xmlns:a="http://schemas.openxmlformats.org/drawingml/2006/main">
            <a:off x="600075" y="3714750"/>
            <a:ext cx="19431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48" b="1">
                <a:solidFill>
                  <a:srgbClr val="3A3838"/>
                </a:solidFill>
              </a:defRPr>
            </a:pPr>
            <a:r>
              <a:rPr sz="848" b="1">
                <a:solidFill>
                  <a:srgbClr val="3A3838"/>
                </a:solidFill>
              </a:rPr>
              <a:t>Capacity knob</a:t>
            </a:r>
          </a:p>
        </p:txBody>
      </p:sp>
      <p:sp>
        <p:nvSpPr>
          <p:cNvPr id="259" name="">
            <a:extLst xmlns:a="http://schemas.openxmlformats.org/drawingml/2006/main">
              <a:ext uri="{FF2B5EF4-FFF2-40B4-BE49-F238E27FC236}">
                <a16:creationId xmlns:a16="http://schemas.microsoft.com/office/drawing/2014/main" id="{DEB70E9B-B451-42D8-8923-293ED563DADD}"/>
              </a:ext>
            </a:extLst>
          </p:cNvPr>
          <p:cNvSpPr>
            <a:spLocks xmlns:a="http://schemas.openxmlformats.org/drawingml/2006/main" noGrp="1"/>
          </p:cNvSpPr>
          <p:nvPr/>
        </p:nvSpPr>
        <p:spPr>
          <a:xfrm xmlns:a="http://schemas.openxmlformats.org/drawingml/2006/main">
            <a:off x="2619375" y="3648075"/>
            <a:ext cx="2952750" cy="523875"/>
          </a:xfrm>
          <a:prstGeom xmlns:a="http://schemas.openxmlformats.org/drawingml/2006/main" prst="rect">
            <a:avLst/>
          </a:prstGeom>
          <a:solidFill xmlns:a="http://schemas.openxmlformats.org/drawingml/2006/main">
            <a:srgbClr val="FFFFFF"/>
          </a:solidFill>
          <a:ln xmlns:a="http://schemas.openxmlformats.org/drawingml/2006/main" w="7620">
            <a:solidFill>
              <a:srgbClr val="B7B7B7"/>
            </a:solidFill>
            <a:prstDash val="solid"/>
          </a:ln>
        </p:spPr>
      </p:sp>
      <p:sp>
        <p:nvSpPr>
          <p:cNvPr id="260" name="">
            <a:extLst xmlns:a="http://schemas.openxmlformats.org/drawingml/2006/main">
              <a:ext uri="{FF2B5EF4-FFF2-40B4-BE49-F238E27FC236}">
                <a16:creationId xmlns:a16="http://schemas.microsoft.com/office/drawing/2014/main" id="{18646DE2-3332-49A0-A103-391C2CBBC6E5}"/>
              </a:ext>
            </a:extLst>
          </p:cNvPr>
          <p:cNvSpPr>
            <a:spLocks xmlns:a="http://schemas.openxmlformats.org/drawingml/2006/main" noGrp="1"/>
          </p:cNvSpPr>
          <p:nvPr/>
        </p:nvSpPr>
        <p:spPr>
          <a:xfrm xmlns:a="http://schemas.openxmlformats.org/drawingml/2006/main">
            <a:off x="2695575" y="3714750"/>
            <a:ext cx="28003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8" b="0">
                <a:solidFill>
                  <a:srgbClr val="3A3838"/>
                </a:solidFill>
              </a:defRPr>
            </a:pPr>
            <a:r>
              <a:rPr sz="848" b="0">
                <a:solidFill>
                  <a:srgbClr val="3A3838"/>
                </a:solidFill>
              </a:rPr>
              <a:t>dimension d, rank r</a:t>
            </a:r>
          </a:p>
        </p:txBody>
      </p:sp>
      <p:sp>
        <p:nvSpPr>
          <p:cNvPr id="261" name="">
            <a:extLst xmlns:a="http://schemas.openxmlformats.org/drawingml/2006/main">
              <a:ext uri="{FF2B5EF4-FFF2-40B4-BE49-F238E27FC236}">
                <a16:creationId xmlns:a16="http://schemas.microsoft.com/office/drawing/2014/main" id="{E4070518-51DB-40F4-97DE-AF417CBC13E0}"/>
              </a:ext>
            </a:extLst>
          </p:cNvPr>
          <p:cNvSpPr>
            <a:spLocks xmlns:a="http://schemas.openxmlformats.org/drawingml/2006/main" noGrp="1"/>
          </p:cNvSpPr>
          <p:nvPr/>
        </p:nvSpPr>
        <p:spPr>
          <a:xfrm xmlns:a="http://schemas.openxmlformats.org/drawingml/2006/main">
            <a:off x="5572125" y="3648075"/>
            <a:ext cx="2952750" cy="523875"/>
          </a:xfrm>
          <a:prstGeom xmlns:a="http://schemas.openxmlformats.org/drawingml/2006/main" prst="rect">
            <a:avLst/>
          </a:prstGeom>
          <a:solidFill xmlns:a="http://schemas.openxmlformats.org/drawingml/2006/main">
            <a:srgbClr val="FFFFFF"/>
          </a:solidFill>
          <a:ln xmlns:a="http://schemas.openxmlformats.org/drawingml/2006/main" w="7620">
            <a:solidFill>
              <a:srgbClr val="B7B7B7"/>
            </a:solidFill>
            <a:prstDash val="solid"/>
          </a:ln>
        </p:spPr>
      </p:sp>
      <p:sp>
        <p:nvSpPr>
          <p:cNvPr id="262" name="">
            <a:extLst xmlns:a="http://schemas.openxmlformats.org/drawingml/2006/main">
              <a:ext uri="{FF2B5EF4-FFF2-40B4-BE49-F238E27FC236}">
                <a16:creationId xmlns:a16="http://schemas.microsoft.com/office/drawing/2014/main" id="{42F873E5-2A8E-4D77-984C-42300DB814C7}"/>
              </a:ext>
            </a:extLst>
          </p:cNvPr>
          <p:cNvSpPr>
            <a:spLocks xmlns:a="http://schemas.openxmlformats.org/drawingml/2006/main" noGrp="1"/>
          </p:cNvSpPr>
          <p:nvPr/>
        </p:nvSpPr>
        <p:spPr>
          <a:xfrm xmlns:a="http://schemas.openxmlformats.org/drawingml/2006/main">
            <a:off x="5648325" y="3714750"/>
            <a:ext cx="28003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8" b="0">
                <a:solidFill>
                  <a:srgbClr val="3A3838"/>
                </a:solidFill>
              </a:defRPr>
            </a:pPr>
            <a:r>
              <a:rPr sz="848" b="0">
                <a:solidFill>
                  <a:srgbClr val="3A3838"/>
                </a:solidFill>
              </a:rPr>
              <a:t>slots L, bond χ, κ</a:t>
            </a:r>
          </a:p>
        </p:txBody>
      </p:sp>
      <p:sp>
        <p:nvSpPr>
          <p:cNvPr id="263" name="">
            <a:extLst xmlns:a="http://schemas.openxmlformats.org/drawingml/2006/main">
              <a:ext uri="{FF2B5EF4-FFF2-40B4-BE49-F238E27FC236}">
                <a16:creationId xmlns:a16="http://schemas.microsoft.com/office/drawing/2014/main" id="{AC633841-7ED0-4098-AAF4-FBD81E4DDF25}"/>
              </a:ext>
            </a:extLst>
          </p:cNvPr>
          <p:cNvSpPr>
            <a:spLocks xmlns:a="http://schemas.openxmlformats.org/drawingml/2006/main" noGrp="1"/>
          </p:cNvSpPr>
          <p:nvPr/>
        </p:nvSpPr>
        <p:spPr>
          <a:xfrm xmlns:a="http://schemas.openxmlformats.org/drawingml/2006/main">
            <a:off x="8524875" y="3648075"/>
            <a:ext cx="2952750" cy="523875"/>
          </a:xfrm>
          <a:prstGeom xmlns:a="http://schemas.openxmlformats.org/drawingml/2006/main" prst="rect">
            <a:avLst/>
          </a:prstGeom>
          <a:solidFill xmlns:a="http://schemas.openxmlformats.org/drawingml/2006/main">
            <a:srgbClr val="FFFFFF"/>
          </a:solidFill>
          <a:ln xmlns:a="http://schemas.openxmlformats.org/drawingml/2006/main" w="7620">
            <a:solidFill>
              <a:srgbClr val="B7B7B7"/>
            </a:solidFill>
            <a:prstDash val="solid"/>
          </a:ln>
        </p:spPr>
      </p:sp>
      <p:sp>
        <p:nvSpPr>
          <p:cNvPr id="264" name="">
            <a:extLst xmlns:a="http://schemas.openxmlformats.org/drawingml/2006/main">
              <a:ext uri="{FF2B5EF4-FFF2-40B4-BE49-F238E27FC236}">
                <a16:creationId xmlns:a16="http://schemas.microsoft.com/office/drawing/2014/main" id="{342B2259-104F-49EC-B05C-2CC6098ADD1C}"/>
              </a:ext>
            </a:extLst>
          </p:cNvPr>
          <p:cNvSpPr>
            <a:spLocks xmlns:a="http://schemas.openxmlformats.org/drawingml/2006/main" noGrp="1"/>
          </p:cNvSpPr>
          <p:nvPr/>
        </p:nvSpPr>
        <p:spPr>
          <a:xfrm xmlns:a="http://schemas.openxmlformats.org/drawingml/2006/main">
            <a:off x="8601075" y="3714750"/>
            <a:ext cx="28003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8" b="0">
                <a:solidFill>
                  <a:srgbClr val="3A3838"/>
                </a:solidFill>
              </a:defRPr>
            </a:pPr>
            <a:r>
              <a:rPr sz="848" b="0">
                <a:solidFill>
                  <a:srgbClr val="3A3838"/>
                </a:solidFill>
              </a:rPr>
              <a:t>branches M, state size d</a:t>
            </a:r>
          </a:p>
        </p:txBody>
      </p:sp>
      <p:sp>
        <p:nvSpPr>
          <p:cNvPr id="265" name="">
            <a:extLst xmlns:a="http://schemas.openxmlformats.org/drawingml/2006/main">
              <a:ext uri="{FF2B5EF4-FFF2-40B4-BE49-F238E27FC236}">
                <a16:creationId xmlns:a16="http://schemas.microsoft.com/office/drawing/2014/main" id="{7F4E05F3-2001-459D-9B9E-C27AF5A5ED4A}"/>
              </a:ext>
            </a:extLst>
          </p:cNvPr>
          <p:cNvSpPr>
            <a:spLocks xmlns:a="http://schemas.openxmlformats.org/drawingml/2006/main" noGrp="1"/>
          </p:cNvSpPr>
          <p:nvPr/>
        </p:nvSpPr>
        <p:spPr>
          <a:xfrm xmlns:a="http://schemas.openxmlformats.org/drawingml/2006/main">
            <a:off x="523875" y="4171950"/>
            <a:ext cx="2095500" cy="523875"/>
          </a:xfrm>
          <a:prstGeom xmlns:a="http://schemas.openxmlformats.org/drawingml/2006/main" prst="rect">
            <a:avLst/>
          </a:prstGeom>
          <a:solidFill xmlns:a="http://schemas.openxmlformats.org/drawingml/2006/main">
            <a:srgbClr val="F2F2F2"/>
          </a:solidFill>
          <a:ln xmlns:a="http://schemas.openxmlformats.org/drawingml/2006/main" w="7620">
            <a:solidFill>
              <a:srgbClr val="B7B7B7"/>
            </a:solidFill>
            <a:prstDash val="solid"/>
          </a:ln>
        </p:spPr>
      </p:sp>
      <p:sp>
        <p:nvSpPr>
          <p:cNvPr id="266" name="">
            <a:extLst xmlns:a="http://schemas.openxmlformats.org/drawingml/2006/main">
              <a:ext uri="{FF2B5EF4-FFF2-40B4-BE49-F238E27FC236}">
                <a16:creationId xmlns:a16="http://schemas.microsoft.com/office/drawing/2014/main" id="{7E3EBCA1-85E2-4E42-B657-723741CED6AA}"/>
              </a:ext>
            </a:extLst>
          </p:cNvPr>
          <p:cNvSpPr>
            <a:spLocks xmlns:a="http://schemas.openxmlformats.org/drawingml/2006/main" noGrp="1"/>
          </p:cNvSpPr>
          <p:nvPr/>
        </p:nvSpPr>
        <p:spPr>
          <a:xfrm xmlns:a="http://schemas.openxmlformats.org/drawingml/2006/main">
            <a:off x="600075" y="4238625"/>
            <a:ext cx="19431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48" b="1">
                <a:solidFill>
                  <a:srgbClr val="3A3838"/>
                </a:solidFill>
              </a:defRPr>
            </a:pPr>
            <a:r>
              <a:rPr sz="848" b="1">
                <a:solidFill>
                  <a:srgbClr val="3A3838"/>
                </a:solidFill>
              </a:rPr>
              <a:t>Main risk</a:t>
            </a:r>
          </a:p>
        </p:txBody>
      </p:sp>
      <p:sp>
        <p:nvSpPr>
          <p:cNvPr id="267" name="">
            <a:extLst xmlns:a="http://schemas.openxmlformats.org/drawingml/2006/main">
              <a:ext uri="{FF2B5EF4-FFF2-40B4-BE49-F238E27FC236}">
                <a16:creationId xmlns:a16="http://schemas.microsoft.com/office/drawing/2014/main" id="{62421250-DD7D-4B9B-A08E-1214243E963E}"/>
              </a:ext>
            </a:extLst>
          </p:cNvPr>
          <p:cNvSpPr>
            <a:spLocks xmlns:a="http://schemas.openxmlformats.org/drawingml/2006/main" noGrp="1"/>
          </p:cNvSpPr>
          <p:nvPr/>
        </p:nvSpPr>
        <p:spPr>
          <a:xfrm xmlns:a="http://schemas.openxmlformats.org/drawingml/2006/main">
            <a:off x="2619375" y="4171950"/>
            <a:ext cx="2952750" cy="523875"/>
          </a:xfrm>
          <a:prstGeom xmlns:a="http://schemas.openxmlformats.org/drawingml/2006/main" prst="rect">
            <a:avLst/>
          </a:prstGeom>
          <a:solidFill xmlns:a="http://schemas.openxmlformats.org/drawingml/2006/main">
            <a:srgbClr val="FFFFFF"/>
          </a:solidFill>
          <a:ln xmlns:a="http://schemas.openxmlformats.org/drawingml/2006/main" w="7620">
            <a:solidFill>
              <a:srgbClr val="B7B7B7"/>
            </a:solidFill>
            <a:prstDash val="solid"/>
          </a:ln>
        </p:spPr>
      </p:sp>
      <p:sp>
        <p:nvSpPr>
          <p:cNvPr id="268" name="">
            <a:extLst xmlns:a="http://schemas.openxmlformats.org/drawingml/2006/main">
              <a:ext uri="{FF2B5EF4-FFF2-40B4-BE49-F238E27FC236}">
                <a16:creationId xmlns:a16="http://schemas.microsoft.com/office/drawing/2014/main" id="{5AD11A84-9AF2-4202-9A24-9E97D169079A}"/>
              </a:ext>
            </a:extLst>
          </p:cNvPr>
          <p:cNvSpPr>
            <a:spLocks xmlns:a="http://schemas.openxmlformats.org/drawingml/2006/main" noGrp="1"/>
          </p:cNvSpPr>
          <p:nvPr/>
        </p:nvSpPr>
        <p:spPr>
          <a:xfrm xmlns:a="http://schemas.openxmlformats.org/drawingml/2006/main">
            <a:off x="2695575" y="4238625"/>
            <a:ext cx="28003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8" b="0">
                <a:solidFill>
                  <a:srgbClr val="3A3838"/>
                </a:solidFill>
              </a:defRPr>
            </a:pPr>
            <a:r>
              <a:rPr sz="848" b="0">
                <a:solidFill>
                  <a:srgbClr val="3A3838"/>
                </a:solidFill>
              </a:rPr>
              <a:t>extra coordinates unused</a:t>
            </a:r>
          </a:p>
        </p:txBody>
      </p:sp>
      <p:sp>
        <p:nvSpPr>
          <p:cNvPr id="269" name="">
            <a:extLst xmlns:a="http://schemas.openxmlformats.org/drawingml/2006/main">
              <a:ext uri="{FF2B5EF4-FFF2-40B4-BE49-F238E27FC236}">
                <a16:creationId xmlns:a16="http://schemas.microsoft.com/office/drawing/2014/main" id="{202734FD-D40A-4214-9577-3626E718FE89}"/>
              </a:ext>
            </a:extLst>
          </p:cNvPr>
          <p:cNvSpPr>
            <a:spLocks xmlns:a="http://schemas.openxmlformats.org/drawingml/2006/main" noGrp="1"/>
          </p:cNvSpPr>
          <p:nvPr/>
        </p:nvSpPr>
        <p:spPr>
          <a:xfrm xmlns:a="http://schemas.openxmlformats.org/drawingml/2006/main">
            <a:off x="5572125" y="4171950"/>
            <a:ext cx="2952750" cy="523875"/>
          </a:xfrm>
          <a:prstGeom xmlns:a="http://schemas.openxmlformats.org/drawingml/2006/main" prst="rect">
            <a:avLst/>
          </a:prstGeom>
          <a:solidFill xmlns:a="http://schemas.openxmlformats.org/drawingml/2006/main">
            <a:srgbClr val="FFFFFF"/>
          </a:solidFill>
          <a:ln xmlns:a="http://schemas.openxmlformats.org/drawingml/2006/main" w="7620">
            <a:solidFill>
              <a:srgbClr val="B7B7B7"/>
            </a:solidFill>
            <a:prstDash val="solid"/>
          </a:ln>
        </p:spPr>
      </p:sp>
      <p:sp>
        <p:nvSpPr>
          <p:cNvPr id="270" name="">
            <a:extLst xmlns:a="http://schemas.openxmlformats.org/drawingml/2006/main">
              <a:ext uri="{FF2B5EF4-FFF2-40B4-BE49-F238E27FC236}">
                <a16:creationId xmlns:a16="http://schemas.microsoft.com/office/drawing/2014/main" id="{B8980DC0-2A44-402B-921A-A8DD562AB651}"/>
              </a:ext>
            </a:extLst>
          </p:cNvPr>
          <p:cNvSpPr>
            <a:spLocks xmlns:a="http://schemas.openxmlformats.org/drawingml/2006/main" noGrp="1"/>
          </p:cNvSpPr>
          <p:nvPr/>
        </p:nvSpPr>
        <p:spPr>
          <a:xfrm xmlns:a="http://schemas.openxmlformats.org/drawingml/2006/main">
            <a:off x="5648325" y="4238625"/>
            <a:ext cx="28003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8" b="0">
                <a:solidFill>
                  <a:srgbClr val="3A3838"/>
                </a:solidFill>
              </a:defRPr>
            </a:pPr>
            <a:r>
              <a:rPr sz="848" b="0">
                <a:solidFill>
                  <a:srgbClr val="3A3838"/>
                </a:solidFill>
              </a:rPr>
              <a:t>cost/truncation with χ</a:t>
            </a:r>
          </a:p>
        </p:txBody>
      </p:sp>
      <p:sp>
        <p:nvSpPr>
          <p:cNvPr id="271" name="">
            <a:extLst xmlns:a="http://schemas.openxmlformats.org/drawingml/2006/main">
              <a:ext uri="{FF2B5EF4-FFF2-40B4-BE49-F238E27FC236}">
                <a16:creationId xmlns:a16="http://schemas.microsoft.com/office/drawing/2014/main" id="{6C8F2256-DFB5-4C2E-891E-FC88A0593079}"/>
              </a:ext>
            </a:extLst>
          </p:cNvPr>
          <p:cNvSpPr>
            <a:spLocks xmlns:a="http://schemas.openxmlformats.org/drawingml/2006/main" noGrp="1"/>
          </p:cNvSpPr>
          <p:nvPr/>
        </p:nvSpPr>
        <p:spPr>
          <a:xfrm xmlns:a="http://schemas.openxmlformats.org/drawingml/2006/main">
            <a:off x="8524875" y="4171950"/>
            <a:ext cx="2952750" cy="523875"/>
          </a:xfrm>
          <a:prstGeom xmlns:a="http://schemas.openxmlformats.org/drawingml/2006/main" prst="rect">
            <a:avLst/>
          </a:prstGeom>
          <a:solidFill xmlns:a="http://schemas.openxmlformats.org/drawingml/2006/main">
            <a:srgbClr val="FFFFFF"/>
          </a:solidFill>
          <a:ln xmlns:a="http://schemas.openxmlformats.org/drawingml/2006/main" w="7620">
            <a:solidFill>
              <a:srgbClr val="B7B7B7"/>
            </a:solidFill>
            <a:prstDash val="solid"/>
          </a:ln>
        </p:spPr>
      </p:sp>
      <p:sp>
        <p:nvSpPr>
          <p:cNvPr id="272" name="">
            <a:extLst xmlns:a="http://schemas.openxmlformats.org/drawingml/2006/main">
              <a:ext uri="{FF2B5EF4-FFF2-40B4-BE49-F238E27FC236}">
                <a16:creationId xmlns:a16="http://schemas.microsoft.com/office/drawing/2014/main" id="{122B6C4D-1351-4477-AD5D-9993A02DBB03}"/>
              </a:ext>
            </a:extLst>
          </p:cNvPr>
          <p:cNvSpPr>
            <a:spLocks xmlns:a="http://schemas.openxmlformats.org/drawingml/2006/main" noGrp="1"/>
          </p:cNvSpPr>
          <p:nvPr/>
        </p:nvSpPr>
        <p:spPr>
          <a:xfrm xmlns:a="http://schemas.openxmlformats.org/drawingml/2006/main">
            <a:off x="8601075" y="4238625"/>
            <a:ext cx="28003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8" b="0">
                <a:solidFill>
                  <a:srgbClr val="3A3838"/>
                </a:solidFill>
              </a:defRPr>
            </a:pPr>
            <a:r>
              <a:rPr sz="848" b="0">
                <a:solidFill>
                  <a:srgbClr val="3A3838"/>
                </a:solidFill>
              </a:rPr>
              <a:t>ensemble gauge / branch collapse</a:t>
            </a:r>
          </a:p>
        </p:txBody>
      </p:sp>
      <p:sp>
        <p:nvSpPr>
          <p:cNvPr id="273" name="">
            <a:extLst xmlns:a="http://schemas.openxmlformats.org/drawingml/2006/main">
              <a:ext uri="{FF2B5EF4-FFF2-40B4-BE49-F238E27FC236}">
                <a16:creationId xmlns:a16="http://schemas.microsoft.com/office/drawing/2014/main" id="{F7E26576-2DCA-4638-8DE9-18CADA91D914}"/>
              </a:ext>
            </a:extLst>
          </p:cNvPr>
          <p:cNvSpPr>
            <a:spLocks xmlns:a="http://schemas.openxmlformats.org/drawingml/2006/main" noGrp="1"/>
          </p:cNvSpPr>
          <p:nvPr/>
        </p:nvSpPr>
        <p:spPr>
          <a:xfrm xmlns:a="http://schemas.openxmlformats.org/drawingml/2006/main">
            <a:off x="523875" y="4695825"/>
            <a:ext cx="2095500" cy="523875"/>
          </a:xfrm>
          <a:prstGeom xmlns:a="http://schemas.openxmlformats.org/drawingml/2006/main" prst="rect">
            <a:avLst/>
          </a:prstGeom>
          <a:solidFill xmlns:a="http://schemas.openxmlformats.org/drawingml/2006/main">
            <a:srgbClr val="F2F2F2"/>
          </a:solidFill>
          <a:ln xmlns:a="http://schemas.openxmlformats.org/drawingml/2006/main" w="7620">
            <a:solidFill>
              <a:srgbClr val="B7B7B7"/>
            </a:solidFill>
            <a:prstDash val="solid"/>
          </a:ln>
        </p:spPr>
      </p:sp>
      <p:sp>
        <p:nvSpPr>
          <p:cNvPr id="274" name="">
            <a:extLst xmlns:a="http://schemas.openxmlformats.org/drawingml/2006/main">
              <a:ext uri="{FF2B5EF4-FFF2-40B4-BE49-F238E27FC236}">
                <a16:creationId xmlns:a16="http://schemas.microsoft.com/office/drawing/2014/main" id="{F80A5866-6FC9-46B7-8F4C-05BDE98497AE}"/>
              </a:ext>
            </a:extLst>
          </p:cNvPr>
          <p:cNvSpPr>
            <a:spLocks xmlns:a="http://schemas.openxmlformats.org/drawingml/2006/main" noGrp="1"/>
          </p:cNvSpPr>
          <p:nvPr/>
        </p:nvSpPr>
        <p:spPr>
          <a:xfrm xmlns:a="http://schemas.openxmlformats.org/drawingml/2006/main">
            <a:off x="600075" y="4762500"/>
            <a:ext cx="19431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48" b="1">
                <a:solidFill>
                  <a:srgbClr val="3A3838"/>
                </a:solidFill>
              </a:defRPr>
            </a:pPr>
            <a:r>
              <a:rPr sz="848" b="1">
                <a:solidFill>
                  <a:srgbClr val="3A3838"/>
                </a:solidFill>
              </a:rPr>
              <a:t>Decisive test</a:t>
            </a:r>
          </a:p>
        </p:txBody>
      </p:sp>
      <p:sp>
        <p:nvSpPr>
          <p:cNvPr id="275" name="">
            <a:extLst xmlns:a="http://schemas.openxmlformats.org/drawingml/2006/main">
              <a:ext uri="{FF2B5EF4-FFF2-40B4-BE49-F238E27FC236}">
                <a16:creationId xmlns:a16="http://schemas.microsoft.com/office/drawing/2014/main" id="{79C42165-3E54-499E-878E-EA30CBBC4834}"/>
              </a:ext>
            </a:extLst>
          </p:cNvPr>
          <p:cNvSpPr>
            <a:spLocks xmlns:a="http://schemas.openxmlformats.org/drawingml/2006/main" noGrp="1"/>
          </p:cNvSpPr>
          <p:nvPr/>
        </p:nvSpPr>
        <p:spPr>
          <a:xfrm xmlns:a="http://schemas.openxmlformats.org/drawingml/2006/main">
            <a:off x="2619375" y="4695825"/>
            <a:ext cx="2952750" cy="523875"/>
          </a:xfrm>
          <a:prstGeom xmlns:a="http://schemas.openxmlformats.org/drawingml/2006/main" prst="rect">
            <a:avLst/>
          </a:prstGeom>
          <a:solidFill xmlns:a="http://schemas.openxmlformats.org/drawingml/2006/main">
            <a:srgbClr val="FFFFFF"/>
          </a:solidFill>
          <a:ln xmlns:a="http://schemas.openxmlformats.org/drawingml/2006/main" w="7620">
            <a:solidFill>
              <a:srgbClr val="B7B7B7"/>
            </a:solidFill>
            <a:prstDash val="solid"/>
          </a:ln>
        </p:spPr>
      </p:sp>
      <p:sp>
        <p:nvSpPr>
          <p:cNvPr id="276" name="">
            <a:extLst xmlns:a="http://schemas.openxmlformats.org/drawingml/2006/main">
              <a:ext uri="{FF2B5EF4-FFF2-40B4-BE49-F238E27FC236}">
                <a16:creationId xmlns:a16="http://schemas.microsoft.com/office/drawing/2014/main" id="{D8947885-ACAE-4E3F-BE37-6FA912BF169D}"/>
              </a:ext>
            </a:extLst>
          </p:cNvPr>
          <p:cNvSpPr>
            <a:spLocks xmlns:a="http://schemas.openxmlformats.org/drawingml/2006/main" noGrp="1"/>
          </p:cNvSpPr>
          <p:nvPr/>
        </p:nvSpPr>
        <p:spPr>
          <a:xfrm xmlns:a="http://schemas.openxmlformats.org/drawingml/2006/main">
            <a:off x="2695575" y="4762500"/>
            <a:ext cx="28003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8" b="0">
                <a:solidFill>
                  <a:srgbClr val="3A3838"/>
                </a:solidFill>
              </a:defRPr>
            </a:pPr>
            <a:r>
              <a:rPr sz="848" b="0">
                <a:solidFill>
                  <a:srgbClr val="3A3838"/>
                </a:solidFill>
              </a:rPr>
              <a:t>full vs diagonal ρ</a:t>
            </a:r>
          </a:p>
        </p:txBody>
      </p:sp>
      <p:sp>
        <p:nvSpPr>
          <p:cNvPr id="277" name="">
            <a:extLst xmlns:a="http://schemas.openxmlformats.org/drawingml/2006/main">
              <a:ext uri="{FF2B5EF4-FFF2-40B4-BE49-F238E27FC236}">
                <a16:creationId xmlns:a16="http://schemas.microsoft.com/office/drawing/2014/main" id="{FDBE7324-62F6-4E7E-8DAE-49FF3505E735}"/>
              </a:ext>
            </a:extLst>
          </p:cNvPr>
          <p:cNvSpPr>
            <a:spLocks xmlns:a="http://schemas.openxmlformats.org/drawingml/2006/main" noGrp="1"/>
          </p:cNvSpPr>
          <p:nvPr/>
        </p:nvSpPr>
        <p:spPr>
          <a:xfrm xmlns:a="http://schemas.openxmlformats.org/drawingml/2006/main">
            <a:off x="5572125" y="4695825"/>
            <a:ext cx="2952750" cy="523875"/>
          </a:xfrm>
          <a:prstGeom xmlns:a="http://schemas.openxmlformats.org/drawingml/2006/main" prst="rect">
            <a:avLst/>
          </a:prstGeom>
          <a:solidFill xmlns:a="http://schemas.openxmlformats.org/drawingml/2006/main">
            <a:srgbClr val="FFFFFF"/>
          </a:solidFill>
          <a:ln xmlns:a="http://schemas.openxmlformats.org/drawingml/2006/main" w="7620">
            <a:solidFill>
              <a:srgbClr val="B7B7B7"/>
            </a:solidFill>
            <a:prstDash val="solid"/>
          </a:ln>
        </p:spPr>
      </p:sp>
      <p:sp>
        <p:nvSpPr>
          <p:cNvPr id="278" name="">
            <a:extLst xmlns:a="http://schemas.openxmlformats.org/drawingml/2006/main">
              <a:ext uri="{FF2B5EF4-FFF2-40B4-BE49-F238E27FC236}">
                <a16:creationId xmlns:a16="http://schemas.microsoft.com/office/drawing/2014/main" id="{72FD98E6-8BE5-4B68-91DC-2CDDEFC21200}"/>
              </a:ext>
            </a:extLst>
          </p:cNvPr>
          <p:cNvSpPr>
            <a:spLocks xmlns:a="http://schemas.openxmlformats.org/drawingml/2006/main" noGrp="1"/>
          </p:cNvSpPr>
          <p:nvPr/>
        </p:nvSpPr>
        <p:spPr>
          <a:xfrm xmlns:a="http://schemas.openxmlformats.org/drawingml/2006/main">
            <a:off x="5648325" y="4762500"/>
            <a:ext cx="28003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8" b="0">
                <a:solidFill>
                  <a:srgbClr val="3A3838"/>
                </a:solidFill>
              </a:defRPr>
            </a:pPr>
            <a:r>
              <a:rPr sz="848" b="0">
                <a:solidFill>
                  <a:srgbClr val="3A3838"/>
                </a:solidFill>
              </a:rPr>
              <a:t>χ sweep at matched budget</a:t>
            </a:r>
          </a:p>
        </p:txBody>
      </p:sp>
      <p:sp>
        <p:nvSpPr>
          <p:cNvPr id="279" name="">
            <a:extLst xmlns:a="http://schemas.openxmlformats.org/drawingml/2006/main">
              <a:ext uri="{FF2B5EF4-FFF2-40B4-BE49-F238E27FC236}">
                <a16:creationId xmlns:a16="http://schemas.microsoft.com/office/drawing/2014/main" id="{7AD8891E-0577-4F6C-A2C4-3B7A4CE35509}"/>
              </a:ext>
            </a:extLst>
          </p:cNvPr>
          <p:cNvSpPr>
            <a:spLocks xmlns:a="http://schemas.openxmlformats.org/drawingml/2006/main" noGrp="1"/>
          </p:cNvSpPr>
          <p:nvPr/>
        </p:nvSpPr>
        <p:spPr>
          <a:xfrm xmlns:a="http://schemas.openxmlformats.org/drawingml/2006/main">
            <a:off x="8524875" y="4695825"/>
            <a:ext cx="2952750" cy="523875"/>
          </a:xfrm>
          <a:prstGeom xmlns:a="http://schemas.openxmlformats.org/drawingml/2006/main" prst="rect">
            <a:avLst/>
          </a:prstGeom>
          <a:solidFill xmlns:a="http://schemas.openxmlformats.org/drawingml/2006/main">
            <a:srgbClr val="FFFFFF"/>
          </a:solidFill>
          <a:ln xmlns:a="http://schemas.openxmlformats.org/drawingml/2006/main" w="7620">
            <a:solidFill>
              <a:srgbClr val="B7B7B7"/>
            </a:solidFill>
            <a:prstDash val="solid"/>
          </a:ln>
        </p:spPr>
      </p:sp>
      <p:sp>
        <p:nvSpPr>
          <p:cNvPr id="280" name="">
            <a:extLst xmlns:a="http://schemas.openxmlformats.org/drawingml/2006/main">
              <a:ext uri="{FF2B5EF4-FFF2-40B4-BE49-F238E27FC236}">
                <a16:creationId xmlns:a16="http://schemas.microsoft.com/office/drawing/2014/main" id="{D981BE03-253E-4AFE-ACE1-C2761C9C6353}"/>
              </a:ext>
            </a:extLst>
          </p:cNvPr>
          <p:cNvSpPr>
            <a:spLocks xmlns:a="http://schemas.openxmlformats.org/drawingml/2006/main" noGrp="1"/>
          </p:cNvSpPr>
          <p:nvPr/>
        </p:nvSpPr>
        <p:spPr>
          <a:xfrm xmlns:a="http://schemas.openxmlformats.org/drawingml/2006/main">
            <a:off x="8601075" y="4762500"/>
            <a:ext cx="28003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8" b="0">
                <a:solidFill>
                  <a:srgbClr val="3A3838"/>
                </a:solidFill>
              </a:defRPr>
            </a:pPr>
            <a:r>
              <a:rPr sz="848" b="0">
                <a:solidFill>
                  <a:srgbClr val="3A3838"/>
                </a:solidFill>
              </a:rPr>
              <a:t>same-ρ gauge test</a:t>
            </a:r>
          </a:p>
        </p:txBody>
      </p:sp>
      <p:sp>
        <p:nvSpPr>
          <p:cNvPr id="281" name="">
            <a:extLst xmlns:a="http://schemas.openxmlformats.org/drawingml/2006/main">
              <a:ext uri="{FF2B5EF4-FFF2-40B4-BE49-F238E27FC236}">
                <a16:creationId xmlns:a16="http://schemas.microsoft.com/office/drawing/2014/main" id="{E72A48B4-370C-49CD-9E51-43386B03708B}"/>
              </a:ext>
            </a:extLst>
          </p:cNvPr>
          <p:cNvSpPr>
            <a:spLocks xmlns:a="http://schemas.openxmlformats.org/drawingml/2006/main" noGrp="1"/>
          </p:cNvSpPr>
          <p:nvPr/>
        </p:nvSpPr>
        <p:spPr>
          <a:xfrm xmlns:a="http://schemas.openxmlformats.org/drawingml/2006/main">
            <a:off x="1190625" y="5572125"/>
            <a:ext cx="981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D24726"/>
                </a:solidFill>
              </a:defRPr>
            </a:pPr>
            <a:r>
              <a:rPr sz="1050" b="1">
                <a:solidFill>
                  <a:srgbClr val="D24726"/>
                </a:solidFill>
              </a:rPr>
              <a:t>No approach is ‘best’ by construction. Each must justify its additional structure at the same parameter, memory, FLOP, and latency budget.</a:t>
            </a:r>
          </a:p>
        </p:txBody>
      </p:sp>
      <p:sp>
        <p:nvSpPr>
          <p:cNvPr id="282" name="">
            <a:extLst xmlns:a="http://schemas.openxmlformats.org/drawingml/2006/main">
              <a:ext uri="{FF2B5EF4-FFF2-40B4-BE49-F238E27FC236}">
                <a16:creationId xmlns:a16="http://schemas.microsoft.com/office/drawing/2014/main" id="{1B2AE2E0-1333-47FB-9DD9-51CCDB725A9B}"/>
              </a:ext>
            </a:extLst>
          </p:cNvPr>
          <p:cNvSpPr>
            <a:spLocks xmlns:a="http://schemas.openxmlformats.org/drawingml/2006/main" noGrp="1"/>
          </p:cNvSpPr>
          <p:nvPr/>
        </p:nvSpPr>
        <p:spPr>
          <a:xfrm xmlns:a="http://schemas.openxmlformats.org/drawingml/2006/main">
            <a:off x="523875" y="6238875"/>
            <a:ext cx="1109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0">
                <a:solidFill>
                  <a:srgbClr val="767171"/>
                </a:solidFill>
              </a:defRPr>
            </a:pPr>
            <a:r>
              <a:rPr sz="660" b="0">
                <a:solidFill>
                  <a:srgbClr val="767171"/>
                </a:solidFill>
              </a:rPr>
              <a:t>QLC: HQMM literature. PSC: locally purified tensor networks. TEC: projective ensembles + explicit gauge test.</a:t>
            </a:r>
          </a:p>
        </p:txBody>
      </p:sp>
    </p:spTree>
    <p:extLst>
      <p:ext uri="{BB962C8B-B14F-4D97-AF65-F5344CB8AC3E}">
        <p14:creationId xmlns:p14="http://schemas.microsoft.com/office/powerpoint/2010/main" val="126029427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34" name="Google Shape;234;p25">
            <a:extLst xmlns:a="http://schemas.openxmlformats.org/drawingml/2006/main">
              <a:ext uri="{FF2B5EF4-FFF2-40B4-BE49-F238E27FC236}">
                <a16:creationId xmlns:a16="http://schemas.microsoft.com/office/drawing/2014/main" id="{840A4FEE-6B02-4ACA-93EE-1654C40E25FC}"/>
              </a:ext>
            </a:extLst>
          </p:cNvPr>
          <p:cNvSpPr>
            <a:spLocks xmlns:a="http://schemas.openxmlformats.org/drawingml/2006/main" noGrp="1"/>
          </p:cNvSpPr>
          <p:nvPr>
            <p:ph type="title" idx="0"/>
          </p:nvPr>
        </p:nvSpPr>
        <p:spPr>
          <a:xfrm xmlns:a="http://schemas.openxmlformats.org/drawingml/2006/main">
            <a:off x="444532" y="430625"/>
            <a:ext cx="11210544" cy="5577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indent="0" algn="l">
              <a:spcBef>
                <a:spcPts val="0"/>
              </a:spcBef>
              <a:spcAft>
                <a:spcPts val="0"/>
              </a:spcAft>
              <a:buNone/>
              <a:defRPr sz="2100" b="0">
                <a:solidFill>
                  <a:srgbClr val="3A3838"/>
                </a:solidFill>
              </a:defRPr>
            </a:pPr>
            <a:r>
              <a:rPr sz="2100" b="0">
                <a:solidFill>
                  <a:srgbClr val="3A3838"/>
                </a:solidFill>
              </a:rPr>
              <a:t>Evaluation: What Would Count as Evidence?</a:t>
            </a:r>
          </a:p>
        </p:txBody>
      </p:sp>
      <p:sp>
        <p:nvSpPr>
          <p:cNvPr id="235" name="">
            <a:extLst xmlns:a="http://schemas.openxmlformats.org/drawingml/2006/main">
              <a:ext uri="{FF2B5EF4-FFF2-40B4-BE49-F238E27FC236}">
                <a16:creationId xmlns:a16="http://schemas.microsoft.com/office/drawing/2014/main" id="{96B800E9-13AB-47F9-962B-D68756BBA6F7}"/>
              </a:ext>
            </a:extLst>
          </p:cNvPr>
          <p:cNvSpPr>
            <a:spLocks xmlns:a="http://schemas.openxmlformats.org/drawingml/2006/main" noGrp="1"/>
          </p:cNvSpPr>
          <p:nvPr/>
        </p:nvSpPr>
        <p:spPr>
          <a:xfrm xmlns:a="http://schemas.openxmlformats.org/drawingml/2006/main">
            <a:off x="444532" y="1097280"/>
            <a:ext cx="11210544" cy="17145"/>
          </a:xfrm>
          <a:prstGeom xmlns:a="http://schemas.openxmlformats.org/drawingml/2006/main" prst="rect">
            <a:avLst/>
          </a:prstGeom>
          <a:solidFill xmlns:a="http://schemas.openxmlformats.org/drawingml/2006/main">
            <a:srgbClr val="D24726"/>
          </a:solidFill>
          <a:ln xmlns:a="http://schemas.openxmlformats.org/drawingml/2006/main" w="0">
            <a:solidFill>
              <a:srgbClr val="D24726"/>
            </a:solidFill>
            <a:prstDash val="solid"/>
          </a:ln>
        </p:spPr>
      </p:sp>
      <p:sp>
        <p:nvSpPr>
          <p:cNvPr id="236" name="">
            <a:extLst xmlns:a="http://schemas.openxmlformats.org/drawingml/2006/main">
              <a:ext uri="{FF2B5EF4-FFF2-40B4-BE49-F238E27FC236}">
                <a16:creationId xmlns:a16="http://schemas.microsoft.com/office/drawing/2014/main" id="{D1115536-5BCE-4B0B-90DF-202DBE494804}"/>
              </a:ext>
            </a:extLst>
          </p:cNvPr>
          <p:cNvSpPr>
            <a:spLocks xmlns:a="http://schemas.openxmlformats.org/drawingml/2006/main" noGrp="1"/>
          </p:cNvSpPr>
          <p:nvPr/>
        </p:nvSpPr>
        <p:spPr>
          <a:xfrm xmlns:a="http://schemas.openxmlformats.org/drawingml/2006/main">
            <a:off x="457200" y="1381125"/>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0">
                <a:solidFill>
                  <a:srgbClr val="3A3838"/>
                </a:solidFill>
              </a:defRPr>
            </a:pPr>
            <a:r>
              <a:rPr sz="1238" b="0">
                <a:solidFill>
                  <a:srgbClr val="3A3838"/>
                </a:solidFill>
              </a:rPr>
              <a:t>Train every core on the same room sequences, with the same encoder/decoder and matched parameters, memory, FLOPs, and inference latency.</a:t>
            </a:r>
          </a:p>
        </p:txBody>
      </p:sp>
      <p:sp>
        <p:nvSpPr>
          <p:cNvPr id="237" name="">
            <a:extLst xmlns:a="http://schemas.openxmlformats.org/drawingml/2006/main">
              <a:ext uri="{FF2B5EF4-FFF2-40B4-BE49-F238E27FC236}">
                <a16:creationId xmlns:a16="http://schemas.microsoft.com/office/drawing/2014/main" id="{65DCAA3C-3D04-4D7E-AEED-E04E04EC8C68}"/>
              </a:ext>
            </a:extLst>
          </p:cNvPr>
          <p:cNvSpPr>
            <a:spLocks xmlns:a="http://schemas.openxmlformats.org/drawingml/2006/main" noGrp="1"/>
          </p:cNvSpPr>
          <p:nvPr/>
        </p:nvSpPr>
        <p:spPr>
          <a:xfrm xmlns:a="http://schemas.openxmlformats.org/drawingml/2006/main">
            <a:off x="619125" y="2333625"/>
            <a:ext cx="2381250" cy="2143125"/>
          </a:xfrm>
          <a:prstGeom xmlns:a="http://schemas.openxmlformats.org/drawingml/2006/main" prst="rect">
            <a:avLst/>
          </a:prstGeom>
          <a:solidFill xmlns:a="http://schemas.openxmlformats.org/drawingml/2006/main">
            <a:srgbClr val="DDEBF7"/>
          </a:solidFill>
          <a:ln xmlns:a="http://schemas.openxmlformats.org/drawingml/2006/main" w="11430">
            <a:solidFill>
              <a:srgbClr val="4472C4"/>
            </a:solidFill>
            <a:prstDash val="solid"/>
          </a:ln>
        </p:spPr>
      </p:sp>
      <p:sp>
        <p:nvSpPr>
          <p:cNvPr id="238" name="">
            <a:extLst xmlns:a="http://schemas.openxmlformats.org/drawingml/2006/main">
              <a:ext uri="{FF2B5EF4-FFF2-40B4-BE49-F238E27FC236}">
                <a16:creationId xmlns:a16="http://schemas.microsoft.com/office/drawing/2014/main" id="{1AD393E7-13F3-4F58-B562-AB7A362947CA}"/>
              </a:ext>
            </a:extLst>
          </p:cNvPr>
          <p:cNvSpPr>
            <a:spLocks xmlns:a="http://schemas.openxmlformats.org/drawingml/2006/main" noGrp="1"/>
          </p:cNvSpPr>
          <p:nvPr/>
        </p:nvSpPr>
        <p:spPr>
          <a:xfrm xmlns:a="http://schemas.openxmlformats.org/drawingml/2006/main">
            <a:off x="762000" y="25717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4472C4"/>
                </a:solidFill>
              </a:defRPr>
            </a:pPr>
            <a:r>
              <a:rPr sz="1200" b="1">
                <a:solidFill>
                  <a:srgbClr val="4472C4"/>
                </a:solidFill>
              </a:rPr>
              <a:t>Prediction</a:t>
            </a:r>
          </a:p>
        </p:txBody>
      </p:sp>
      <p:sp>
        <p:nvSpPr>
          <p:cNvPr id="239" name="">
            <a:extLst xmlns:a="http://schemas.openxmlformats.org/drawingml/2006/main">
              <a:ext uri="{FF2B5EF4-FFF2-40B4-BE49-F238E27FC236}">
                <a16:creationId xmlns:a16="http://schemas.microsoft.com/office/drawing/2014/main" id="{C4913CCB-8787-43FE-9120-852FE2B7108C}"/>
              </a:ext>
            </a:extLst>
          </p:cNvPr>
          <p:cNvSpPr>
            <a:spLocks xmlns:a="http://schemas.openxmlformats.org/drawingml/2006/main" noGrp="1"/>
          </p:cNvSpPr>
          <p:nvPr/>
        </p:nvSpPr>
        <p:spPr>
          <a:xfrm xmlns:a="http://schemas.openxmlformats.org/drawingml/2006/main">
            <a:off x="809625" y="3095625"/>
            <a:ext cx="20002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13" b="0">
                <a:solidFill>
                  <a:srgbClr val="3A3838"/>
                </a:solidFill>
              </a:defRPr>
            </a:pPr>
            <a:r>
              <a:rPr sz="1013" b="0">
                <a:solidFill>
                  <a:srgbClr val="3A3838"/>
                </a:solidFill>
              </a:rPr>
              <a:t>multi-step NLL / error</a:t>
            </a:r>
          </a:p>
          <a:p xmlns:a="http://schemas.openxmlformats.org/drawingml/2006/main">
            <a:pPr algn="ctr">
              <a:defRPr sz="1013" b="0">
                <a:solidFill>
                  <a:srgbClr val="3A3838"/>
                </a:solidFill>
              </a:defRPr>
            </a:pPr>
            <a:r>
              <a:rPr sz="1013" b="0">
                <a:solidFill>
                  <a:srgbClr val="3A3838"/>
                </a:solidFill>
              </a:rPr>
              <a:t>calibration</a:t>
            </a:r>
          </a:p>
          <a:p xmlns:a="http://schemas.openxmlformats.org/drawingml/2006/main">
            <a:pPr algn="ctr">
              <a:defRPr sz="1013" b="0">
                <a:solidFill>
                  <a:srgbClr val="3A3838"/>
                </a:solidFill>
              </a:defRPr>
            </a:pPr>
            <a:r>
              <a:rPr sz="1013" b="0">
                <a:solidFill>
                  <a:srgbClr val="3A3838"/>
                </a:solidFill>
              </a:rPr>
              <a:t>occlusion recovery</a:t>
            </a:r>
          </a:p>
        </p:txBody>
      </p:sp>
      <p:sp>
        <p:nvSpPr>
          <p:cNvPr id="240" name="">
            <a:extLst xmlns:a="http://schemas.openxmlformats.org/drawingml/2006/main">
              <a:ext uri="{FF2B5EF4-FFF2-40B4-BE49-F238E27FC236}">
                <a16:creationId xmlns:a16="http://schemas.microsoft.com/office/drawing/2014/main" id="{44AED431-9709-484F-8FBF-66557C391E2A}"/>
              </a:ext>
            </a:extLst>
          </p:cNvPr>
          <p:cNvSpPr>
            <a:spLocks xmlns:a="http://schemas.openxmlformats.org/drawingml/2006/main" noGrp="1"/>
          </p:cNvSpPr>
          <p:nvPr/>
        </p:nvSpPr>
        <p:spPr>
          <a:xfrm xmlns:a="http://schemas.openxmlformats.org/drawingml/2006/main">
            <a:off x="3476625" y="2333625"/>
            <a:ext cx="2381250" cy="2143125"/>
          </a:xfrm>
          <a:prstGeom xmlns:a="http://schemas.openxmlformats.org/drawingml/2006/main" prst="rect">
            <a:avLst/>
          </a:prstGeom>
          <a:solidFill xmlns:a="http://schemas.openxmlformats.org/drawingml/2006/main">
            <a:srgbClr val="E2F0D9"/>
          </a:solidFill>
          <a:ln xmlns:a="http://schemas.openxmlformats.org/drawingml/2006/main" w="11430">
            <a:solidFill>
              <a:srgbClr val="70AD47"/>
            </a:solidFill>
            <a:prstDash val="solid"/>
          </a:ln>
        </p:spPr>
      </p:sp>
      <p:sp>
        <p:nvSpPr>
          <p:cNvPr id="241" name="">
            <a:extLst xmlns:a="http://schemas.openxmlformats.org/drawingml/2006/main">
              <a:ext uri="{FF2B5EF4-FFF2-40B4-BE49-F238E27FC236}">
                <a16:creationId xmlns:a16="http://schemas.microsoft.com/office/drawing/2014/main" id="{5E662C06-32EF-4002-A282-3740AA4CE3A5}"/>
              </a:ext>
            </a:extLst>
          </p:cNvPr>
          <p:cNvSpPr>
            <a:spLocks xmlns:a="http://schemas.openxmlformats.org/drawingml/2006/main" noGrp="1"/>
          </p:cNvSpPr>
          <p:nvPr/>
        </p:nvSpPr>
        <p:spPr>
          <a:xfrm xmlns:a="http://schemas.openxmlformats.org/drawingml/2006/main">
            <a:off x="3619500" y="25717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70AD47"/>
                </a:solidFill>
              </a:defRPr>
            </a:pPr>
            <a:r>
              <a:rPr sz="1200" b="1">
                <a:solidFill>
                  <a:srgbClr val="70AD47"/>
                </a:solidFill>
              </a:rPr>
              <a:t>Planning</a:t>
            </a:r>
          </a:p>
        </p:txBody>
      </p:sp>
      <p:sp>
        <p:nvSpPr>
          <p:cNvPr id="242" name="">
            <a:extLst xmlns:a="http://schemas.openxmlformats.org/drawingml/2006/main">
              <a:ext uri="{FF2B5EF4-FFF2-40B4-BE49-F238E27FC236}">
                <a16:creationId xmlns:a16="http://schemas.microsoft.com/office/drawing/2014/main" id="{64421D9F-223B-41F3-BA81-DCE0F78C92A0}"/>
              </a:ext>
            </a:extLst>
          </p:cNvPr>
          <p:cNvSpPr>
            <a:spLocks xmlns:a="http://schemas.openxmlformats.org/drawingml/2006/main" noGrp="1"/>
          </p:cNvSpPr>
          <p:nvPr/>
        </p:nvSpPr>
        <p:spPr>
          <a:xfrm xmlns:a="http://schemas.openxmlformats.org/drawingml/2006/main">
            <a:off x="3667125" y="3095625"/>
            <a:ext cx="20002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13" b="0">
                <a:solidFill>
                  <a:srgbClr val="3A3838"/>
                </a:solidFill>
              </a:defRPr>
            </a:pPr>
            <a:r>
              <a:rPr sz="1013" b="0">
                <a:solidFill>
                  <a:srgbClr val="3A3838"/>
                </a:solidFill>
              </a:rPr>
              <a:t>action regret</a:t>
            </a:r>
          </a:p>
          <a:p xmlns:a="http://schemas.openxmlformats.org/drawingml/2006/main">
            <a:pPr algn="ctr">
              <a:defRPr sz="1013" b="0">
                <a:solidFill>
                  <a:srgbClr val="3A3838"/>
                </a:solidFill>
              </a:defRPr>
            </a:pPr>
            <a:r>
              <a:rPr sz="1013" b="0">
                <a:solidFill>
                  <a:srgbClr val="3A3838"/>
                </a:solidFill>
              </a:rPr>
              <a:t>safety violations</a:t>
            </a:r>
          </a:p>
          <a:p xmlns:a="http://schemas.openxmlformats.org/drawingml/2006/main">
            <a:pPr algn="ctr">
              <a:defRPr sz="1013" b="0">
                <a:solidFill>
                  <a:srgbClr val="3A3838"/>
                </a:solidFill>
              </a:defRPr>
            </a:pPr>
            <a:r>
              <a:rPr sz="1013" b="0">
                <a:solidFill>
                  <a:srgbClr val="3A3838"/>
                </a:solidFill>
              </a:rPr>
              <a:t>active-sensing gain</a:t>
            </a:r>
          </a:p>
        </p:txBody>
      </p:sp>
      <p:sp>
        <p:nvSpPr>
          <p:cNvPr id="243" name="">
            <a:extLst xmlns:a="http://schemas.openxmlformats.org/drawingml/2006/main">
              <a:ext uri="{FF2B5EF4-FFF2-40B4-BE49-F238E27FC236}">
                <a16:creationId xmlns:a16="http://schemas.microsoft.com/office/drawing/2014/main" id="{CE3D39A7-E8A1-4FF7-AB56-67510EFE203E}"/>
              </a:ext>
            </a:extLst>
          </p:cNvPr>
          <p:cNvSpPr>
            <a:spLocks xmlns:a="http://schemas.openxmlformats.org/drawingml/2006/main" noGrp="1"/>
          </p:cNvSpPr>
          <p:nvPr/>
        </p:nvSpPr>
        <p:spPr>
          <a:xfrm xmlns:a="http://schemas.openxmlformats.org/drawingml/2006/main">
            <a:off x="6334125" y="2333625"/>
            <a:ext cx="2381250" cy="2143125"/>
          </a:xfrm>
          <a:prstGeom xmlns:a="http://schemas.openxmlformats.org/drawingml/2006/main" prst="rect">
            <a:avLst/>
          </a:prstGeom>
          <a:solidFill xmlns:a="http://schemas.openxmlformats.org/drawingml/2006/main">
            <a:srgbClr val="FCE4D6"/>
          </a:solidFill>
          <a:ln xmlns:a="http://schemas.openxmlformats.org/drawingml/2006/main" w="11430">
            <a:solidFill>
              <a:srgbClr val="ED7D31"/>
            </a:solidFill>
            <a:prstDash val="solid"/>
          </a:ln>
        </p:spPr>
      </p:sp>
      <p:sp>
        <p:nvSpPr>
          <p:cNvPr id="244" name="">
            <a:extLst xmlns:a="http://schemas.openxmlformats.org/drawingml/2006/main">
              <a:ext uri="{FF2B5EF4-FFF2-40B4-BE49-F238E27FC236}">
                <a16:creationId xmlns:a16="http://schemas.microsoft.com/office/drawing/2014/main" id="{88E199B8-7443-4BEE-B1E9-D65566A413E0}"/>
              </a:ext>
            </a:extLst>
          </p:cNvPr>
          <p:cNvSpPr>
            <a:spLocks xmlns:a="http://schemas.openxmlformats.org/drawingml/2006/main" noGrp="1"/>
          </p:cNvSpPr>
          <p:nvPr/>
        </p:nvSpPr>
        <p:spPr>
          <a:xfrm xmlns:a="http://schemas.openxmlformats.org/drawingml/2006/main">
            <a:off x="6477000" y="25717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ED7D31"/>
                </a:solidFill>
              </a:defRPr>
            </a:pPr>
            <a:r>
              <a:rPr sz="1200" b="1">
                <a:solidFill>
                  <a:srgbClr val="ED7D31"/>
                </a:solidFill>
              </a:rPr>
              <a:t>Efficiency</a:t>
            </a:r>
          </a:p>
        </p:txBody>
      </p:sp>
      <p:sp>
        <p:nvSpPr>
          <p:cNvPr id="245" name="">
            <a:extLst xmlns:a="http://schemas.openxmlformats.org/drawingml/2006/main">
              <a:ext uri="{FF2B5EF4-FFF2-40B4-BE49-F238E27FC236}">
                <a16:creationId xmlns:a16="http://schemas.microsoft.com/office/drawing/2014/main" id="{247B2F8C-A094-417A-AB32-7487CB2395A0}"/>
              </a:ext>
            </a:extLst>
          </p:cNvPr>
          <p:cNvSpPr>
            <a:spLocks xmlns:a="http://schemas.openxmlformats.org/drawingml/2006/main" noGrp="1"/>
          </p:cNvSpPr>
          <p:nvPr/>
        </p:nvSpPr>
        <p:spPr>
          <a:xfrm xmlns:a="http://schemas.openxmlformats.org/drawingml/2006/main">
            <a:off x="6524625" y="3095625"/>
            <a:ext cx="20002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13" b="0">
                <a:solidFill>
                  <a:srgbClr val="3A3838"/>
                </a:solidFill>
              </a:defRPr>
            </a:pPr>
            <a:r>
              <a:rPr sz="1013" b="0">
                <a:solidFill>
                  <a:srgbClr val="3A3838"/>
                </a:solidFill>
              </a:rPr>
              <a:t>memory</a:t>
            </a:r>
          </a:p>
          <a:p xmlns:a="http://schemas.openxmlformats.org/drawingml/2006/main">
            <a:pPr algn="ctr">
              <a:defRPr sz="1013" b="0">
                <a:solidFill>
                  <a:srgbClr val="3A3838"/>
                </a:solidFill>
              </a:defRPr>
            </a:pPr>
            <a:r>
              <a:rPr sz="1013" b="0">
                <a:solidFill>
                  <a:srgbClr val="3A3838"/>
                </a:solidFill>
              </a:rPr>
              <a:t>FLOPs / latency</a:t>
            </a:r>
          </a:p>
          <a:p xmlns:a="http://schemas.openxmlformats.org/drawingml/2006/main">
            <a:pPr algn="ctr">
              <a:defRPr sz="1013" b="0">
                <a:solidFill>
                  <a:srgbClr val="3A3838"/>
                </a:solidFill>
              </a:defRPr>
            </a:pPr>
            <a:r>
              <a:rPr sz="1013" b="0">
                <a:solidFill>
                  <a:srgbClr val="3A3838"/>
                </a:solidFill>
              </a:rPr>
              <a:t>training stability</a:t>
            </a:r>
          </a:p>
        </p:txBody>
      </p:sp>
      <p:sp>
        <p:nvSpPr>
          <p:cNvPr id="246" name="">
            <a:extLst xmlns:a="http://schemas.openxmlformats.org/drawingml/2006/main">
              <a:ext uri="{FF2B5EF4-FFF2-40B4-BE49-F238E27FC236}">
                <a16:creationId xmlns:a16="http://schemas.microsoft.com/office/drawing/2014/main" id="{E2DCF1EC-34FF-4D2C-9811-E652DCFC0AFB}"/>
              </a:ext>
            </a:extLst>
          </p:cNvPr>
          <p:cNvSpPr>
            <a:spLocks xmlns:a="http://schemas.openxmlformats.org/drawingml/2006/main" noGrp="1"/>
          </p:cNvSpPr>
          <p:nvPr/>
        </p:nvSpPr>
        <p:spPr>
          <a:xfrm xmlns:a="http://schemas.openxmlformats.org/drawingml/2006/main">
            <a:off x="9191625" y="2333625"/>
            <a:ext cx="2381250" cy="2143125"/>
          </a:xfrm>
          <a:prstGeom xmlns:a="http://schemas.openxmlformats.org/drawingml/2006/main" prst="rect">
            <a:avLst/>
          </a:prstGeom>
          <a:solidFill xmlns:a="http://schemas.openxmlformats.org/drawingml/2006/main">
            <a:srgbClr val="E4DFEC"/>
          </a:solidFill>
          <a:ln xmlns:a="http://schemas.openxmlformats.org/drawingml/2006/main" w="11430">
            <a:solidFill>
              <a:srgbClr val="8064A2"/>
            </a:solidFill>
            <a:prstDash val="solid"/>
          </a:ln>
        </p:spPr>
      </p:sp>
      <p:sp>
        <p:nvSpPr>
          <p:cNvPr id="247" name="">
            <a:extLst xmlns:a="http://schemas.openxmlformats.org/drawingml/2006/main">
              <a:ext uri="{FF2B5EF4-FFF2-40B4-BE49-F238E27FC236}">
                <a16:creationId xmlns:a16="http://schemas.microsoft.com/office/drawing/2014/main" id="{D1E1E41A-83F4-4729-894D-B183FDF7B70E}"/>
              </a:ext>
            </a:extLst>
          </p:cNvPr>
          <p:cNvSpPr>
            <a:spLocks xmlns:a="http://schemas.openxmlformats.org/drawingml/2006/main" noGrp="1"/>
          </p:cNvSpPr>
          <p:nvPr/>
        </p:nvSpPr>
        <p:spPr>
          <a:xfrm xmlns:a="http://schemas.openxmlformats.org/drawingml/2006/main">
            <a:off x="9334500" y="25717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8064A2"/>
                </a:solidFill>
              </a:defRPr>
            </a:pPr>
            <a:r>
              <a:rPr sz="1200" b="1">
                <a:solidFill>
                  <a:srgbClr val="8064A2"/>
                </a:solidFill>
              </a:rPr>
              <a:t>Ablations</a:t>
            </a:r>
          </a:p>
        </p:txBody>
      </p:sp>
      <p:sp>
        <p:nvSpPr>
          <p:cNvPr id="248" name="">
            <a:extLst xmlns:a="http://schemas.openxmlformats.org/drawingml/2006/main">
              <a:ext uri="{FF2B5EF4-FFF2-40B4-BE49-F238E27FC236}">
                <a16:creationId xmlns:a16="http://schemas.microsoft.com/office/drawing/2014/main" id="{DA510EB5-DD8D-435D-B0F3-7ACC603F8DD0}"/>
              </a:ext>
            </a:extLst>
          </p:cNvPr>
          <p:cNvSpPr>
            <a:spLocks xmlns:a="http://schemas.openxmlformats.org/drawingml/2006/main" noGrp="1"/>
          </p:cNvSpPr>
          <p:nvPr/>
        </p:nvSpPr>
        <p:spPr>
          <a:xfrm xmlns:a="http://schemas.openxmlformats.org/drawingml/2006/main">
            <a:off x="9382125" y="3095625"/>
            <a:ext cx="20002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13" b="0">
                <a:solidFill>
                  <a:srgbClr val="3A3838"/>
                </a:solidFill>
              </a:defRPr>
            </a:pPr>
            <a:r>
              <a:rPr sz="1013" b="0">
                <a:solidFill>
                  <a:srgbClr val="3A3838"/>
                </a:solidFill>
              </a:rPr>
              <a:t>QLC: diagonal/full</a:t>
            </a:r>
          </a:p>
          <a:p xmlns:a="http://schemas.openxmlformats.org/drawingml/2006/main">
            <a:pPr algn="ctr">
              <a:defRPr sz="1013" b="0">
                <a:solidFill>
                  <a:srgbClr val="3A3838"/>
                </a:solidFill>
              </a:defRPr>
            </a:pPr>
            <a:r>
              <a:rPr sz="1013" b="0">
                <a:solidFill>
                  <a:srgbClr val="3A3838"/>
                </a:solidFill>
              </a:rPr>
              <a:t>PSC: χ, κ sweep</a:t>
            </a:r>
          </a:p>
          <a:p xmlns:a="http://schemas.openxmlformats.org/drawingml/2006/main">
            <a:pPr algn="ctr">
              <a:defRPr sz="1013" b="0">
                <a:solidFill>
                  <a:srgbClr val="3A3838"/>
                </a:solidFill>
              </a:defRPr>
            </a:pPr>
            <a:r>
              <a:rPr sz="1013" b="0">
                <a:solidFill>
                  <a:srgbClr val="3A3838"/>
                </a:solidFill>
              </a:rPr>
              <a:t>TEC: gauge test</a:t>
            </a:r>
          </a:p>
        </p:txBody>
      </p:sp>
      <p:sp>
        <p:nvSpPr>
          <p:cNvPr id="249" name="">
            <a:extLst xmlns:a="http://schemas.openxmlformats.org/drawingml/2006/main">
              <a:ext uri="{FF2B5EF4-FFF2-40B4-BE49-F238E27FC236}">
                <a16:creationId xmlns:a16="http://schemas.microsoft.com/office/drawing/2014/main" id="{CA50C6CB-D4DE-4C6C-891D-223A23BC03B1}"/>
              </a:ext>
            </a:extLst>
          </p:cNvPr>
          <p:cNvSpPr>
            <a:spLocks xmlns:a="http://schemas.openxmlformats.org/drawingml/2006/main" noGrp="1"/>
          </p:cNvSpPr>
          <p:nvPr/>
        </p:nvSpPr>
        <p:spPr>
          <a:xfrm xmlns:a="http://schemas.openxmlformats.org/drawingml/2006/main">
            <a:off x="2000250" y="4953000"/>
            <a:ext cx="8191500" cy="552450"/>
          </a:xfrm>
          <a:prstGeom xmlns:a="http://schemas.openxmlformats.org/drawingml/2006/main" prst="rect">
            <a:avLst/>
          </a:prstGeom>
          <a:solidFill xmlns:a="http://schemas.openxmlformats.org/drawingml/2006/main">
            <a:srgbClr val="FFFFFF"/>
          </a:solidFill>
          <a:ln xmlns:a="http://schemas.openxmlformats.org/drawingml/2006/main" w="7620">
            <a:solidFill>
              <a:srgbClr val="D24726"/>
            </a:solidFill>
            <a:prstDash val="solid"/>
          </a:ln>
        </p:spPr>
        <p:txBody>
          <a:bodyPr xmlns:a="http://schemas.openxmlformats.org/drawingml/2006/main" anchor="ctr"/>
          <a:lstStyle xmlns:a="http://schemas.openxmlformats.org/drawingml/2006/main"/>
          <a:p xmlns:a="http://schemas.openxmlformats.org/drawingml/2006/main">
            <a:pPr algn="ctr">
              <a:defRPr sz="1350" b="0">
                <a:solidFill>
                  <a:srgbClr val="3A3838"/>
                </a:solidFill>
              </a:defRPr>
            </a:pPr>
            <a:r>
              <a:rPr sz="1350" b="0">
                <a:solidFill>
                  <a:srgbClr val="3A3838"/>
                </a:solidFill>
              </a:rPr>
              <a:t>accept the richer core only if benefit &gt; compute + optimization cost</a:t>
            </a:r>
          </a:p>
        </p:txBody>
      </p:sp>
      <p:sp>
        <p:nvSpPr>
          <p:cNvPr id="250" name="">
            <a:extLst xmlns:a="http://schemas.openxmlformats.org/drawingml/2006/main">
              <a:ext uri="{FF2B5EF4-FFF2-40B4-BE49-F238E27FC236}">
                <a16:creationId xmlns:a16="http://schemas.microsoft.com/office/drawing/2014/main" id="{4671295B-7741-4EA4-A4B4-C1CFD5CC835D}"/>
              </a:ext>
            </a:extLst>
          </p:cNvPr>
          <p:cNvSpPr>
            <a:spLocks xmlns:a="http://schemas.openxmlformats.org/drawingml/2006/main" noGrp="1"/>
          </p:cNvSpPr>
          <p:nvPr/>
        </p:nvSpPr>
        <p:spPr>
          <a:xfrm xmlns:a="http://schemas.openxmlformats.org/drawingml/2006/main">
            <a:off x="1571625" y="5715000"/>
            <a:ext cx="904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90" b="0">
                <a:solidFill>
                  <a:srgbClr val="3A3838"/>
                </a:solidFill>
              </a:defRPr>
            </a:pPr>
            <a:r>
              <a:rPr sz="990" b="0">
                <a:solidFill>
                  <a:srgbClr val="3A3838"/>
                </a:solidFill>
              </a:rPr>
              <a:t>Primary baselines: DreamerV3/RSSM, TD-MPC2, wider classical vectors, and factorized/mixture variants.</a:t>
            </a:r>
          </a:p>
        </p:txBody>
      </p:sp>
      <p:sp>
        <p:nvSpPr>
          <p:cNvPr id="251" name="">
            <a:extLst xmlns:a="http://schemas.openxmlformats.org/drawingml/2006/main">
              <a:ext uri="{FF2B5EF4-FFF2-40B4-BE49-F238E27FC236}">
                <a16:creationId xmlns:a16="http://schemas.microsoft.com/office/drawing/2014/main" id="{2CD0390F-D496-42CF-9410-E7F07B6B2AF8}"/>
              </a:ext>
            </a:extLst>
          </p:cNvPr>
          <p:cNvSpPr>
            <a:spLocks xmlns:a="http://schemas.openxmlformats.org/drawingml/2006/main" noGrp="1"/>
          </p:cNvSpPr>
          <p:nvPr/>
        </p:nvSpPr>
        <p:spPr>
          <a:xfrm xmlns:a="http://schemas.openxmlformats.org/drawingml/2006/main">
            <a:off x="523875" y="6238875"/>
            <a:ext cx="1109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0">
                <a:solidFill>
                  <a:srgbClr val="767171"/>
                </a:solidFill>
              </a:defRPr>
            </a:pPr>
            <a:r>
              <a:rPr sz="660" b="0">
                <a:solidFill>
                  <a:srgbClr val="767171"/>
                </a:solidFill>
              </a:rPr>
              <a:t>Evaluation plan is proposed. Report negative results and failure modes; do not infer benefit from geometry alone.</a:t>
            </a:r>
          </a:p>
        </p:txBody>
      </p:sp>
    </p:spTree>
    <p:extLst>
      <p:ext uri="{BB962C8B-B14F-4D97-AF65-F5344CB8AC3E}">
        <p14:creationId xmlns:p14="http://schemas.microsoft.com/office/powerpoint/2010/main" val="27910752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2A55545-460A-8127-3CF9-102CD28AF9E3}"/>
              </a:ext>
            </a:extLst>
          </p:cNvPr>
          <p:cNvSpPr>
            <a:spLocks xmlns:a="http://schemas.openxmlformats.org/drawingml/2006/main" noGrp="1"/>
          </p:cNvSpPr>
          <p:nvPr>
            <p:ph type="title" idx="0"/>
          </p:nvPr>
        </p:nvSpPr>
        <p:spPr>
          <a:xfrm xmlns:a="http://schemas.openxmlformats.org/drawingml/2006/main">
            <a:off x="444532" y="430625"/>
            <a:ext cx="11210544" cy="557784"/>
          </a:xfrm>
        </p:spPr>
        <p:txBody>
          <a:bodyPr xmlns:a="http://schemas.openxmlformats.org/drawingml/2006/main" anchor="ctr"/>
          <a:lstStyle xmlns:a="http://schemas.openxmlformats.org/drawingml/2006/main"/>
          <a:p xmlns:a="http://schemas.openxmlformats.org/drawingml/2006/main">
            <a:pPr algn="l">
              <a:defRPr sz="1988" b="0">
                <a:solidFill>
                  <a:srgbClr val="3A3838"/>
                </a:solidFill>
              </a:defRPr>
            </a:pPr>
            <a:r>
              <a:rPr sz="1988" b="0">
                <a:solidFill>
                  <a:srgbClr val="3A3838"/>
                </a:solidFill>
              </a:rPr>
              <a:t>Conclusion: Three Testable Routes to a Richer World-Model State</a:t>
            </a:r>
          </a:p>
        </p:txBody>
      </p:sp>
      <p:sp>
        <p:nvSpPr>
          <p:cNvPr id="5" name="">
            <a:extLst xmlns:a="http://schemas.openxmlformats.org/drawingml/2006/main">
              <a:ext uri="{FF2B5EF4-FFF2-40B4-BE49-F238E27FC236}">
                <a16:creationId xmlns:a16="http://schemas.microsoft.com/office/drawing/2014/main" id="{2E75DF22-1ACD-47BC-B6C7-B30DE2AC0613}"/>
              </a:ext>
            </a:extLst>
          </p:cNvPr>
          <p:cNvSpPr>
            <a:spLocks xmlns:a="http://schemas.openxmlformats.org/drawingml/2006/main" noGrp="1"/>
          </p:cNvSpPr>
          <p:nvPr/>
        </p:nvSpPr>
        <p:spPr>
          <a:xfrm xmlns:a="http://schemas.openxmlformats.org/drawingml/2006/main">
            <a:off x="444532" y="1097280"/>
            <a:ext cx="11210544" cy="17145"/>
          </a:xfrm>
          <a:prstGeom xmlns:a="http://schemas.openxmlformats.org/drawingml/2006/main" prst="rect">
            <a:avLst/>
          </a:prstGeom>
          <a:solidFill xmlns:a="http://schemas.openxmlformats.org/drawingml/2006/main">
            <a:srgbClr val="D24726"/>
          </a:solidFill>
          <a:ln xmlns:a="http://schemas.openxmlformats.org/drawingml/2006/main" w="0">
            <a:solidFill>
              <a:srgbClr val="D24726"/>
            </a:solidFill>
            <a:prstDash val="solid"/>
          </a:ln>
        </p:spPr>
      </p:sp>
      <p:sp>
        <p:nvSpPr>
          <p:cNvPr id="6" name="">
            <a:extLst xmlns:a="http://schemas.openxmlformats.org/drawingml/2006/main">
              <a:ext uri="{FF2B5EF4-FFF2-40B4-BE49-F238E27FC236}">
                <a16:creationId xmlns:a16="http://schemas.microsoft.com/office/drawing/2014/main" id="{B75E2F85-4EBC-4181-8C70-AED90D046FFE}"/>
              </a:ext>
            </a:extLst>
          </p:cNvPr>
          <p:cNvSpPr>
            <a:spLocks xmlns:a="http://schemas.openxmlformats.org/drawingml/2006/main" noGrp="1"/>
          </p:cNvSpPr>
          <p:nvPr/>
        </p:nvSpPr>
        <p:spPr>
          <a:xfrm xmlns:a="http://schemas.openxmlformats.org/drawingml/2006/main">
            <a:off x="685800" y="1571625"/>
            <a:ext cx="7239000" cy="3286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3A3838"/>
                </a:solidFill>
              </a:defRPr>
            </a:pPr>
            <a:r>
              <a:rPr sz="1200" b="0">
                <a:solidFill>
                  <a:srgbClr val="3A3838"/>
                </a:solidFill>
              </a:rPr>
              <a:t>Quantum Latent Core</a:t>
            </a:r>
          </a:p>
          <a:p xmlns:a="http://schemas.openxmlformats.org/drawingml/2006/main">
            <a:pPr algn="l">
              <a:defRPr sz="1200" b="0">
                <a:solidFill>
                  <a:srgbClr val="3A3838"/>
                </a:solidFill>
              </a:defRPr>
            </a:pPr>
            <a:r>
              <a:rPr sz="1200" b="0">
                <a:solidFill>
                  <a:srgbClr val="3A3838"/>
                </a:solidFill>
              </a:rPr>
              <a:t>One valid matrix-valued belief; compact and principled, but its coherence must become operational.</a:t>
            </a:r>
          </a:p>
          <a:p xmlns:a="http://schemas.openxmlformats.org/drawingml/2006/main">
            <a:r>
              <a:t/>
            </a:r>
          </a:p>
          <a:p xmlns:a="http://schemas.openxmlformats.org/drawingml/2006/main">
            <a:pPr algn="l">
              <a:defRPr sz="1200" b="0">
                <a:solidFill>
                  <a:srgbClr val="3A3838"/>
                </a:solidFill>
              </a:defRPr>
            </a:pPr>
            <a:r>
              <a:rPr sz="1200" b="0">
                <a:solidFill>
                  <a:srgbClr val="3A3838"/>
                </a:solidFill>
              </a:rPr>
              <a:t>Purified Slot Core</a:t>
            </a:r>
          </a:p>
          <a:p xmlns:a="http://schemas.openxmlformats.org/drawingml/2006/main">
            <a:pPr algn="l">
              <a:defRPr sz="1200" b="0">
                <a:solidFill>
                  <a:srgbClr val="3A3838"/>
                </a:solidFill>
              </a:defRPr>
            </a:pPr>
            <a:r>
              <a:rPr sz="1200" b="0">
                <a:solidFill>
                  <a:srgbClr val="3A3838"/>
                </a:solidFill>
              </a:rPr>
              <a:t>Structured room/object slots with χ-controlled dependencies; scalable, but compression and fixed-slot limits matter.</a:t>
            </a:r>
          </a:p>
          <a:p xmlns:a="http://schemas.openxmlformats.org/drawingml/2006/main">
            <a:r>
              <a:t/>
            </a:r>
          </a:p>
          <a:p xmlns:a="http://schemas.openxmlformats.org/drawingml/2006/main">
            <a:pPr algn="l">
              <a:defRPr sz="1200" b="0">
                <a:solidFill>
                  <a:srgbClr val="3A3838"/>
                </a:solidFill>
              </a:defRPr>
            </a:pPr>
            <a:r>
              <a:rPr sz="1200" b="0">
                <a:solidFill>
                  <a:srgbClr val="3A3838"/>
                </a:solidFill>
              </a:rPr>
              <a:t>Trajectory Ensemble Core</a:t>
            </a:r>
          </a:p>
          <a:p xmlns:a="http://schemas.openxmlformats.org/drawingml/2006/main">
            <a:pPr algn="l">
              <a:defRPr sz="1200" b="0">
                <a:solidFill>
                  <a:srgbClr val="3A3838"/>
                </a:solidFill>
              </a:defRPr>
            </a:pPr>
            <a:r>
              <a:rPr sz="1200" b="0">
                <a:solidFill>
                  <a:srgbClr val="3A3838"/>
                </a:solidFill>
              </a:rPr>
              <a:t>Explicit complete futures for branch-aware planning; valuable only when branch identity is identifiable.</a:t>
            </a:r>
          </a:p>
        </p:txBody>
      </p:sp>
      <p:sp>
        <p:nvSpPr>
          <p:cNvPr id="7" name="">
            <a:extLst xmlns:a="http://schemas.openxmlformats.org/drawingml/2006/main">
              <a:ext uri="{FF2B5EF4-FFF2-40B4-BE49-F238E27FC236}">
                <a16:creationId xmlns:a16="http://schemas.microsoft.com/office/drawing/2014/main" id="{D5546B9E-DFB9-4614-A1E4-6E9459008A29}"/>
              </a:ext>
            </a:extLst>
          </p:cNvPr>
          <p:cNvSpPr>
            <a:spLocks xmlns:a="http://schemas.openxmlformats.org/drawingml/2006/main" noGrp="1"/>
          </p:cNvSpPr>
          <p:nvPr/>
        </p:nvSpPr>
        <p:spPr>
          <a:xfrm xmlns:a="http://schemas.openxmlformats.org/drawingml/2006/main">
            <a:off x="8334375" y="1762125"/>
            <a:ext cx="2857500" cy="2857500"/>
          </a:xfrm>
          <a:prstGeom xmlns:a="http://schemas.openxmlformats.org/drawingml/2006/main" prst="rect">
            <a:avLst/>
          </a:prstGeom>
          <a:solidFill xmlns:a="http://schemas.openxmlformats.org/drawingml/2006/main">
            <a:srgbClr val="FFFFFF"/>
          </a:solidFill>
          <a:ln xmlns:a="http://schemas.openxmlformats.org/drawingml/2006/main" w="13335">
            <a:solidFill>
              <a:srgbClr val="D24726"/>
            </a:solidFill>
            <a:prstDash val="solid"/>
          </a:ln>
        </p:spPr>
      </p:sp>
      <p:sp>
        <p:nvSpPr>
          <p:cNvPr id="8" name="">
            <a:extLst xmlns:a="http://schemas.openxmlformats.org/drawingml/2006/main">
              <a:ext uri="{FF2B5EF4-FFF2-40B4-BE49-F238E27FC236}">
                <a16:creationId xmlns:a16="http://schemas.microsoft.com/office/drawing/2014/main" id="{17B0D4BB-920D-47B6-BEA7-C0DAC561FDA4}"/>
              </a:ext>
            </a:extLst>
          </p:cNvPr>
          <p:cNvSpPr>
            <a:spLocks xmlns:a="http://schemas.openxmlformats.org/drawingml/2006/main" noGrp="1"/>
          </p:cNvSpPr>
          <p:nvPr/>
        </p:nvSpPr>
        <p:spPr>
          <a:xfrm xmlns:a="http://schemas.openxmlformats.org/drawingml/2006/main">
            <a:off x="8572500" y="204787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D24726"/>
                </a:solidFill>
              </a:defRPr>
            </a:pPr>
            <a:r>
              <a:rPr sz="1125" b="1">
                <a:solidFill>
                  <a:srgbClr val="D24726"/>
                </a:solidFill>
              </a:rPr>
              <a:t>CORE CLAIM</a:t>
            </a:r>
          </a:p>
        </p:txBody>
      </p:sp>
      <p:sp>
        <p:nvSpPr>
          <p:cNvPr id="9" name="">
            <a:extLst xmlns:a="http://schemas.openxmlformats.org/drawingml/2006/main">
              <a:ext uri="{FF2B5EF4-FFF2-40B4-BE49-F238E27FC236}">
                <a16:creationId xmlns:a16="http://schemas.microsoft.com/office/drawing/2014/main" id="{16FFDC6F-C724-4E39-BAA0-49896237A49C}"/>
              </a:ext>
            </a:extLst>
          </p:cNvPr>
          <p:cNvSpPr>
            <a:spLocks xmlns:a="http://schemas.openxmlformats.org/drawingml/2006/main" noGrp="1"/>
          </p:cNvSpPr>
          <p:nvPr/>
        </p:nvSpPr>
        <p:spPr>
          <a:xfrm xmlns:a="http://schemas.openxmlformats.org/drawingml/2006/main">
            <a:off x="8715375" y="2571750"/>
            <a:ext cx="2095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3A3838"/>
                </a:solidFill>
              </a:defRPr>
            </a:pPr>
            <a:r>
              <a:rPr sz="1350" b="1">
                <a:solidFill>
                  <a:srgbClr val="3A3838"/>
                </a:solidFill>
              </a:rPr>
              <a:t>Quantum mathematics offers structured probability models—not automatic intelligence.</a:t>
            </a:r>
          </a:p>
        </p:txBody>
      </p:sp>
      <p:sp>
        <p:nvSpPr>
          <p:cNvPr id="10" name="">
            <a:extLst xmlns:a="http://schemas.openxmlformats.org/drawingml/2006/main">
              <a:ext uri="{FF2B5EF4-FFF2-40B4-BE49-F238E27FC236}">
                <a16:creationId xmlns:a16="http://schemas.microsoft.com/office/drawing/2014/main" id="{FD3D7EA1-94CA-4611-9280-9451E707BEF4}"/>
              </a:ext>
            </a:extLst>
          </p:cNvPr>
          <p:cNvSpPr>
            <a:spLocks xmlns:a="http://schemas.openxmlformats.org/drawingml/2006/main" noGrp="1"/>
          </p:cNvSpPr>
          <p:nvPr/>
        </p:nvSpPr>
        <p:spPr>
          <a:xfrm xmlns:a="http://schemas.openxmlformats.org/drawingml/2006/main">
            <a:off x="8620125" y="3667125"/>
            <a:ext cx="228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13" b="0">
                <a:solidFill>
                  <a:srgbClr val="767171"/>
                </a:solidFill>
              </a:defRPr>
            </a:pPr>
            <a:r>
              <a:rPr sz="1013" b="0">
                <a:solidFill>
                  <a:srgbClr val="767171"/>
                </a:solidFill>
              </a:rPr>
              <a:t>The proposal succeeds only if the structure improves room prediction or action quality at matched compute.</a:t>
            </a:r>
          </a:p>
        </p:txBody>
      </p:sp>
      <p:sp>
        <p:nvSpPr>
          <p:cNvPr id="11" name="">
            <a:extLst xmlns:a="http://schemas.openxmlformats.org/drawingml/2006/main">
              <a:ext uri="{FF2B5EF4-FFF2-40B4-BE49-F238E27FC236}">
                <a16:creationId xmlns:a16="http://schemas.microsoft.com/office/drawing/2014/main" id="{87805383-12C5-4ADF-8875-00EB29963F15}"/>
              </a:ext>
            </a:extLst>
          </p:cNvPr>
          <p:cNvSpPr>
            <a:spLocks xmlns:a="http://schemas.openxmlformats.org/drawingml/2006/main" noGrp="1"/>
          </p:cNvSpPr>
          <p:nvPr/>
        </p:nvSpPr>
        <p:spPr>
          <a:xfrm xmlns:a="http://schemas.openxmlformats.org/drawingml/2006/main">
            <a:off x="1428750" y="5286375"/>
            <a:ext cx="9334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63" b="1">
                <a:solidFill>
                  <a:srgbClr val="D24726"/>
                </a:solidFill>
              </a:defRPr>
            </a:pPr>
            <a:r>
              <a:rPr sz="1163" b="1">
                <a:solidFill>
                  <a:srgbClr val="D24726"/>
                </a:solidFill>
              </a:rPr>
              <a:t>Next step: implement all three behind one shared encoder/decoder and run the matched-budget room benchmark.</a:t>
            </a:r>
          </a:p>
        </p:txBody>
      </p:sp>
      <p:sp>
        <p:nvSpPr>
          <p:cNvPr id="12" name="">
            <a:extLst xmlns:a="http://schemas.openxmlformats.org/drawingml/2006/main">
              <a:ext uri="{FF2B5EF4-FFF2-40B4-BE49-F238E27FC236}">
                <a16:creationId xmlns:a16="http://schemas.microsoft.com/office/drawing/2014/main" id="{EEFAC404-0A5D-4B66-AD91-B01289EE5DEC}"/>
              </a:ext>
            </a:extLst>
          </p:cNvPr>
          <p:cNvSpPr>
            <a:spLocks xmlns:a="http://schemas.openxmlformats.org/drawingml/2006/main" noGrp="1"/>
          </p:cNvSpPr>
          <p:nvPr/>
        </p:nvSpPr>
        <p:spPr>
          <a:xfrm xmlns:a="http://schemas.openxmlformats.org/drawingml/2006/main">
            <a:off x="523875" y="6238875"/>
            <a:ext cx="1109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0">
                <a:solidFill>
                  <a:srgbClr val="767171"/>
                </a:solidFill>
              </a:defRPr>
            </a:pPr>
            <a:r>
              <a:rPr sz="660" b="0">
                <a:solidFill>
                  <a:srgbClr val="767171"/>
                </a:solidFill>
              </a:rPr>
              <a:t>Proposal summary. No qubits, quantum hardware, or quantum speed-up claim.</a:t>
            </a:r>
          </a:p>
        </p:txBody>
      </p:sp>
    </p:spTree>
    <p:extLst>
      <p:ext uri="{BB962C8B-B14F-4D97-AF65-F5344CB8AC3E}">
        <p14:creationId xmlns:p14="http://schemas.microsoft.com/office/powerpoint/2010/main" val="2497752488"/>
      </p:ext>
    </p:extLst>
  </p:cSld>
</p:sld>
</file>

<file path=ppt/theme/theme1.xml><?xml version="1.0" encoding="utf-8"?>
<a:theme xmlns:a="http://schemas.openxmlformats.org/drawingml/2006/main" name="WelcomeDoc">
  <a:themeElements>
    <a:clrScheme name="Custom 1">
      <a:dk1>
        <a:srgbClr val="000000"/>
      </a:dk1>
      <a:lt1>
        <a:srgbClr val="FFFFFF"/>
      </a:lt1>
      <a:dk2>
        <a:srgbClr val="44546A"/>
      </a:dk2>
      <a:lt2>
        <a:srgbClr val="E7E6E6"/>
      </a:lt2>
      <a:accent1>
        <a:srgbClr val="4472C4"/>
      </a:accent1>
      <a:accent2>
        <a:srgbClr val="CF3D1C"/>
      </a:accent2>
      <a:accent3>
        <a:srgbClr val="A5A5A5"/>
      </a:accent3>
      <a:accent4>
        <a:srgbClr val="FFC000"/>
      </a:accent4>
      <a:accent5>
        <a:srgbClr val="5B9BD5"/>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Custom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2026-08-06T08:54:21.3080000Z</dcterms:created>
  <dcterms:modified xsi:type="dcterms:W3CDTF">2026-08-06T08:54:21.3080000Z</dcterms:modified>
</coreProperties>
</file>